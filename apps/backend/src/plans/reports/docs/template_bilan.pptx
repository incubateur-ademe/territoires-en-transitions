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9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Poppins" pitchFamily="2" charset="77"/>
      <p:regular r:id="rId19"/>
      <p:bold r:id="rId20"/>
      <p:italic r:id="rId21"/>
      <p:boldItalic r:id="rId22"/>
    </p:embeddedFont>
    <p:embeddedFont>
      <p:font typeface="Poppins ExtraBold" panose="00000900000000000000" pitchFamily="2" charset="77"/>
      <p:bold r:id="rId23"/>
      <p:italic r:id="rId24"/>
      <p:boldItalic r:id="rId25"/>
    </p:embeddedFont>
    <p:embeddedFont>
      <p:font typeface="Poppins Medium" panose="00000600000000000000" pitchFamily="2" charset="77"/>
      <p:regular r:id="rId26"/>
      <p:bold r:id="rId27"/>
      <p:italic r:id="rId28"/>
      <p:boldItalic r:id="rId29"/>
    </p:embeddedFont>
    <p:embeddedFont>
      <p:font typeface="Poppins SemiBold" panose="00000700000000000000" pitchFamily="2" charset="77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lément Saulnier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22078B-5231-4813-9324-93ACBC273146}">
  <a:tblStyle styleId="{4722078B-5231-4813-9324-93ACBC2731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2"/>
  </p:normalViewPr>
  <p:slideViewPr>
    <p:cSldViewPr snapToGrid="0">
      <p:cViewPr varScale="1">
        <p:scale>
          <a:sx n="152" d="100"/>
          <a:sy n="152" d="100"/>
        </p:scale>
        <p:origin x="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1-18T14:15:03.636" idx="1">
    <p:pos x="6000" y="0"/>
    <p:text>Top beaucoup plus visuel !
Je pense qu'on peut améliorer : 
- L'ajout d'un graphique de répartition des actions par statut avec le donut comme sur la première version
- Le vert pour les données supposent que c'est positif, mais si l'avancement de l'action est à 0% c'est étrange. Peut-être prendre une couleur neutre en dehors des statuts : violet, noir, ...
- En hiérarchie j'aurais changé : 
- Avancement 
- Structure 
- Répartition
- Budget
- ETP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1-18T14:16:14.398" idx="2">
    <p:pos x="6000" y="0"/>
    <p:text>J'ai rajouté ce titre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1-18T15:19:17.726" idx="3">
    <p:pos x="6000" y="0"/>
    <p:text>Quelques retours : 
- Pas de note de suivi sur un axe
- Graphique de la répartition des actions par statut peut être plus visuel et cool
- Hiérarchie : Avancement, Structure, Répartition, Budget, ETP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0a5d14d13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0a5d14d13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78b42931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78b42931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2ac6617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2ac66177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2ac66177a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2ac66177a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fdd9055c2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fdd9055c2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fdd9055c2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fdd9055c2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2ac66177a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2ac66177a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573bcef67_6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573bcef67_6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2ac66177a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2ac66177a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2ac66177a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2ac66177a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fdd9055c2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fdd9055c2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fdd9055c2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9fdd9055c2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2ac66177a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2ac66177a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fdd9055c2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9fdd9055c2_1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fdd9055c2_1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9fdd9055c2_1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081d125a2_4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a081d125a2_4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 descr="dsds"/>
          <p:cNvSpPr txBox="1">
            <a:spLocks noGrp="1"/>
          </p:cNvSpPr>
          <p:nvPr>
            <p:ph type="ctrTitle"/>
          </p:nvPr>
        </p:nvSpPr>
        <p:spPr>
          <a:xfrm>
            <a:off x="311700" y="1861375"/>
            <a:ext cx="8520600" cy="46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571100" y="2444100"/>
            <a:ext cx="6001800" cy="367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1600"/>
              <a:buFont typeface="Poppins Medium"/>
              <a:buNone/>
              <a:defRPr sz="1600">
                <a:solidFill>
                  <a:srgbClr val="FAFB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title" idx="2"/>
          </p:nvPr>
        </p:nvSpPr>
        <p:spPr>
          <a:xfrm>
            <a:off x="1014150" y="2927825"/>
            <a:ext cx="71157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 1">
  <p:cSld name="TITLE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 descr="dsds"/>
          <p:cNvSpPr txBox="1">
            <a:spLocks noGrp="1"/>
          </p:cNvSpPr>
          <p:nvPr>
            <p:ph type="ctrTitle"/>
          </p:nvPr>
        </p:nvSpPr>
        <p:spPr>
          <a:xfrm>
            <a:off x="249400" y="908859"/>
            <a:ext cx="8520600" cy="466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/>
          </p:nvPr>
        </p:nvSpPr>
        <p:spPr>
          <a:xfrm>
            <a:off x="249400" y="1334409"/>
            <a:ext cx="7115700" cy="354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 1 1">
  <p:cSld name="TITLE_1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 descr="dsds"/>
          <p:cNvSpPr txBox="1">
            <a:spLocks noGrp="1"/>
          </p:cNvSpPr>
          <p:nvPr>
            <p:ph type="ctrTitle"/>
          </p:nvPr>
        </p:nvSpPr>
        <p:spPr>
          <a:xfrm>
            <a:off x="249400" y="686309"/>
            <a:ext cx="8520600" cy="466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 idx="2"/>
          </p:nvPr>
        </p:nvSpPr>
        <p:spPr>
          <a:xfrm>
            <a:off x="249400" y="1090509"/>
            <a:ext cx="71157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sz="1200" b="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e de garde">
  <p:cSld name="CUSTOM_2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2433300" y="2669850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40" name="Google Shape;40;p5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e de garde 1">
  <p:cSld name="CUSTOM_2_1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6"/>
          <p:cNvCxnSpPr/>
          <p:nvPr/>
        </p:nvCxnSpPr>
        <p:spPr>
          <a:xfrm>
            <a:off x="2433300" y="2669850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63887" y="1987675"/>
            <a:ext cx="1209477" cy="5241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9" name="Google Shape;49;p6"/>
          <p:cNvSpPr/>
          <p:nvPr/>
        </p:nvSpPr>
        <p:spPr>
          <a:xfrm>
            <a:off x="5550" y="0"/>
            <a:ext cx="9144000" cy="89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5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title" idx="2"/>
          </p:nvPr>
        </p:nvSpPr>
        <p:spPr>
          <a:xfrm>
            <a:off x="819600" y="2685750"/>
            <a:ext cx="71157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sz="1200" b="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5" name="Google Shape;55;p7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 1">
  <p:cSld name="SECTION_HEADER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/>
          <p:nvPr/>
        </p:nvSpPr>
        <p:spPr>
          <a:xfrm>
            <a:off x="-50" y="0"/>
            <a:ext cx="9144000" cy="127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4785750" y="326000"/>
            <a:ext cx="3962100" cy="534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title" idx="2"/>
          </p:nvPr>
        </p:nvSpPr>
        <p:spPr>
          <a:xfrm>
            <a:off x="4785750" y="967700"/>
            <a:ext cx="42354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Poppins Medium"/>
              <a:buNone/>
              <a:defRPr sz="1200" b="0">
                <a:solidFill>
                  <a:schemeClr val="accent5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 et description 1 1">
  <p:cSld name="SECTION_TITLE_AND_DESCRIPTION_1_1">
    <p:bg>
      <p:bgPr>
        <a:solidFill>
          <a:srgbClr val="FAFB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63" name="Google Shape;63;p9" title="image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81563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250775" y="3620025"/>
            <a:ext cx="3265800" cy="1207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2400"/>
              <a:buFont typeface="Poppins"/>
              <a:buNone/>
              <a:defRPr sz="2400" b="1">
                <a:solidFill>
                  <a:srgbClr val="FAFB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/>
          <p:nvPr/>
        </p:nvSpPr>
        <p:spPr>
          <a:xfrm>
            <a:off x="3845600" y="0"/>
            <a:ext cx="5298300" cy="15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 et description 1 1 1">
  <p:cSld name="SECTION_TITLE_AND_DESCRIPTION_1_1_1">
    <p:bg>
      <p:bgPr>
        <a:solidFill>
          <a:srgbClr val="FAFBF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68" name="Google Shape;68;p10" title="image-2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81563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50775" y="3653825"/>
            <a:ext cx="3265800" cy="1207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2400"/>
              <a:buFont typeface="Poppins"/>
              <a:buNone/>
              <a:defRPr sz="2400" b="1">
                <a:solidFill>
                  <a:srgbClr val="FAFB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title" idx="2"/>
          </p:nvPr>
        </p:nvSpPr>
        <p:spPr>
          <a:xfrm>
            <a:off x="3974800" y="252600"/>
            <a:ext cx="44976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Poppins Medium"/>
              <a:buNone/>
              <a:defRPr sz="1200" b="0">
                <a:solidFill>
                  <a:srgbClr val="B7B7B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/>
          <p:nvPr/>
        </p:nvSpPr>
        <p:spPr>
          <a:xfrm>
            <a:off x="3974800" y="637100"/>
            <a:ext cx="4842000" cy="18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5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rPr>
              <a:t>Le lorem ipsum est, en imprimerie, une suite de mots sans signification utilisée à titre provisoire pour calibrer une mise en page, le texte définitif venant remplacer le faux-texte dès qu'il est prêt ou que la mise en page est achevée. Généralement, on utilise un texte en faux latin, le Lorem ipsum ou Lipsum.</a:t>
            </a:r>
            <a:endParaRPr sz="1600"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8068119" y="4361581"/>
            <a:ext cx="953100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88</a:t>
            </a: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75" name="Google Shape;75;p11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iffre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79" name="Google Shape;79;p12"/>
          <p:cNvSpPr txBox="1"/>
          <p:nvPr/>
        </p:nvSpPr>
        <p:spPr>
          <a:xfrm>
            <a:off x="1122550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2"/>
          <p:cNvSpPr txBox="1"/>
          <p:nvPr/>
        </p:nvSpPr>
        <p:spPr>
          <a:xfrm>
            <a:off x="1122550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1" name="Google Shape;81;p12"/>
          <p:cNvSpPr txBox="1"/>
          <p:nvPr/>
        </p:nvSpPr>
        <p:spPr>
          <a:xfrm>
            <a:off x="2936788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2"/>
          <p:cNvSpPr txBox="1"/>
          <p:nvPr/>
        </p:nvSpPr>
        <p:spPr>
          <a:xfrm>
            <a:off x="2936788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3" name="Google Shape;83;p12"/>
          <p:cNvSpPr txBox="1"/>
          <p:nvPr/>
        </p:nvSpPr>
        <p:spPr>
          <a:xfrm>
            <a:off x="4751025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84;p12"/>
          <p:cNvSpPr txBox="1"/>
          <p:nvPr/>
        </p:nvSpPr>
        <p:spPr>
          <a:xfrm>
            <a:off x="4751025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5" name="Google Shape;85;p12"/>
          <p:cNvSpPr txBox="1"/>
          <p:nvPr/>
        </p:nvSpPr>
        <p:spPr>
          <a:xfrm>
            <a:off x="6565250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2"/>
          <p:cNvSpPr txBox="1"/>
          <p:nvPr/>
        </p:nvSpPr>
        <p:spPr>
          <a:xfrm>
            <a:off x="6565250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ctrTitle"/>
          </p:nvPr>
        </p:nvSpPr>
        <p:spPr>
          <a:xfrm>
            <a:off x="311700" y="1786100"/>
            <a:ext cx="8520600" cy="46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ubTitle" idx="1"/>
          </p:nvPr>
        </p:nvSpPr>
        <p:spPr>
          <a:xfrm>
            <a:off x="1518475" y="2462300"/>
            <a:ext cx="6001800" cy="367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1600"/>
              <a:buFont typeface="Poppins Medium"/>
              <a:buNone/>
              <a:defRPr sz="1600">
                <a:solidFill>
                  <a:srgbClr val="FAFB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2">
  <p:cSld name="CUSTOM_3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7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05458D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">
  <p:cSld name="CUSTOM">
    <p:bg>
      <p:bgPr>
        <a:solidFill>
          <a:srgbClr val="05458D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898200" y="2325450"/>
            <a:ext cx="7347600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95" name="Google Shape;95;p15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>
            <a:spLocks noGrp="1"/>
          </p:cNvSpPr>
          <p:nvPr>
            <p:ph type="title" idx="2"/>
          </p:nvPr>
        </p:nvSpPr>
        <p:spPr>
          <a:xfrm>
            <a:off x="1873025" y="32614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97" name="Google Shape;97;p15" title="Fiche ac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8903" y="1639029"/>
            <a:ext cx="686423" cy="6864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 2">
  <p:cSld name="CUSTOM_4">
    <p:bg>
      <p:bgPr>
        <a:solidFill>
          <a:srgbClr val="05458D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898200" y="2876650"/>
            <a:ext cx="7347600" cy="10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01" name="Google Shape;101;p16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>
            <a:spLocks noGrp="1"/>
          </p:cNvSpPr>
          <p:nvPr>
            <p:ph type="title" idx="2"/>
          </p:nvPr>
        </p:nvSpPr>
        <p:spPr>
          <a:xfrm>
            <a:off x="1873025" y="38126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 idx="3"/>
          </p:nvPr>
        </p:nvSpPr>
        <p:spPr>
          <a:xfrm>
            <a:off x="898200" y="1548575"/>
            <a:ext cx="7347600" cy="88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None/>
              <a:defRPr sz="33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04" name="Google Shape;104;p16"/>
          <p:cNvCxnSpPr/>
          <p:nvPr/>
        </p:nvCxnSpPr>
        <p:spPr>
          <a:xfrm>
            <a:off x="2427750" y="2771475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 1">
  <p:cSld name="CUSTOM_1">
    <p:bg>
      <p:bgPr>
        <a:solidFill>
          <a:srgbClr val="05458D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898200" y="1998050"/>
            <a:ext cx="7347600" cy="10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title" idx="2"/>
          </p:nvPr>
        </p:nvSpPr>
        <p:spPr>
          <a:xfrm>
            <a:off x="1873025" y="30669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09" name="Google Shape;109;p17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92541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5458D"/>
              </a:buClr>
              <a:buSzPts val="2800"/>
              <a:buFont typeface="Poppins"/>
              <a:buNone/>
              <a:defRPr sz="28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45550" y="2642991"/>
            <a:ext cx="5189400" cy="21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6583375" y="2674250"/>
            <a:ext cx="548700" cy="10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6909125" y="2666675"/>
            <a:ext cx="225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75" y="0"/>
            <a:ext cx="9144000" cy="75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 idx="2"/>
          </p:nvPr>
        </p:nvSpPr>
        <p:spPr>
          <a:xfrm>
            <a:off x="1240675" y="218475"/>
            <a:ext cx="39327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5458D"/>
              </a:buClr>
              <a:buSzPts val="1200"/>
              <a:buFont typeface="Poppins"/>
              <a:buNone/>
              <a:defRPr sz="12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title" idx="3"/>
          </p:nvPr>
        </p:nvSpPr>
        <p:spPr>
          <a:xfrm>
            <a:off x="1240675" y="390775"/>
            <a:ext cx="29571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900"/>
              <a:buFont typeface="Poppins Medium"/>
              <a:buNone/>
              <a:defRPr sz="9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title" idx="4"/>
          </p:nvPr>
        </p:nvSpPr>
        <p:spPr>
          <a:xfrm>
            <a:off x="6024375" y="390775"/>
            <a:ext cx="29571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900"/>
              <a:buFont typeface="Poppins Medium"/>
              <a:buNone/>
              <a:defRPr sz="9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pic>
        <p:nvPicPr>
          <p:cNvPr id="15" name="Google Shape;15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54236" y="177750"/>
            <a:ext cx="923528" cy="4002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.xml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comments" Target="../comments/commen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comments" Target="../comments/commen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ecologie.data.gouv.f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PCAET 2019-2025</a:t>
            </a:r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/>
              <a:t>3 novembre 2025</a:t>
            </a:r>
            <a:endParaRPr sz="1400">
              <a:solidFill>
                <a:srgbClr val="5D5D79"/>
              </a:solidFill>
            </a:endParaRPr>
          </a:p>
        </p:txBody>
      </p:sp>
      <p:sp>
        <p:nvSpPr>
          <p:cNvPr id="117" name="Google Shape;117;p18"/>
          <p:cNvSpPr txBox="1">
            <a:spLocks noGrp="1"/>
          </p:cNvSpPr>
          <p:nvPr>
            <p:ph type="sldNum" idx="4294967295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ctrTitle"/>
          </p:nvPr>
        </p:nvSpPr>
        <p:spPr>
          <a:xfrm>
            <a:off x="560677" y="1027025"/>
            <a:ext cx="3201600" cy="2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Sommaire</a:t>
            </a:r>
            <a:endParaRPr sz="1600"/>
          </a:p>
        </p:txBody>
      </p:sp>
      <p:pic>
        <p:nvPicPr>
          <p:cNvPr id="123" name="Google Shape;123;p19" title="Fiche ac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976" y="932793"/>
            <a:ext cx="277210" cy="2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>
            <a:spLocks noGrp="1"/>
          </p:cNvSpPr>
          <p:nvPr>
            <p:ph type="title" idx="4294967295"/>
          </p:nvPr>
        </p:nvSpPr>
        <p:spPr>
          <a:xfrm>
            <a:off x="303975" y="1363350"/>
            <a:ext cx="54123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100"/>
              <a:buAutoNum type="alphaUcPeriod"/>
            </a:pPr>
            <a:r>
              <a:rPr lang="fr" sz="1100">
                <a:solidFill>
                  <a:srgbClr val="404092"/>
                </a:solidFill>
              </a:rPr>
              <a:t>Synthèse du plan - page 3</a:t>
            </a:r>
            <a:endParaRPr sz="1100">
              <a:solidFill>
                <a:srgbClr val="404092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100"/>
              <a:buAutoNum type="alphaUcPeriod"/>
            </a:pPr>
            <a:r>
              <a:rPr lang="fr" sz="1100">
                <a:solidFill>
                  <a:srgbClr val="404092"/>
                </a:solidFill>
              </a:rPr>
              <a:t>Données territoriales - page 6</a:t>
            </a:r>
            <a:endParaRPr sz="1100">
              <a:solidFill>
                <a:srgbClr val="404092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100"/>
              <a:buAutoNum type="alphaUcPeriod"/>
            </a:pPr>
            <a:r>
              <a:rPr lang="fr" sz="1100">
                <a:solidFill>
                  <a:srgbClr val="404092"/>
                </a:solidFill>
              </a:rPr>
              <a:t>Avancement des axes et leur actions - page 10</a:t>
            </a:r>
            <a:endParaRPr sz="110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Déchets et Économie Circulaire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Energie des Infrastructures Publiques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Urbanisme et Aménagement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Puits de Carbone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Biodiversité et Adaptation au Changement Climatique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Alimentation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Mobilités et déplacements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Energies Renouvelables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Agriculture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Sensibilisation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Numérique et Cycle de Vie de la Donnée - page 10</a:t>
            </a:r>
            <a:endParaRPr sz="1000" b="0">
              <a:solidFill>
                <a:srgbClr val="404092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404092"/>
                </a:solidFill>
              </a:rPr>
              <a:t>D. Ressources - page 34</a:t>
            </a:r>
            <a:endParaRPr sz="1000" b="0">
              <a:solidFill>
                <a:srgbClr val="404092"/>
              </a:solidFill>
            </a:endParaRPr>
          </a:p>
        </p:txBody>
      </p:sp>
      <p:sp>
        <p:nvSpPr>
          <p:cNvPr id="125" name="Google Shape;12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Synthèse du plan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title" idx="2"/>
          </p:nvPr>
        </p:nvSpPr>
        <p:spPr>
          <a:xfrm>
            <a:off x="1014150" y="322721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 de Blois ''Agglopolys''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  <p:pic>
        <p:nvPicPr>
          <p:cNvPr id="133" name="Google Shape;133;p20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4450" y="1722100"/>
            <a:ext cx="952525" cy="9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ctrTitle"/>
          </p:nvPr>
        </p:nvSpPr>
        <p:spPr>
          <a:xfrm>
            <a:off x="1531400" y="1059988"/>
            <a:ext cx="5980800" cy="2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Synthèse du plan</a:t>
            </a:r>
            <a:endParaRPr sz="1600"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  <p:sp>
        <p:nvSpPr>
          <p:cNvPr id="140" name="Google Shape;140;p21"/>
          <p:cNvSpPr/>
          <p:nvPr/>
        </p:nvSpPr>
        <p:spPr>
          <a:xfrm>
            <a:off x="217125" y="1960938"/>
            <a:ext cx="2939400" cy="8679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1082703" y="2235779"/>
            <a:ext cx="21525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Avancement global des actions</a:t>
            </a:r>
            <a:r>
              <a:rPr lang="fr" sz="1127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33 %</a:t>
            </a:r>
            <a:endParaRPr sz="1503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42" name="Google Shape;142;p21" title="Trajectoi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151" y="2126012"/>
            <a:ext cx="548700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/>
          <p:nvPr/>
        </p:nvSpPr>
        <p:spPr>
          <a:xfrm>
            <a:off x="5892375" y="1985038"/>
            <a:ext cx="3018000" cy="8679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6757964" y="2206539"/>
            <a:ext cx="21525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Budget dépensé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950k€ </a:t>
            </a:r>
            <a:b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10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(900k€ fonct. + 50k€ invest.)</a:t>
            </a:r>
            <a:endParaRPr sz="1253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45" name="Google Shape;145;p21" title="mone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5275" y="2144259"/>
            <a:ext cx="501275" cy="501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/>
          <p:nvPr/>
        </p:nvSpPr>
        <p:spPr>
          <a:xfrm>
            <a:off x="3406050" y="1985038"/>
            <a:ext cx="2236800" cy="8679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4308579" y="2322613"/>
            <a:ext cx="11538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Effectif 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8 ETP</a:t>
            </a:r>
            <a:endParaRPr sz="1503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48" name="Google Shape;148;p21" title="Concitoyen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0489" y="2144689"/>
            <a:ext cx="554221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1"/>
          <p:cNvSpPr/>
          <p:nvPr/>
        </p:nvSpPr>
        <p:spPr>
          <a:xfrm>
            <a:off x="288225" y="2979287"/>
            <a:ext cx="4226700" cy="1033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1074977" y="3221838"/>
            <a:ext cx="32205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Structure de l'axe:</a:t>
            </a:r>
            <a:endParaRPr sz="1127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lang="fr" sz="1253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11 </a:t>
            </a:r>
            <a:r>
              <a:rPr lang="fr" sz="1253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sous-axes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23</a:t>
            </a: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indicateurs de suivi</a:t>
            </a:r>
            <a:endParaRPr sz="125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lang="fr" sz="1253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107 </a:t>
            </a: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actions </a:t>
            </a:r>
            <a:r>
              <a:rPr lang="fr" sz="1253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256 </a:t>
            </a: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sous-actions</a:t>
            </a:r>
            <a:endParaRPr sz="125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endParaRPr sz="1503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51" name="Google Shape;151;p21" title="Dashboar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4238" y="3215907"/>
            <a:ext cx="548700" cy="54866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1"/>
          <p:cNvSpPr/>
          <p:nvPr/>
        </p:nvSpPr>
        <p:spPr>
          <a:xfrm>
            <a:off x="4798600" y="2979300"/>
            <a:ext cx="4111800" cy="1033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5648750" y="3194288"/>
            <a:ext cx="2998500" cy="5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Répartition des actions par statut : </a:t>
            </a:r>
            <a:endParaRPr sz="11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fr" sz="1200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 à venir (7%)  </a:t>
            </a:r>
            <a:r>
              <a:rPr lang="fr" sz="1200" b="1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fr" sz="1200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 à l’arrêt (1%)</a:t>
            </a:r>
            <a:r>
              <a:rPr lang="fr" sz="1200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br>
              <a:rPr lang="fr" sz="1200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fr" sz="1200" b="1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66 </a:t>
            </a:r>
            <a:r>
              <a:rPr lang="fr" sz="1200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en cours (61%)  </a:t>
            </a:r>
            <a:r>
              <a:rPr lang="fr" sz="1200" b="1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33 </a:t>
            </a:r>
            <a:r>
              <a:rPr lang="fr" sz="1200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réalisées (28%)</a:t>
            </a:r>
            <a:endParaRPr sz="1200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54" name="Google Shape;154;p21" title="Action à impacts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51887" y="3239614"/>
            <a:ext cx="547200" cy="5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Données territoriales</a:t>
            </a:r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  <p:pic>
        <p:nvPicPr>
          <p:cNvPr id="161" name="Google Shape;161;p22" title="location-fr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6980" y="1615450"/>
            <a:ext cx="954000" cy="9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  <p:sp>
        <p:nvSpPr>
          <p:cNvPr id="167" name="Google Shape;167;p23"/>
          <p:cNvSpPr/>
          <p:nvPr/>
        </p:nvSpPr>
        <p:spPr>
          <a:xfrm>
            <a:off x="1092925" y="914400"/>
            <a:ext cx="6824400" cy="3809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8" name="Google Shape;168;p23" title="Consommation énergétique finale.png"/>
          <p:cNvPicPr preferRelativeResize="0"/>
          <p:nvPr/>
        </p:nvPicPr>
        <p:blipFill rotWithShape="1">
          <a:blip r:embed="rId3">
            <a:alphaModFix/>
          </a:blip>
          <a:srcRect t="4269"/>
          <a:stretch/>
        </p:blipFill>
        <p:spPr>
          <a:xfrm>
            <a:off x="1372350" y="1223453"/>
            <a:ext cx="6399299" cy="334025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3"/>
          <p:cNvSpPr txBox="1">
            <a:spLocks noGrp="1"/>
          </p:cNvSpPr>
          <p:nvPr>
            <p:ph type="title" idx="4294967295"/>
          </p:nvPr>
        </p:nvSpPr>
        <p:spPr>
          <a:xfrm>
            <a:off x="1581275" y="1365400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Consommation énergétique finale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  <p:sp>
        <p:nvSpPr>
          <p:cNvPr id="175" name="Google Shape;175;p24"/>
          <p:cNvSpPr/>
          <p:nvPr/>
        </p:nvSpPr>
        <p:spPr>
          <a:xfrm>
            <a:off x="1092925" y="914400"/>
            <a:ext cx="6824400" cy="3809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6" name="Google Shape;176;p24" title="Émissions de gaz à effet de serre.png"/>
          <p:cNvPicPr preferRelativeResize="0"/>
          <p:nvPr/>
        </p:nvPicPr>
        <p:blipFill rotWithShape="1">
          <a:blip r:embed="rId3">
            <a:alphaModFix/>
          </a:blip>
          <a:srcRect t="4952"/>
          <a:stretch/>
        </p:blipFill>
        <p:spPr>
          <a:xfrm>
            <a:off x="1317300" y="1224906"/>
            <a:ext cx="6444073" cy="336363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4"/>
          <p:cNvSpPr txBox="1">
            <a:spLocks noGrp="1"/>
          </p:cNvSpPr>
          <p:nvPr>
            <p:ph type="title" idx="4294967295"/>
          </p:nvPr>
        </p:nvSpPr>
        <p:spPr>
          <a:xfrm>
            <a:off x="1317300" y="1042375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Émission de gaz à effet de serre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Avancement des axes et leur actions</a:t>
            </a:r>
            <a:endParaRPr/>
          </a:p>
        </p:txBody>
      </p:sp>
      <p:sp>
        <p:nvSpPr>
          <p:cNvPr id="183" name="Google Shape;183;p25"/>
          <p:cNvSpPr txBox="1">
            <a:spLocks noGrp="1"/>
          </p:cNvSpPr>
          <p:nvPr>
            <p:ph type="title" idx="2"/>
          </p:nvPr>
        </p:nvSpPr>
        <p:spPr>
          <a:xfrm>
            <a:off x="1014150" y="322721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 de Blois ''Agglopolys''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  <p:pic>
        <p:nvPicPr>
          <p:cNvPr id="185" name="Google Shape;185;p25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4450" y="1722100"/>
            <a:ext cx="952525" cy="9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>
            <a:spLocks noGrp="1"/>
          </p:cNvSpPr>
          <p:nvPr>
            <p:ph type="ctrTitle"/>
          </p:nvPr>
        </p:nvSpPr>
        <p:spPr>
          <a:xfrm>
            <a:off x="288225" y="1059988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Axe 1. Déchets et Économie Circulaire</a:t>
            </a:r>
            <a:endParaRPr sz="1600"/>
          </a:p>
        </p:txBody>
      </p:sp>
      <p:sp>
        <p:nvSpPr>
          <p:cNvPr id="191" name="Google Shape;191;p26"/>
          <p:cNvSpPr txBox="1">
            <a:spLocks noGrp="1"/>
          </p:cNvSpPr>
          <p:nvPr>
            <p:ph type="sldNum" idx="12"/>
          </p:nvPr>
        </p:nvSpPr>
        <p:spPr>
          <a:xfrm>
            <a:off x="8572533" y="4732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  <p:sp>
        <p:nvSpPr>
          <p:cNvPr id="192" name="Google Shape;192;p26"/>
          <p:cNvSpPr/>
          <p:nvPr/>
        </p:nvSpPr>
        <p:spPr>
          <a:xfrm>
            <a:off x="288225" y="2505075"/>
            <a:ext cx="4226700" cy="1033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1074977" y="2747625"/>
            <a:ext cx="32205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Structure de l'axe:</a:t>
            </a:r>
            <a:endParaRPr sz="1127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lang="fr" sz="1253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11 </a:t>
            </a:r>
            <a:r>
              <a:rPr lang="fr" sz="1253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sous-axes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23</a:t>
            </a: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indicateurs de suivi</a:t>
            </a:r>
            <a:endParaRPr sz="125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lang="fr" sz="1253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107 </a:t>
            </a: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actions </a:t>
            </a:r>
            <a:r>
              <a:rPr lang="fr" sz="1253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256 </a:t>
            </a: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sous-actions</a:t>
            </a:r>
            <a:endParaRPr sz="125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endParaRPr sz="1503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94" name="Google Shape;194;p26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238" y="2741694"/>
            <a:ext cx="548700" cy="54866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6"/>
          <p:cNvSpPr/>
          <p:nvPr/>
        </p:nvSpPr>
        <p:spPr>
          <a:xfrm>
            <a:off x="288225" y="1486725"/>
            <a:ext cx="2939400" cy="8679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p26"/>
          <p:cNvSpPr txBox="1"/>
          <p:nvPr/>
        </p:nvSpPr>
        <p:spPr>
          <a:xfrm>
            <a:off x="1108175" y="1848403"/>
            <a:ext cx="19431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Avancement 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56%</a:t>
            </a:r>
            <a:endParaRPr sz="1253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97" name="Google Shape;197;p26" title="Trajectoir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251" y="1651799"/>
            <a:ext cx="548700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6"/>
          <p:cNvSpPr/>
          <p:nvPr/>
        </p:nvSpPr>
        <p:spPr>
          <a:xfrm>
            <a:off x="4723875" y="2505075"/>
            <a:ext cx="4068600" cy="1033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5574025" y="2720075"/>
            <a:ext cx="2998500" cy="5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Répartition des actions par statut : </a:t>
            </a:r>
            <a:endParaRPr sz="11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fr" sz="1200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 à venir (15%)  </a:t>
            </a:r>
            <a:r>
              <a:rPr lang="fr" sz="1200" b="1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fr" sz="1200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 à l’arrêt (5%)</a:t>
            </a:r>
            <a:r>
              <a:rPr lang="fr" sz="1200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br>
              <a:rPr lang="fr" sz="1200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fr" sz="1200" b="1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66 </a:t>
            </a:r>
            <a:r>
              <a:rPr lang="fr" sz="1200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en cours (67%)  </a:t>
            </a:r>
            <a:r>
              <a:rPr lang="fr" sz="1200" b="1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1 </a:t>
            </a:r>
            <a:r>
              <a:rPr lang="fr" sz="1200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réalisées (2%)</a:t>
            </a:r>
            <a:endParaRPr sz="1200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6172875" y="1510900"/>
            <a:ext cx="2619600" cy="8679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7038450" y="1732400"/>
            <a:ext cx="1646100" cy="5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Budget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190k€ </a:t>
            </a:r>
            <a:b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105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(dépensé 150 k)</a:t>
            </a:r>
            <a:endParaRPr sz="105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endParaRPr sz="1253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02" name="Google Shape;202;p26" title="mone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3787" y="1707921"/>
            <a:ext cx="501275" cy="50125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6"/>
          <p:cNvSpPr/>
          <p:nvPr/>
        </p:nvSpPr>
        <p:spPr>
          <a:xfrm>
            <a:off x="3439877" y="1510825"/>
            <a:ext cx="2494200" cy="8679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4" name="Google Shape;204;p26"/>
          <p:cNvSpPr txBox="1"/>
          <p:nvPr/>
        </p:nvSpPr>
        <p:spPr>
          <a:xfrm>
            <a:off x="4342412" y="1848408"/>
            <a:ext cx="17085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Effectif 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 ETP</a:t>
            </a:r>
            <a:endParaRPr sz="1503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05" name="Google Shape;205;p26" title="Concitoyen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4314" y="1670477"/>
            <a:ext cx="554221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title="Action à impacts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77162" y="2765401"/>
            <a:ext cx="547200" cy="54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/>
          <p:nvPr/>
        </p:nvSpPr>
        <p:spPr>
          <a:xfrm>
            <a:off x="319800" y="3699275"/>
            <a:ext cx="8504400" cy="13350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26"/>
          <p:cNvSpPr txBox="1"/>
          <p:nvPr/>
        </p:nvSpPr>
        <p:spPr>
          <a:xfrm>
            <a:off x="2846250" y="4337813"/>
            <a:ext cx="34515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b="1">
                <a:solidFill>
                  <a:schemeClr val="dk1"/>
                </a:solidFill>
                <a:highlight>
                  <a:srgbClr val="FBFCFE"/>
                </a:highlight>
              </a:rPr>
              <a:t>Aucune notes de suivi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3952975" y="4588300"/>
            <a:ext cx="1238100" cy="262500"/>
          </a:xfrm>
          <a:prstGeom prst="roundRect">
            <a:avLst>
              <a:gd name="adj" fmla="val 16667"/>
            </a:avLst>
          </a:prstGeom>
          <a:solidFill>
            <a:srgbClr val="05458D"/>
          </a:solidFill>
          <a:ln w="9525" cap="flat" cmpd="sng">
            <a:solidFill>
              <a:srgbClr val="E6E9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FAFB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Ajouter une note</a:t>
            </a:r>
            <a:endParaRPr sz="800">
              <a:solidFill>
                <a:srgbClr val="FAFB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10" name="Google Shape;210;p26" title="documen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94900" y="3786263"/>
            <a:ext cx="554200" cy="5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/>
        </p:nvSpPr>
        <p:spPr>
          <a:xfrm>
            <a:off x="8201700" y="218475"/>
            <a:ext cx="64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rPr>
              <a:t>Page 2</a:t>
            </a:r>
            <a:endParaRPr sz="1000"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217" name="Google Shape;217;p27"/>
          <p:cNvSpPr/>
          <p:nvPr/>
        </p:nvSpPr>
        <p:spPr>
          <a:xfrm>
            <a:off x="1092925" y="914400"/>
            <a:ext cx="6824400" cy="3809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8" name="Google Shape;218;p27" title="Production d’énergie renouvelable du territoire.png"/>
          <p:cNvPicPr preferRelativeResize="0"/>
          <p:nvPr/>
        </p:nvPicPr>
        <p:blipFill rotWithShape="1">
          <a:blip r:embed="rId3">
            <a:alphaModFix/>
          </a:blip>
          <a:srcRect t="5069"/>
          <a:stretch/>
        </p:blipFill>
        <p:spPr>
          <a:xfrm>
            <a:off x="1283100" y="1308650"/>
            <a:ext cx="6444052" cy="3259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 txBox="1">
            <a:spLocks noGrp="1"/>
          </p:cNvSpPr>
          <p:nvPr>
            <p:ph type="title" idx="4294967295"/>
          </p:nvPr>
        </p:nvSpPr>
        <p:spPr>
          <a:xfrm>
            <a:off x="1283100" y="1083775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Production d’énergie renouvelable du territoire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Avancement des axes et leur actions</a:t>
            </a:r>
            <a:endParaRPr/>
          </a:p>
        </p:txBody>
      </p:sp>
      <p:sp>
        <p:nvSpPr>
          <p:cNvPr id="225" name="Google Shape;225;p28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pic>
        <p:nvPicPr>
          <p:cNvPr id="226" name="Google Shape;226;p28" title="Trajectoi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003" y="1641276"/>
            <a:ext cx="954000" cy="9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>
            <a:spLocks noGrp="1"/>
          </p:cNvSpPr>
          <p:nvPr>
            <p:ph type="ctrTitle"/>
          </p:nvPr>
        </p:nvSpPr>
        <p:spPr>
          <a:xfrm>
            <a:off x="260975" y="921475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Avancement du plan </a:t>
            </a:r>
            <a:endParaRPr sz="1600"/>
          </a:p>
        </p:txBody>
      </p:sp>
      <p:sp>
        <p:nvSpPr>
          <p:cNvPr id="232" name="Google Shape;232;p29"/>
          <p:cNvSpPr txBox="1"/>
          <p:nvPr/>
        </p:nvSpPr>
        <p:spPr>
          <a:xfrm>
            <a:off x="318950" y="1326450"/>
            <a:ext cx="842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AA8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33" name="Google Shape;233;p29"/>
          <p:cNvGraphicFramePr/>
          <p:nvPr/>
        </p:nvGraphicFramePr>
        <p:xfrm>
          <a:off x="260975" y="13264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{4722078B-5231-4813-9324-93ACBC273146}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ID</a:t>
                      </a:r>
                      <a:endParaRPr sz="7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AXE</a:t>
                      </a:r>
                      <a:endParaRPr sz="7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AVANCEMENT</a:t>
                      </a:r>
                      <a:endParaRPr sz="7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ACTIONS</a:t>
                      </a:r>
                      <a:endParaRPr sz="7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TENDANCE</a:t>
                      </a:r>
                      <a:endParaRPr sz="7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Déchets &amp; Économie Circulaire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56%</a:t>
                      </a:r>
                      <a:endParaRPr sz="7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27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6AA84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➚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Énergie Infrastructures Publiques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E6913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25%</a:t>
                      </a:r>
                      <a:endParaRPr sz="1000">
                        <a:solidFill>
                          <a:srgbClr val="E6913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11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E6913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→</a:t>
                      </a:r>
                      <a:endParaRPr sz="1000">
                        <a:solidFill>
                          <a:srgbClr val="E6913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Urbanisme &amp; Aménagement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CC0000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12%</a:t>
                      </a:r>
                      <a:endParaRPr sz="1000">
                        <a:solidFill>
                          <a:srgbClr val="CC0000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8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 b="1">
                          <a:solidFill>
                            <a:srgbClr val="CC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↓</a:t>
                      </a:r>
                      <a:endParaRPr sz="1000" b="1">
                        <a:solidFill>
                          <a:srgbClr val="CC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Puits de Carbone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54%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4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6AA84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➚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Biodiversité &amp; Adaptation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46%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14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→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Alimentation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6AA84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89%</a:t>
                      </a:r>
                      <a:endParaRPr sz="1000">
                        <a:solidFill>
                          <a:srgbClr val="6AA84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18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6AA84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➚➚</a:t>
                      </a:r>
                      <a:endParaRPr sz="1000">
                        <a:solidFill>
                          <a:srgbClr val="6AA84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Mobilités &amp; Déplacements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CC0000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9%</a:t>
                      </a:r>
                      <a:endParaRPr sz="1000">
                        <a:solidFill>
                          <a:srgbClr val="CC0000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3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 b="1">
                          <a:solidFill>
                            <a:srgbClr val="CC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↓</a:t>
                      </a:r>
                      <a:endParaRPr sz="1000">
                        <a:solidFill>
                          <a:srgbClr val="CC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Énergies Renouvelables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6AA84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93%</a:t>
                      </a:r>
                      <a:endParaRPr sz="700">
                        <a:solidFill>
                          <a:srgbClr val="6AA84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7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6AA84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➚➚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Agriculture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E6913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26%</a:t>
                      </a:r>
                      <a:endParaRPr sz="1000">
                        <a:solidFill>
                          <a:srgbClr val="E6913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10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E6913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→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Sensibilisation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E6913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22%</a:t>
                      </a:r>
                      <a:endParaRPr sz="1000">
                        <a:solidFill>
                          <a:srgbClr val="E6913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9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E6913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→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Numérique &amp; Données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E6913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29%</a:t>
                      </a:r>
                      <a:endParaRPr sz="1000">
                        <a:solidFill>
                          <a:srgbClr val="E6913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16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E6913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→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34" name="Google Shape;234;p29"/>
          <p:cNvSpPr txBox="1"/>
          <p:nvPr/>
        </p:nvSpPr>
        <p:spPr>
          <a:xfrm>
            <a:off x="8201700" y="218475"/>
            <a:ext cx="64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rPr>
              <a:t>Page 2</a:t>
            </a:r>
            <a:endParaRPr sz="1000"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>
            <a:spLocks noGrp="1"/>
          </p:cNvSpPr>
          <p:nvPr>
            <p:ph type="ctrTitle"/>
          </p:nvPr>
        </p:nvSpPr>
        <p:spPr>
          <a:xfrm>
            <a:off x="319800" y="1006163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{{ACTION_TITLE}}</a:t>
            </a:r>
            <a:endParaRPr sz="1600" dirty="0"/>
          </a:p>
        </p:txBody>
      </p:sp>
      <p:sp>
        <p:nvSpPr>
          <p:cNvPr id="241" name="Google Shape;241;p30"/>
          <p:cNvSpPr txBox="1">
            <a:spLocks noGrp="1"/>
          </p:cNvSpPr>
          <p:nvPr>
            <p:ph type="sldNum" idx="12"/>
          </p:nvPr>
        </p:nvSpPr>
        <p:spPr>
          <a:xfrm>
            <a:off x="8572533" y="4732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sp>
        <p:nvSpPr>
          <p:cNvPr id="242" name="Google Shape;242;p30"/>
          <p:cNvSpPr txBox="1"/>
          <p:nvPr/>
        </p:nvSpPr>
        <p:spPr>
          <a:xfrm>
            <a:off x="319800" y="1823600"/>
            <a:ext cx="5124300" cy="26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Chiffres clés :</a:t>
            </a:r>
            <a:endParaRPr sz="1127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Nombre d’arbres plantés :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23</a:t>
            </a:r>
            <a:b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Hectares d’Espaces Boisés Classés :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164</a:t>
            </a:r>
            <a:b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Stockage carbone annuel de la nouvelle forêt :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N/C </a:t>
            </a:r>
            <a:endParaRPr sz="1253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b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Notes de suivi :</a:t>
            </a:r>
            <a:endParaRPr sz="1127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 trois ans, la collectivité a planté 387 arbres et 3 600 jeunes plants forestiers, dont une prairie boisée de 180 arbres à Villiersfins (45 000 € TTC) et une micro-forêt rue Monge (18 000 € TTC financés à 95% par mécénat). Un nouvel objectif vise la création d'un parc arboré au quartier de la gare d'ici 6 ans, en s'appuyant sur la Charte de l'arbre (2016) et le plan de gestion différenciée des espaces végétalisés (2021).</a:t>
            </a:r>
            <a:endParaRPr sz="125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endParaRPr sz="125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3" name="Google Shape;243;p30"/>
          <p:cNvSpPr/>
          <p:nvPr/>
        </p:nvSpPr>
        <p:spPr>
          <a:xfrm>
            <a:off x="5916275" y="1823600"/>
            <a:ext cx="2945700" cy="8679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p30"/>
          <p:cNvSpPr txBox="1"/>
          <p:nvPr/>
        </p:nvSpPr>
        <p:spPr>
          <a:xfrm>
            <a:off x="6772675" y="2093950"/>
            <a:ext cx="2494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Budget dépensé 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50 k€ </a:t>
            </a:r>
            <a:br>
              <a:rPr lang="fr" sz="105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105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(30k€ fonct. + 20k€ invest.)</a:t>
            </a:r>
            <a:endParaRPr sz="1050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45" name="Google Shape;245;p30" title="mone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7187" y="2020621"/>
            <a:ext cx="501275" cy="50125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0"/>
          <p:cNvSpPr/>
          <p:nvPr/>
        </p:nvSpPr>
        <p:spPr>
          <a:xfrm>
            <a:off x="7760075" y="1006175"/>
            <a:ext cx="1032600" cy="317400"/>
          </a:xfrm>
          <a:prstGeom prst="roundRect">
            <a:avLst>
              <a:gd name="adj" fmla="val 16667"/>
            </a:avLst>
          </a:prstGeom>
          <a:solidFill>
            <a:srgbClr val="E5FCF0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Réalisé à 100%</a:t>
            </a:r>
            <a:endParaRPr sz="1100">
              <a:solidFill>
                <a:schemeClr val="accent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47" name="Google Shape;247;p30"/>
          <p:cNvSpPr txBox="1">
            <a:spLocks noGrp="1"/>
          </p:cNvSpPr>
          <p:nvPr>
            <p:ph type="ctrTitle"/>
          </p:nvPr>
        </p:nvSpPr>
        <p:spPr>
          <a:xfrm>
            <a:off x="319800" y="1258488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Pilote</a:t>
            </a:r>
            <a:r>
              <a:rPr lang="fr" sz="1100" b="0">
                <a:solidFill>
                  <a:schemeClr val="dk2"/>
                </a:solidFill>
              </a:rPr>
              <a:t> : A. Dusanter | </a:t>
            </a:r>
            <a:r>
              <a:rPr lang="fr" sz="1100">
                <a:solidFill>
                  <a:schemeClr val="dk2"/>
                </a:solidFill>
              </a:rPr>
              <a:t>Période</a:t>
            </a:r>
            <a:r>
              <a:rPr lang="fr" sz="1100" b="0">
                <a:solidFill>
                  <a:schemeClr val="dk2"/>
                </a:solidFill>
              </a:rPr>
              <a:t> : 30/10/24 -&gt; 31/12/25</a:t>
            </a:r>
            <a:endParaRPr sz="1300"/>
          </a:p>
        </p:txBody>
      </p:sp>
      <p:sp>
        <p:nvSpPr>
          <p:cNvPr id="248" name="Google Shape;248;p30"/>
          <p:cNvSpPr/>
          <p:nvPr/>
        </p:nvSpPr>
        <p:spPr>
          <a:xfrm>
            <a:off x="5916275" y="2833025"/>
            <a:ext cx="2945700" cy="8679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30"/>
          <p:cNvSpPr txBox="1"/>
          <p:nvPr/>
        </p:nvSpPr>
        <p:spPr>
          <a:xfrm>
            <a:off x="6772675" y="3191533"/>
            <a:ext cx="17085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Effectif 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0.25 ETP</a:t>
            </a:r>
            <a:endParaRPr sz="1253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50" name="Google Shape;250;p30" title="Concitoyen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5002" y="2992627"/>
            <a:ext cx="554221" cy="54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0"/>
          <p:cNvCxnSpPr/>
          <p:nvPr/>
        </p:nvCxnSpPr>
        <p:spPr>
          <a:xfrm>
            <a:off x="336175" y="1634200"/>
            <a:ext cx="84606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1"/>
          <p:cNvSpPr txBox="1">
            <a:spLocks noGrp="1"/>
          </p:cNvSpPr>
          <p:nvPr>
            <p:ph type="ctrTitle"/>
          </p:nvPr>
        </p:nvSpPr>
        <p:spPr>
          <a:xfrm>
            <a:off x="318950" y="1051601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4.3 Créer un nouvel espace boisé à Blois</a:t>
            </a:r>
            <a:endParaRPr sz="1600"/>
          </a:p>
        </p:txBody>
      </p:sp>
      <p:sp>
        <p:nvSpPr>
          <p:cNvPr id="257" name="Google Shape;257;p31"/>
          <p:cNvSpPr txBox="1"/>
          <p:nvPr/>
        </p:nvSpPr>
        <p:spPr>
          <a:xfrm>
            <a:off x="8201700" y="218475"/>
            <a:ext cx="64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rPr>
              <a:t>Page 2</a:t>
            </a:r>
            <a:endParaRPr sz="1000"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259" name="Google Shape;259;p31"/>
          <p:cNvSpPr/>
          <p:nvPr/>
        </p:nvSpPr>
        <p:spPr>
          <a:xfrm>
            <a:off x="318950" y="1543275"/>
            <a:ext cx="4028100" cy="2471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0" name="Google Shape;260;p31" title="Hectares d’Espaces Boisés Classés.png"/>
          <p:cNvPicPr preferRelativeResize="0"/>
          <p:nvPr/>
        </p:nvPicPr>
        <p:blipFill rotWithShape="1">
          <a:blip r:embed="rId3">
            <a:alphaModFix/>
          </a:blip>
          <a:srcRect t="4707"/>
          <a:stretch/>
        </p:blipFill>
        <p:spPr>
          <a:xfrm>
            <a:off x="477688" y="1951375"/>
            <a:ext cx="3710623" cy="184559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1"/>
          <p:cNvSpPr txBox="1">
            <a:spLocks noGrp="1"/>
          </p:cNvSpPr>
          <p:nvPr>
            <p:ph type="title" idx="4294967295"/>
          </p:nvPr>
        </p:nvSpPr>
        <p:spPr>
          <a:xfrm>
            <a:off x="477700" y="1713250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Nombre d’arbres plantés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62" name="Google Shape;262;p31"/>
          <p:cNvSpPr/>
          <p:nvPr/>
        </p:nvSpPr>
        <p:spPr>
          <a:xfrm>
            <a:off x="4742625" y="1543275"/>
            <a:ext cx="4028100" cy="2471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p31"/>
          <p:cNvSpPr txBox="1">
            <a:spLocks noGrp="1"/>
          </p:cNvSpPr>
          <p:nvPr>
            <p:ph type="title" idx="4294967295"/>
          </p:nvPr>
        </p:nvSpPr>
        <p:spPr>
          <a:xfrm>
            <a:off x="4901375" y="1713250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Hectares d’Espaces Boisés Classés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64" name="Google Shape;264;p31" title="Nombre d’arbres plantés.png"/>
          <p:cNvPicPr preferRelativeResize="0"/>
          <p:nvPr/>
        </p:nvPicPr>
        <p:blipFill rotWithShape="1">
          <a:blip r:embed="rId4">
            <a:alphaModFix/>
          </a:blip>
          <a:srcRect t="4370"/>
          <a:stretch/>
        </p:blipFill>
        <p:spPr>
          <a:xfrm>
            <a:off x="4947500" y="1948075"/>
            <a:ext cx="3710602" cy="185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270" name="Google Shape;270;p32"/>
          <p:cNvSpPr txBox="1">
            <a:spLocks noGrp="1"/>
          </p:cNvSpPr>
          <p:nvPr>
            <p:ph type="ctrTitle"/>
          </p:nvPr>
        </p:nvSpPr>
        <p:spPr>
          <a:xfrm>
            <a:off x="318950" y="1051601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4.3 Créer un nouvel espace boisé à Blois</a:t>
            </a:r>
            <a:endParaRPr sz="1600"/>
          </a:p>
        </p:txBody>
      </p:sp>
      <p:sp>
        <p:nvSpPr>
          <p:cNvPr id="271" name="Google Shape;271;p32"/>
          <p:cNvSpPr txBox="1">
            <a:spLocks noGrp="1"/>
          </p:cNvSpPr>
          <p:nvPr>
            <p:ph type="ctrTitle"/>
          </p:nvPr>
        </p:nvSpPr>
        <p:spPr>
          <a:xfrm>
            <a:off x="319800" y="1258488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Pilote</a:t>
            </a:r>
            <a:r>
              <a:rPr lang="fr" sz="1100" b="0">
                <a:solidFill>
                  <a:schemeClr val="dk2"/>
                </a:solidFill>
              </a:rPr>
              <a:t> : A. Dusanter | </a:t>
            </a:r>
            <a:r>
              <a:rPr lang="fr" sz="1100">
                <a:solidFill>
                  <a:schemeClr val="dk2"/>
                </a:solidFill>
              </a:rPr>
              <a:t>Période</a:t>
            </a:r>
            <a:r>
              <a:rPr lang="fr" sz="1100" b="0">
                <a:solidFill>
                  <a:schemeClr val="dk2"/>
                </a:solidFill>
              </a:rPr>
              <a:t> : 30/10/24 -&gt; 31/12/25</a:t>
            </a:r>
            <a:endParaRPr sz="1300"/>
          </a:p>
        </p:txBody>
      </p:sp>
      <p:cxnSp>
        <p:nvCxnSpPr>
          <p:cNvPr id="272" name="Google Shape;272;p32"/>
          <p:cNvCxnSpPr/>
          <p:nvPr/>
        </p:nvCxnSpPr>
        <p:spPr>
          <a:xfrm>
            <a:off x="336175" y="1903288"/>
            <a:ext cx="4136400" cy="18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p32"/>
          <p:cNvSpPr/>
          <p:nvPr/>
        </p:nvSpPr>
        <p:spPr>
          <a:xfrm>
            <a:off x="336175" y="1596075"/>
            <a:ext cx="692400" cy="192900"/>
          </a:xfrm>
          <a:prstGeom prst="roundRect">
            <a:avLst>
              <a:gd name="adj" fmla="val 16667"/>
            </a:avLst>
          </a:prstGeom>
          <a:solidFill>
            <a:srgbClr val="E5FCF0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Réalisé </a:t>
            </a:r>
            <a:endParaRPr sz="1100">
              <a:solidFill>
                <a:schemeClr val="accent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74" name="Google Shape;274;p32"/>
          <p:cNvSpPr/>
          <p:nvPr/>
        </p:nvSpPr>
        <p:spPr>
          <a:xfrm>
            <a:off x="4742625" y="2438463"/>
            <a:ext cx="4028100" cy="2471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5" name="Google Shape;275;p32"/>
          <p:cNvSpPr txBox="1">
            <a:spLocks noGrp="1"/>
          </p:cNvSpPr>
          <p:nvPr>
            <p:ph type="title" idx="4294967295"/>
          </p:nvPr>
        </p:nvSpPr>
        <p:spPr>
          <a:xfrm>
            <a:off x="4901375" y="2608438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Hectares d’Espaces Boisés Classés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76" name="Google Shape;276;p32" title="Nombre d’arbres plantés.png"/>
          <p:cNvPicPr preferRelativeResize="0"/>
          <p:nvPr/>
        </p:nvPicPr>
        <p:blipFill rotWithShape="1">
          <a:blip r:embed="rId3">
            <a:alphaModFix/>
          </a:blip>
          <a:srcRect t="4370"/>
          <a:stretch/>
        </p:blipFill>
        <p:spPr>
          <a:xfrm>
            <a:off x="4947500" y="2843263"/>
            <a:ext cx="3710602" cy="185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2"/>
          <p:cNvSpPr/>
          <p:nvPr/>
        </p:nvSpPr>
        <p:spPr>
          <a:xfrm>
            <a:off x="336175" y="2175463"/>
            <a:ext cx="2945700" cy="676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p32"/>
          <p:cNvSpPr txBox="1"/>
          <p:nvPr/>
        </p:nvSpPr>
        <p:spPr>
          <a:xfrm>
            <a:off x="1142875" y="2339975"/>
            <a:ext cx="2494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Budget dépensé 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50 k€ </a:t>
            </a:r>
            <a:br>
              <a:rPr lang="fr" sz="105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105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(30k€ fonct. + 20k€ invest.)</a:t>
            </a:r>
            <a:endParaRPr sz="1050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79" name="Google Shape;279;p32" title="mone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125" y="2286023"/>
            <a:ext cx="493456" cy="493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2"/>
          <p:cNvSpPr/>
          <p:nvPr/>
        </p:nvSpPr>
        <p:spPr>
          <a:xfrm>
            <a:off x="336175" y="3003588"/>
            <a:ext cx="2945700" cy="676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1" name="Google Shape;281;p32"/>
          <p:cNvSpPr txBox="1"/>
          <p:nvPr/>
        </p:nvSpPr>
        <p:spPr>
          <a:xfrm>
            <a:off x="1142875" y="3266388"/>
            <a:ext cx="13005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Effectif 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0.25 ETP</a:t>
            </a:r>
            <a:endParaRPr sz="1253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82" name="Google Shape;282;p32" title="Concitoyen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200" y="3093701"/>
            <a:ext cx="501275" cy="49627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2"/>
          <p:cNvSpPr/>
          <p:nvPr/>
        </p:nvSpPr>
        <p:spPr>
          <a:xfrm>
            <a:off x="4696250" y="0"/>
            <a:ext cx="4447800" cy="5143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" name="Google Shape;284;p32"/>
          <p:cNvSpPr/>
          <p:nvPr/>
        </p:nvSpPr>
        <p:spPr>
          <a:xfrm>
            <a:off x="4906100" y="177500"/>
            <a:ext cx="4028100" cy="23139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5" name="Google Shape;285;p32" title="Hectares d’Espaces Boisés Classés.png"/>
          <p:cNvPicPr preferRelativeResize="0"/>
          <p:nvPr/>
        </p:nvPicPr>
        <p:blipFill rotWithShape="1">
          <a:blip r:embed="rId6">
            <a:alphaModFix/>
          </a:blip>
          <a:srcRect t="4707"/>
          <a:stretch/>
        </p:blipFill>
        <p:spPr>
          <a:xfrm>
            <a:off x="5064838" y="585600"/>
            <a:ext cx="3710623" cy="184559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2"/>
          <p:cNvSpPr txBox="1">
            <a:spLocks noGrp="1"/>
          </p:cNvSpPr>
          <p:nvPr>
            <p:ph type="title" idx="4294967295"/>
          </p:nvPr>
        </p:nvSpPr>
        <p:spPr>
          <a:xfrm>
            <a:off x="5064850" y="347475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Nombre d’arbres plantés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87" name="Google Shape;287;p32"/>
          <p:cNvSpPr/>
          <p:nvPr/>
        </p:nvSpPr>
        <p:spPr>
          <a:xfrm>
            <a:off x="4906100" y="2648900"/>
            <a:ext cx="4028100" cy="23139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8" name="Google Shape;288;p32"/>
          <p:cNvSpPr txBox="1">
            <a:spLocks noGrp="1"/>
          </p:cNvSpPr>
          <p:nvPr>
            <p:ph type="title" idx="4294967295"/>
          </p:nvPr>
        </p:nvSpPr>
        <p:spPr>
          <a:xfrm>
            <a:off x="5064850" y="2818875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Hectares d’Espaces Boisés Classés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89" name="Google Shape;289;p32" title="Nombre d’arbres plantés.png"/>
          <p:cNvPicPr preferRelativeResize="0"/>
          <p:nvPr/>
        </p:nvPicPr>
        <p:blipFill rotWithShape="1">
          <a:blip r:embed="rId3">
            <a:alphaModFix/>
          </a:blip>
          <a:srcRect t="4370"/>
          <a:stretch/>
        </p:blipFill>
        <p:spPr>
          <a:xfrm>
            <a:off x="5110975" y="3053700"/>
            <a:ext cx="3710602" cy="185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3" title="logo final + accroch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9675" y="182725"/>
            <a:ext cx="1375626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3"/>
          <p:cNvSpPr txBox="1"/>
          <p:nvPr/>
        </p:nvSpPr>
        <p:spPr>
          <a:xfrm>
            <a:off x="288500" y="1059775"/>
            <a:ext cx="53934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Données territoriales : 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Char char="-"/>
            </a:pPr>
            <a:r>
              <a:rPr lang="fr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Consommation d’énergie : </a:t>
            </a:r>
            <a:r>
              <a:rPr lang="f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https://ecologie.data.gouv.fr/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Char char="-"/>
            </a:pPr>
            <a:r>
              <a:rPr lang="fr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GES : </a:t>
            </a:r>
            <a:r>
              <a:rPr lang="f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https://ecologie.data.gouv.fr/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Char char="-"/>
            </a:pPr>
            <a:r>
              <a:rPr lang="fr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Production ENR : </a:t>
            </a:r>
            <a:r>
              <a:rPr lang="fr" sz="1200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https://ecologie.data.gouv.fr/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Statuts des actions : 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-"/>
            </a:pPr>
            <a:r>
              <a:rPr lang="fr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À venir</a:t>
            </a:r>
            <a:r>
              <a:rPr lang="f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: à venir</a:t>
            </a:r>
            <a:r>
              <a:rPr lang="fr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-"/>
            </a:pPr>
            <a:r>
              <a:rPr lang="fr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 cours : </a:t>
            </a:r>
            <a:r>
              <a:rPr lang="f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 cours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-"/>
            </a:pPr>
            <a:r>
              <a:rPr lang="fr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À l’arrêt : </a:t>
            </a:r>
            <a:r>
              <a:rPr lang="f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à discuter, bloqué, en pause, abandonnée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-"/>
            </a:pPr>
            <a:r>
              <a:rPr lang="fr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Réalisé : </a:t>
            </a:r>
            <a:r>
              <a:rPr lang="f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réalisé 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Notes de suivi </a:t>
            </a:r>
            <a:r>
              <a:rPr lang="f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: les résumés ont été généré par intelligence artificielle à partir des notes de suivi des actions. Il s'appuie sur les outils développés par Mistral Al.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Rapport généré par </a:t>
            </a:r>
            <a:r>
              <a:rPr lang="fr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Territoires en Transitions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6" name="Google Shape;296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TET">
  <a:themeElements>
    <a:clrScheme name="Simple Light">
      <a:dk1>
        <a:srgbClr val="154C88"/>
      </a:dk1>
      <a:lt1>
        <a:srgbClr val="FAFBFF"/>
      </a:lt1>
      <a:dk2>
        <a:srgbClr val="5D5D79"/>
      </a:dk2>
      <a:lt2>
        <a:srgbClr val="EEEEEE"/>
      </a:lt2>
      <a:accent1>
        <a:srgbClr val="0B5EBE"/>
      </a:accent1>
      <a:accent2>
        <a:srgbClr val="05458D"/>
      </a:accent2>
      <a:accent3>
        <a:srgbClr val="48A775"/>
      </a:accent3>
      <a:accent4>
        <a:srgbClr val="F55B5B"/>
      </a:accent4>
      <a:accent5>
        <a:srgbClr val="4380F5"/>
      </a:accent5>
      <a:accent6>
        <a:srgbClr val="F4C447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736</Words>
  <Application>Microsoft Macintosh PowerPoint</Application>
  <PresentationFormat>Affichage à l'écran (16:9)</PresentationFormat>
  <Paragraphs>161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Poppins SemiBold</vt:lpstr>
      <vt:lpstr>Poppins ExtraBold</vt:lpstr>
      <vt:lpstr>Poppins</vt:lpstr>
      <vt:lpstr>Arial</vt:lpstr>
      <vt:lpstr>Poppins Medium</vt:lpstr>
      <vt:lpstr>Theme TET</vt:lpstr>
      <vt:lpstr>PCAET 2019-2025</vt:lpstr>
      <vt:lpstr>Sommaire</vt:lpstr>
      <vt:lpstr>Synthèse du plan </vt:lpstr>
      <vt:lpstr>Synthèse du plan</vt:lpstr>
      <vt:lpstr>Données territoriales</vt:lpstr>
      <vt:lpstr>Consommation énergétique finale</vt:lpstr>
      <vt:lpstr>Émission de gaz à effet de serre</vt:lpstr>
      <vt:lpstr>Avancement des axes et leur actions</vt:lpstr>
      <vt:lpstr>Axe 1. Déchets et Économie Circulaire</vt:lpstr>
      <vt:lpstr>Production d’énergie renouvelable du territoire</vt:lpstr>
      <vt:lpstr>Avancement des axes et leur actions</vt:lpstr>
      <vt:lpstr>Avancement du plan </vt:lpstr>
      <vt:lpstr>{{ACTION_TITLE}}</vt:lpstr>
      <vt:lpstr>4.3 Créer un nouvel espace boisé à Blois</vt:lpstr>
      <vt:lpstr>4.3 Créer un nouvel espace boisé à Blois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Thibaut Dusanter</cp:lastModifiedBy>
  <cp:revision>1</cp:revision>
  <dcterms:modified xsi:type="dcterms:W3CDTF">2025-11-18T16:41:22Z</dcterms:modified>
</cp:coreProperties>
</file>