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70" r:id="rId16"/>
  </p:sldIdLst>
  <p:sldSz cx="9144000" cy="5143500" type="screen16x9"/>
  <p:notesSz cx="6858000" cy="9144000"/>
  <p:embeddedFontLst>
    <p:embeddedFont>
      <p:font typeface="Poppins" pitchFamily="2" charset="77"/>
      <p:regular r:id="rId18"/>
      <p:bold r:id="rId19"/>
      <p:italic r:id="rId20"/>
      <p:boldItalic r:id="rId21"/>
    </p:embeddedFont>
    <p:embeddedFont>
      <p:font typeface="Poppins ExtraBold" panose="00000900000000000000" pitchFamily="2" charset="77"/>
      <p:bold r:id="rId22"/>
      <p:italic r:id="rId23"/>
      <p:boldItalic r:id="rId24"/>
    </p:embeddedFont>
    <p:embeddedFont>
      <p:font typeface="Poppins Medium" panose="00000600000000000000" pitchFamily="2" charset="77"/>
      <p:regular r:id="rId25"/>
      <p:bold r:id="rId26"/>
      <p:italic r:id="rId27"/>
      <p:boldItalic r:id="rId28"/>
    </p:embeddedFont>
    <p:embeddedFont>
      <p:font typeface="Poppins SemiBold" panose="00000700000000000000" pitchFamily="2" charset="77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4630"/>
  </p:normalViewPr>
  <p:slideViewPr>
    <p:cSldViewPr snapToGrid="0">
      <p:cViewPr varScale="1">
        <p:scale>
          <a:sx n="92" d="100"/>
          <a:sy n="92" d="100"/>
        </p:scale>
        <p:origin x="18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125f6b97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125f6b97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3125b470c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3b3125b470c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2ac6617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2ac6617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f360684a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f360684a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fdd9055c2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fdd9055c2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fdd9055c2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fdd9055c2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2ac66177a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2ac66177a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fdd9055c2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9fdd9055c2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2ac66177a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a2ac66177a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573bcef67_6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573bcef67_6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f360684a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f360684a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0f273b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0f273b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89471434-6B7D-C73F-02A7-A1A2AB45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2ac66177a_0_112:notes">
            <a:extLst>
              <a:ext uri="{FF2B5EF4-FFF2-40B4-BE49-F238E27FC236}">
                <a16:creationId xmlns:a16="http://schemas.microsoft.com/office/drawing/2014/main" id="{5205C712-AC04-B95C-CF5C-E8BFBE8B90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2ac66177a_0_112:notes">
            <a:extLst>
              <a:ext uri="{FF2B5EF4-FFF2-40B4-BE49-F238E27FC236}">
                <a16:creationId xmlns:a16="http://schemas.microsoft.com/office/drawing/2014/main" id="{1498A0CC-1A9D-6ADE-41CF-842E9FEEBC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3363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81d125a2_4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081d125a2_4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 descr="dsds"/>
          <p:cNvSpPr txBox="1">
            <a:spLocks noGrp="1"/>
          </p:cNvSpPr>
          <p:nvPr>
            <p:ph type="ctrTitle"/>
          </p:nvPr>
        </p:nvSpPr>
        <p:spPr>
          <a:xfrm>
            <a:off x="311700" y="1861375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71100" y="24441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title" idx="2"/>
          </p:nvPr>
        </p:nvSpPr>
        <p:spPr>
          <a:xfrm>
            <a:off x="1014150" y="2927825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">
  <p:cSld name="TITLE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 descr="dsds"/>
          <p:cNvSpPr txBox="1">
            <a:spLocks noGrp="1"/>
          </p:cNvSpPr>
          <p:nvPr>
            <p:ph type="ctrTitle"/>
          </p:nvPr>
        </p:nvSpPr>
        <p:spPr>
          <a:xfrm>
            <a:off x="249400" y="90885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/>
          </p:nvPr>
        </p:nvSpPr>
        <p:spPr>
          <a:xfrm>
            <a:off x="249400" y="1334409"/>
            <a:ext cx="7115700" cy="354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 1">
  <p:cSld name="TITLE_1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 descr="dsds"/>
          <p:cNvSpPr txBox="1">
            <a:spLocks noGrp="1"/>
          </p:cNvSpPr>
          <p:nvPr>
            <p:ph type="ctrTitle"/>
          </p:nvPr>
        </p:nvSpPr>
        <p:spPr>
          <a:xfrm>
            <a:off x="249400" y="68630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 idx="2"/>
          </p:nvPr>
        </p:nvSpPr>
        <p:spPr>
          <a:xfrm>
            <a:off x="249400" y="1090509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">
  <p:cSld name="CUSTOM_2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 1">
  <p:cSld name="CUSTOM_2_1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6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5550" y="0"/>
            <a:ext cx="9144000" cy="89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5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 idx="2"/>
          </p:nvPr>
        </p:nvSpPr>
        <p:spPr>
          <a:xfrm>
            <a:off x="819600" y="2685750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 1">
  <p:cSld name="SECTION_HEADER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-50" y="0"/>
            <a:ext cx="9144000" cy="127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85750" y="326000"/>
            <a:ext cx="3962100" cy="53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 idx="2"/>
          </p:nvPr>
        </p:nvSpPr>
        <p:spPr>
          <a:xfrm>
            <a:off x="4785750" y="967700"/>
            <a:ext cx="42354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Poppins Medium"/>
              <a:buNone/>
              <a:defRPr sz="1200" b="0">
                <a:solidFill>
                  <a:schemeClr val="accent5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">
  <p:cSld name="SECTION_TITLE_AND_DESCRIPTION_1_1">
    <p:bg>
      <p:bgPr>
        <a:solidFill>
          <a:srgbClr val="FAFB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3845600" y="0"/>
            <a:ext cx="5298300" cy="15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1" name="Google Shape;51;p9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5550" y="0"/>
            <a:ext cx="9144000" cy="89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068119" y="4361581"/>
            <a:ext cx="953100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88</a:t>
            </a: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ffre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62" name="Google Shape;62;p11"/>
          <p:cNvSpPr txBox="1"/>
          <p:nvPr/>
        </p:nvSpPr>
        <p:spPr>
          <a:xfrm>
            <a:off x="11225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11225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2936788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1"/>
          <p:cNvSpPr txBox="1"/>
          <p:nvPr/>
        </p:nvSpPr>
        <p:spPr>
          <a:xfrm>
            <a:off x="2936788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6" name="Google Shape;66;p11"/>
          <p:cNvSpPr txBox="1"/>
          <p:nvPr/>
        </p:nvSpPr>
        <p:spPr>
          <a:xfrm>
            <a:off x="4751025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4751025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8" name="Google Shape;68;p11"/>
          <p:cNvSpPr txBox="1"/>
          <p:nvPr/>
        </p:nvSpPr>
        <p:spPr>
          <a:xfrm>
            <a:off x="65652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65652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0" name="Google Shape;70;p11"/>
          <p:cNvSpPr txBox="1">
            <a:spLocks noGrp="1"/>
          </p:cNvSpPr>
          <p:nvPr>
            <p:ph type="ctrTitle"/>
          </p:nvPr>
        </p:nvSpPr>
        <p:spPr>
          <a:xfrm>
            <a:off x="311700" y="1786100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ubTitle" idx="1"/>
          </p:nvPr>
        </p:nvSpPr>
        <p:spPr>
          <a:xfrm>
            <a:off x="1518475" y="24623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2">
  <p:cSld name="CUSTOM_3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5458D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">
  <p:cSld name="CUSTOM">
    <p:bg>
      <p:bgPr>
        <a:solidFill>
          <a:srgbClr val="05458D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898200" y="2325450"/>
            <a:ext cx="73476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14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>
            <a:spLocks noGrp="1"/>
          </p:cNvSpPr>
          <p:nvPr>
            <p:ph type="title" idx="2"/>
          </p:nvPr>
        </p:nvSpPr>
        <p:spPr>
          <a:xfrm>
            <a:off x="1873025" y="32614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14" title="Fiche 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903" y="1639029"/>
            <a:ext cx="686423" cy="6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2">
  <p:cSld name="CUSTOM_4">
    <p:bg>
      <p:bgPr>
        <a:solidFill>
          <a:srgbClr val="05458D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898200" y="28766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15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title" idx="2"/>
          </p:nvPr>
        </p:nvSpPr>
        <p:spPr>
          <a:xfrm>
            <a:off x="1873025" y="38126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title" idx="3"/>
          </p:nvPr>
        </p:nvSpPr>
        <p:spPr>
          <a:xfrm>
            <a:off x="898200" y="1548575"/>
            <a:ext cx="7347600" cy="88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None/>
              <a:defRPr sz="33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87" name="Google Shape;87;p15"/>
          <p:cNvCxnSpPr/>
          <p:nvPr/>
        </p:nvCxnSpPr>
        <p:spPr>
          <a:xfrm>
            <a:off x="2427750" y="2771475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1">
  <p:cSld name="CUSTOM_1">
    <p:bg>
      <p:bgPr>
        <a:solidFill>
          <a:srgbClr val="05458D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898200" y="19980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title" idx="2"/>
          </p:nvPr>
        </p:nvSpPr>
        <p:spPr>
          <a:xfrm>
            <a:off x="1873025" y="30669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2" name="Google Shape;92;p16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">
  <p:cSld name="SECTION_TITLE_AND_DESCRIPTION_1_1">
    <p:bg>
      <p:bgPr>
        <a:solidFill>
          <a:srgbClr val="FAFB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3845600" y="0"/>
            <a:ext cx="5298300" cy="15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6" name="Google Shape;106;p18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 sz="14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 b="0" i="0" u="none" strike="noStrike" cap="none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5550" y="0"/>
            <a:ext cx="9144000" cy="89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" type="title">
  <p:cSld name="TITL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 descr="dsds"/>
          <p:cNvSpPr txBox="1">
            <a:spLocks noGrp="1"/>
          </p:cNvSpPr>
          <p:nvPr>
            <p:ph type="ctrTitle"/>
          </p:nvPr>
        </p:nvSpPr>
        <p:spPr>
          <a:xfrm>
            <a:off x="311700" y="1861375"/>
            <a:ext cx="8520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1571100" y="24441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title" idx="2"/>
          </p:nvPr>
        </p:nvSpPr>
        <p:spPr>
          <a:xfrm>
            <a:off x="1014150" y="2927825"/>
            <a:ext cx="71157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">
  <p:cSld name="CUSTOM_2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20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5458D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">
  <p:cSld name="TITLE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 descr="dsds"/>
          <p:cNvSpPr txBox="1">
            <a:spLocks noGrp="1"/>
          </p:cNvSpPr>
          <p:nvPr>
            <p:ph type="ctrTitle"/>
          </p:nvPr>
        </p:nvSpPr>
        <p:spPr>
          <a:xfrm>
            <a:off x="249400" y="908859"/>
            <a:ext cx="8520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title" idx="2"/>
          </p:nvPr>
        </p:nvSpPr>
        <p:spPr>
          <a:xfrm>
            <a:off x="249400" y="1334409"/>
            <a:ext cx="71157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 1">
  <p:cSld name="TITLE_1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 descr="dsds"/>
          <p:cNvSpPr txBox="1">
            <a:spLocks noGrp="1"/>
          </p:cNvSpPr>
          <p:nvPr>
            <p:ph type="ctrTitle"/>
          </p:nvPr>
        </p:nvSpPr>
        <p:spPr>
          <a:xfrm>
            <a:off x="249400" y="686309"/>
            <a:ext cx="8520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title" idx="2"/>
          </p:nvPr>
        </p:nvSpPr>
        <p:spPr>
          <a:xfrm>
            <a:off x="249400" y="1090509"/>
            <a:ext cx="71157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title" idx="2"/>
          </p:nvPr>
        </p:nvSpPr>
        <p:spPr>
          <a:xfrm>
            <a:off x="819600" y="2685750"/>
            <a:ext cx="71157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 1">
  <p:cSld name="SECTION_HEADER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/>
          <p:nvPr/>
        </p:nvSpPr>
        <p:spPr>
          <a:xfrm>
            <a:off x="-50" y="0"/>
            <a:ext cx="9144000" cy="127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4785750" y="326000"/>
            <a:ext cx="39621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title" idx="2"/>
          </p:nvPr>
        </p:nvSpPr>
        <p:spPr>
          <a:xfrm>
            <a:off x="4785750" y="967700"/>
            <a:ext cx="42354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Poppins Medium"/>
              <a:buNone/>
              <a:defRPr sz="1200" b="0">
                <a:solidFill>
                  <a:schemeClr val="accent5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sldNum" idx="12"/>
          </p:nvPr>
        </p:nvSpPr>
        <p:spPr>
          <a:xfrm>
            <a:off x="8068119" y="4361581"/>
            <a:ext cx="9531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88</a:t>
            </a: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ffre">
  <p:cSld name="BIG_NUMBER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11225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 i="0" u="none" strike="noStrike" cap="none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11225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 b="0" i="0" u="none" strike="noStrike" cap="none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2936788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 i="0" u="none" strike="noStrike" cap="none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2936788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 b="0" i="0" u="none" strike="noStrike" cap="none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4751025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 i="0" u="none" strike="noStrike" cap="none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4751025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 b="0" i="0" u="none" strike="noStrike" cap="none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65652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 i="0" u="none" strike="noStrike" cap="none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65652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 b="0" i="0" u="none" strike="noStrike" cap="none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4" name="Google Shape;154;p27"/>
          <p:cNvSpPr txBox="1">
            <a:spLocks noGrp="1"/>
          </p:cNvSpPr>
          <p:nvPr>
            <p:ph type="ctrTitle"/>
          </p:nvPr>
        </p:nvSpPr>
        <p:spPr>
          <a:xfrm>
            <a:off x="311700" y="1786100"/>
            <a:ext cx="8520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subTitle" idx="1"/>
          </p:nvPr>
        </p:nvSpPr>
        <p:spPr>
          <a:xfrm>
            <a:off x="1518475" y="24623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2">
  <p:cSld name="CUSTOM_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">
  <p:cSld name="CUSTOM">
    <p:bg>
      <p:bgPr>
        <a:solidFill>
          <a:srgbClr val="05458D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>
            <a:spLocks noGrp="1"/>
          </p:cNvSpPr>
          <p:nvPr>
            <p:ph type="title"/>
          </p:nvPr>
        </p:nvSpPr>
        <p:spPr>
          <a:xfrm>
            <a:off x="898200" y="2325450"/>
            <a:ext cx="73476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60" name="Google Shape;160;p29" title="logoFon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9"/>
          <p:cNvSpPr txBox="1">
            <a:spLocks noGrp="1"/>
          </p:cNvSpPr>
          <p:nvPr>
            <p:ph type="title" idx="2"/>
          </p:nvPr>
        </p:nvSpPr>
        <p:spPr>
          <a:xfrm>
            <a:off x="1873025" y="32614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162" name="Google Shape;162;p29" title="Fiche action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8903" y="1639029"/>
            <a:ext cx="686423" cy="6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2">
  <p:cSld name="CUSTOM_4">
    <p:bg>
      <p:bgPr>
        <a:solidFill>
          <a:srgbClr val="05458D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898200" y="2876650"/>
            <a:ext cx="7347600" cy="1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66" name="Google Shape;166;p30" title="logoFon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0"/>
          <p:cNvSpPr txBox="1">
            <a:spLocks noGrp="1"/>
          </p:cNvSpPr>
          <p:nvPr>
            <p:ph type="title" idx="2"/>
          </p:nvPr>
        </p:nvSpPr>
        <p:spPr>
          <a:xfrm>
            <a:off x="1873025" y="38126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title" idx="3"/>
          </p:nvPr>
        </p:nvSpPr>
        <p:spPr>
          <a:xfrm>
            <a:off x="898200" y="1548575"/>
            <a:ext cx="73476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None/>
              <a:defRPr sz="33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30"/>
          <p:cNvCxnSpPr/>
          <p:nvPr/>
        </p:nvCxnSpPr>
        <p:spPr>
          <a:xfrm>
            <a:off x="2427750" y="2771475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1">
  <p:cSld name="CUSTOM_1">
    <p:bg>
      <p:bgPr>
        <a:solidFill>
          <a:srgbClr val="05458D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>
            <a:spLocks noGrp="1"/>
          </p:cNvSpPr>
          <p:nvPr>
            <p:ph type="title"/>
          </p:nvPr>
        </p:nvSpPr>
        <p:spPr>
          <a:xfrm>
            <a:off x="898200" y="1998050"/>
            <a:ext cx="7347600" cy="1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title" idx="2"/>
          </p:nvPr>
        </p:nvSpPr>
        <p:spPr>
          <a:xfrm>
            <a:off x="1873025" y="30669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31" title="logoFon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2541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2800"/>
              <a:buFont typeface="Poppins"/>
              <a:buNone/>
              <a:defRPr sz="28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45550" y="2642991"/>
            <a:ext cx="5189400" cy="21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6583375" y="2674250"/>
            <a:ext cx="548700" cy="10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6909125" y="2666675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75" y="0"/>
            <a:ext cx="9144000" cy="75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 idx="2"/>
          </p:nvPr>
        </p:nvSpPr>
        <p:spPr>
          <a:xfrm>
            <a:off x="1240675" y="218475"/>
            <a:ext cx="39327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1200"/>
              <a:buFont typeface="Poppins"/>
              <a:buNone/>
              <a:defRPr sz="12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 idx="3"/>
          </p:nvPr>
        </p:nvSpPr>
        <p:spPr>
          <a:xfrm>
            <a:off x="12406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 idx="4"/>
          </p:nvPr>
        </p:nvSpPr>
        <p:spPr>
          <a:xfrm>
            <a:off x="60243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311700" y="92541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445550" y="2642991"/>
            <a:ext cx="5189400" cy="21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6583375" y="2674250"/>
            <a:ext cx="548700" cy="10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6909125" y="2666675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75" y="0"/>
            <a:ext cx="9144000" cy="75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 txBox="1">
            <a:spLocks noGrp="1"/>
          </p:cNvSpPr>
          <p:nvPr>
            <p:ph type="title" idx="2"/>
          </p:nvPr>
        </p:nvSpPr>
        <p:spPr>
          <a:xfrm>
            <a:off x="1240675" y="218475"/>
            <a:ext cx="39327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1200"/>
              <a:buFont typeface="Poppins"/>
              <a:buNone/>
              <a:defRPr sz="12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3"/>
          </p:nvPr>
        </p:nvSpPr>
        <p:spPr>
          <a:xfrm>
            <a:off x="12406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4"/>
          </p:nvPr>
        </p:nvSpPr>
        <p:spPr>
          <a:xfrm>
            <a:off x="60243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{{PLAN_NOM}}</a:t>
            </a:r>
            <a:endParaRPr/>
          </a:p>
        </p:txBody>
      </p:sp>
      <p:sp>
        <p:nvSpPr>
          <p:cNvPr id="181" name="Google Shape;181;p32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{{REPORT_DATE}}</a:t>
            </a:r>
            <a:endParaRPr/>
          </a:p>
        </p:txBody>
      </p:sp>
      <p:pic>
        <p:nvPicPr>
          <p:cNvPr id="182" name="img_collectivite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550" y="1992319"/>
            <a:ext cx="1866900" cy="514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>
            <a:spLocks noGrp="1"/>
          </p:cNvSpPr>
          <p:nvPr>
            <p:ph type="ctrTitle"/>
          </p:nvPr>
        </p:nvSpPr>
        <p:spPr>
          <a:xfrm>
            <a:off x="560677" y="1027025"/>
            <a:ext cx="32016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" sz="1600"/>
              <a:t>Sommaire</a:t>
            </a:r>
            <a:endParaRPr sz="1600"/>
          </a:p>
        </p:txBody>
      </p:sp>
      <p:pic>
        <p:nvPicPr>
          <p:cNvPr id="188" name="Google Shape;188;p33" title="Fiche action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976" y="932793"/>
            <a:ext cx="277210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3"/>
          <p:cNvSpPr txBox="1">
            <a:spLocks noGrp="1"/>
          </p:cNvSpPr>
          <p:nvPr>
            <p:ph type="title" idx="4294967295"/>
          </p:nvPr>
        </p:nvSpPr>
        <p:spPr>
          <a:xfrm>
            <a:off x="303975" y="1363350"/>
            <a:ext cx="8240700" cy="3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 dirty="0">
                <a:solidFill>
                  <a:srgbClr val="404092"/>
                </a:solidFill>
              </a:rPr>
              <a:t>Synthèse du plan</a:t>
            </a:r>
            <a:endParaRPr sz="1100" dirty="0">
              <a:solidFill>
                <a:srgbClr val="404092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 dirty="0">
                <a:solidFill>
                  <a:srgbClr val="404092"/>
                </a:solidFill>
              </a:rPr>
              <a:t>Données territoriales</a:t>
            </a:r>
            <a:endParaRPr sz="1100" dirty="0">
              <a:solidFill>
                <a:srgbClr val="404092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 dirty="0">
                <a:solidFill>
                  <a:srgbClr val="404092"/>
                </a:solidFill>
              </a:rPr>
              <a:t>Avancement des axes et leur actions</a:t>
            </a:r>
            <a:endParaRPr sz="1100">
              <a:solidFill>
                <a:srgbClr val="404092"/>
              </a:solidFill>
            </a:endParaRPr>
          </a:p>
          <a:p>
            <a:pPr marL="6223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</a:pPr>
            <a:r>
              <a:rPr lang="fr" sz="1000" b="0">
                <a:solidFill>
                  <a:srgbClr val="404092"/>
                </a:solidFill>
              </a:rPr>
              <a:t>{{AXE_NOMS}}</a:t>
            </a:r>
            <a:endParaRPr dirty="0"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Font typeface="Arial"/>
              <a:buAutoNum type="alphaUcPeriod" startAt="4"/>
            </a:pPr>
            <a:r>
              <a:rPr lang="fr" sz="1100" dirty="0">
                <a:solidFill>
                  <a:srgbClr val="404092"/>
                </a:solidFill>
              </a:rPr>
              <a:t>Ressources</a:t>
            </a:r>
            <a:endParaRPr sz="1100" dirty="0">
              <a:solidFill>
                <a:srgbClr val="404092"/>
              </a:solidFill>
            </a:endParaRPr>
          </a:p>
        </p:txBody>
      </p:sp>
      <p:sp>
        <p:nvSpPr>
          <p:cNvPr id="190" name="Google Shape;19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5" name="Google Shape;191;p33">
            <a:extLst>
              <a:ext uri="{FF2B5EF4-FFF2-40B4-BE49-F238E27FC236}">
                <a16:creationId xmlns:a16="http://schemas.microsoft.com/office/drawing/2014/main" id="{48232313-C30A-F861-E563-6E33027C2639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" name="Google Shape;192;p33">
            <a:extLst>
              <a:ext uri="{FF2B5EF4-FFF2-40B4-BE49-F238E27FC236}">
                <a16:creationId xmlns:a16="http://schemas.microsoft.com/office/drawing/2014/main" id="{31290B19-4D79-00AD-A44B-136C88CD0C16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" name="img_collectivite_logo">
            <a:extLst>
              <a:ext uri="{FF2B5EF4-FFF2-40B4-BE49-F238E27FC236}">
                <a16:creationId xmlns:a16="http://schemas.microsoft.com/office/drawing/2014/main" id="{05DC4CD1-60DD-2B7C-911A-5290FD4E902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Synthèse du plan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4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{{COLLECTIVITE_NOM}}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4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450" y="1722100"/>
            <a:ext cx="952525" cy="9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4"/>
          <p:cNvSpPr txBox="1">
            <a:spLocks noGrp="1"/>
          </p:cNvSpPr>
          <p:nvPr>
            <p:ph type="sldNum" idx="12"/>
          </p:nvPr>
        </p:nvSpPr>
        <p:spPr>
          <a:xfrm>
            <a:off x="8472458" y="4678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sp>
        <p:nvSpPr>
          <p:cNvPr id="3" name="Google Shape;191;p33">
            <a:extLst>
              <a:ext uri="{FF2B5EF4-FFF2-40B4-BE49-F238E27FC236}">
                <a16:creationId xmlns:a16="http://schemas.microsoft.com/office/drawing/2014/main" id="{A6ECCCF7-10CA-74FE-39B1-AD6A51210670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192;p33">
            <a:extLst>
              <a:ext uri="{FF2B5EF4-FFF2-40B4-BE49-F238E27FC236}">
                <a16:creationId xmlns:a16="http://schemas.microsoft.com/office/drawing/2014/main" id="{609D16D3-C913-B127-786A-51C8F6F5E83C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" name="img_collectivite_logo">
            <a:extLst>
              <a:ext uri="{FF2B5EF4-FFF2-40B4-BE49-F238E27FC236}">
                <a16:creationId xmlns:a16="http://schemas.microsoft.com/office/drawing/2014/main" id="{E7034F26-8F63-1ACD-DE08-6ECBFE65F4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>
            <a:spLocks noGrp="1"/>
          </p:cNvSpPr>
          <p:nvPr>
            <p:ph type="ctrTitle"/>
          </p:nvPr>
        </p:nvSpPr>
        <p:spPr>
          <a:xfrm>
            <a:off x="484550" y="1128025"/>
            <a:ext cx="8202300" cy="2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Synthèse du plan</a:t>
            </a:r>
            <a:endParaRPr sz="1600"/>
          </a:p>
        </p:txBody>
      </p:sp>
      <p:grpSp>
        <p:nvGrpSpPr>
          <p:cNvPr id="210" name="Google Shape;210;p35"/>
          <p:cNvGrpSpPr/>
          <p:nvPr/>
        </p:nvGrpSpPr>
        <p:grpSpPr>
          <a:xfrm>
            <a:off x="3561978" y="1561000"/>
            <a:ext cx="5124900" cy="928200"/>
            <a:chOff x="3561978" y="1561000"/>
            <a:chExt cx="5124900" cy="928200"/>
          </a:xfrm>
        </p:grpSpPr>
        <p:sp>
          <p:nvSpPr>
            <p:cNvPr id="211" name="Google Shape;211;p35"/>
            <p:cNvSpPr/>
            <p:nvPr/>
          </p:nvSpPr>
          <p:spPr>
            <a:xfrm>
              <a:off x="3561978" y="1561000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35"/>
            <p:cNvSpPr txBox="1"/>
            <p:nvPr/>
          </p:nvSpPr>
          <p:spPr>
            <a:xfrm>
              <a:off x="4260934" y="1962453"/>
              <a:ext cx="27507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 dirty="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Taux d’actions terminées :</a:t>
              </a:r>
              <a:r>
                <a:rPr lang="fr" sz="91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fr" sz="1011" dirty="0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{{PLAN_PROGRESS}}%</a:t>
              </a:r>
              <a:endParaRPr sz="1214" dirty="0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213" name="Google Shape;213;p35" title="Trajectoire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79855" y="1819559"/>
              <a:ext cx="443113" cy="4431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p35"/>
          <p:cNvGrpSpPr/>
          <p:nvPr/>
        </p:nvGrpSpPr>
        <p:grpSpPr>
          <a:xfrm>
            <a:off x="3561950" y="3723075"/>
            <a:ext cx="5124900" cy="928200"/>
            <a:chOff x="3561950" y="3723075"/>
            <a:chExt cx="5124900" cy="928200"/>
          </a:xfrm>
        </p:grpSpPr>
        <p:sp>
          <p:nvSpPr>
            <p:cNvPr id="215" name="Google Shape;215;p35"/>
            <p:cNvSpPr/>
            <p:nvPr/>
          </p:nvSpPr>
          <p:spPr>
            <a:xfrm>
              <a:off x="3561950" y="3723075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35"/>
            <p:cNvSpPr txBox="1"/>
            <p:nvPr/>
          </p:nvSpPr>
          <p:spPr>
            <a:xfrm>
              <a:off x="4260977" y="4034050"/>
              <a:ext cx="3318900" cy="4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Budget prévisionnel :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{{PLAN_BUDGET_TOTAL}} HT </a:t>
              </a:r>
              <a:b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</a:br>
              <a:r>
                <a:rPr lang="fr" sz="85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({{PLAN_BUDGET_INVESTISSEMENT}} investissement + {{PLAN_BUDGET_FONCTIONNEMENT}} fonctionnement)</a:t>
              </a:r>
              <a:endParaRPr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217" name="Google Shape;217;p35" title="money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93483" y="3983756"/>
              <a:ext cx="404813" cy="4047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" name="Google Shape;218;p35"/>
          <p:cNvGrpSpPr/>
          <p:nvPr/>
        </p:nvGrpSpPr>
        <p:grpSpPr>
          <a:xfrm>
            <a:off x="3561950" y="2653471"/>
            <a:ext cx="5124900" cy="928200"/>
            <a:chOff x="3561950" y="2653471"/>
            <a:chExt cx="5124900" cy="928200"/>
          </a:xfrm>
        </p:grpSpPr>
        <p:sp>
          <p:nvSpPr>
            <p:cNvPr id="219" name="Google Shape;219;p35"/>
            <p:cNvSpPr/>
            <p:nvPr/>
          </p:nvSpPr>
          <p:spPr>
            <a:xfrm>
              <a:off x="3561950" y="2653471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35"/>
            <p:cNvSpPr txBox="1"/>
            <p:nvPr/>
          </p:nvSpPr>
          <p:spPr>
            <a:xfrm>
              <a:off x="4197315" y="2972682"/>
              <a:ext cx="4489500" cy="6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Structure du plan</a:t>
              </a:r>
              <a:endParaRPr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{{AXES_COUNT}}</a:t>
              </a:r>
              <a:r>
                <a:rPr lang="fr" sz="1011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>
                  <a:solidFill>
                    <a:schemeClr val="accent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axes -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{{INDICATEURS_COUNT}}</a:t>
              </a:r>
              <a:r>
                <a:rPr lang="fr" sz="1011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indicateurs -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{{FICHES_COUNT}}</a:t>
              </a:r>
              <a:r>
                <a:rPr lang="fr" sz="1011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actions -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{{SOUS_FICHES_COUNT}}</a:t>
              </a:r>
              <a:r>
                <a:rPr lang="fr" sz="1011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sous-actions</a:t>
              </a:r>
              <a:endParaRPr sz="1214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221" name="Google Shape;221;p35" title="Dashboard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79865" y="2910665"/>
              <a:ext cx="443113" cy="4430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35"/>
          <p:cNvGrpSpPr/>
          <p:nvPr/>
        </p:nvGrpSpPr>
        <p:grpSpPr>
          <a:xfrm>
            <a:off x="484550" y="1561000"/>
            <a:ext cx="2924700" cy="3090300"/>
            <a:chOff x="484550" y="1561000"/>
            <a:chExt cx="2924700" cy="3090300"/>
          </a:xfrm>
        </p:grpSpPr>
        <p:sp>
          <p:nvSpPr>
            <p:cNvPr id="226" name="Google Shape;226;p35"/>
            <p:cNvSpPr/>
            <p:nvPr/>
          </p:nvSpPr>
          <p:spPr>
            <a:xfrm>
              <a:off x="484550" y="1561000"/>
              <a:ext cx="2924700" cy="3090300"/>
            </a:xfrm>
            <a:prstGeom prst="roundRect">
              <a:avLst>
                <a:gd name="adj" fmla="val 3190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27" name="img_plan_count_by_statut_pie"/>
            <p:cNvPicPr preferRelativeResize="0"/>
            <p:nvPr/>
          </p:nvPicPr>
          <p:blipFill rotWithShape="1">
            <a:blip r:embed="rId6">
              <a:alphaModFix/>
            </a:blip>
            <a:srcRect t="228" b="219"/>
            <a:stretch/>
          </p:blipFill>
          <p:spPr>
            <a:xfrm>
              <a:off x="599032" y="1848675"/>
              <a:ext cx="2714491" cy="2750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35"/>
            <p:cNvSpPr txBox="1"/>
            <p:nvPr/>
          </p:nvSpPr>
          <p:spPr>
            <a:xfrm>
              <a:off x="549012" y="1708572"/>
              <a:ext cx="2190300" cy="1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Répartition des actions par statut</a:t>
              </a:r>
              <a:endParaRPr sz="1214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sp>
        <p:nvSpPr>
          <p:cNvPr id="229" name="Google Shape;229;p35"/>
          <p:cNvSpPr txBox="1">
            <a:spLocks noGrp="1"/>
          </p:cNvSpPr>
          <p:nvPr>
            <p:ph type="sldNum" idx="12"/>
          </p:nvPr>
        </p:nvSpPr>
        <p:spPr>
          <a:xfrm>
            <a:off x="8472458" y="4678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sp>
        <p:nvSpPr>
          <p:cNvPr id="5" name="Google Shape;191;p33">
            <a:extLst>
              <a:ext uri="{FF2B5EF4-FFF2-40B4-BE49-F238E27FC236}">
                <a16:creationId xmlns:a16="http://schemas.microsoft.com/office/drawing/2014/main" id="{15D118B6-584C-8EB5-6CEA-34D4917E9B2C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" name="Google Shape;192;p33">
            <a:extLst>
              <a:ext uri="{FF2B5EF4-FFF2-40B4-BE49-F238E27FC236}">
                <a16:creationId xmlns:a16="http://schemas.microsoft.com/office/drawing/2014/main" id="{3C9DAFB1-E3F5-B9A0-D4D1-C2A9CD5A8320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8" name="img_collectivite_logo">
            <a:extLst>
              <a:ext uri="{FF2B5EF4-FFF2-40B4-BE49-F238E27FC236}">
                <a16:creationId xmlns:a16="http://schemas.microsoft.com/office/drawing/2014/main" id="{BA77DC25-556F-2025-C195-7E46D85AB46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/>
          <p:nvPr/>
        </p:nvSpPr>
        <p:spPr>
          <a:xfrm>
            <a:off x="484550" y="1561000"/>
            <a:ext cx="8132400" cy="3283500"/>
          </a:xfrm>
          <a:prstGeom prst="roundRect">
            <a:avLst>
              <a:gd name="adj" fmla="val 3190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p36"/>
          <p:cNvSpPr txBox="1"/>
          <p:nvPr/>
        </p:nvSpPr>
        <p:spPr>
          <a:xfrm>
            <a:off x="318950" y="1326450"/>
            <a:ext cx="842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AA8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9" name="img_plan_progress_by_axe_chart"/>
          <p:cNvPicPr preferRelativeResize="0">
            <a:picLocks/>
          </p:cNvPicPr>
          <p:nvPr/>
        </p:nvPicPr>
        <p:blipFill>
          <a:blip r:embed="rId3">
            <a:alphaModFix/>
          </a:blip>
          <a:srcRect/>
          <a:stretch/>
        </p:blipFill>
        <p:spPr>
          <a:xfrm>
            <a:off x="690384" y="1724725"/>
            <a:ext cx="7763231" cy="30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6"/>
          <p:cNvSpPr txBox="1">
            <a:spLocks noGrp="1"/>
          </p:cNvSpPr>
          <p:nvPr>
            <p:ph type="ctrTitle"/>
          </p:nvPr>
        </p:nvSpPr>
        <p:spPr>
          <a:xfrm>
            <a:off x="484550" y="1128025"/>
            <a:ext cx="8202300" cy="2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accent2"/>
                </a:solidFill>
              </a:rPr>
              <a:t>Avancement du plan </a:t>
            </a:r>
            <a:endParaRPr sz="1600"/>
          </a:p>
        </p:txBody>
      </p:sp>
      <p:sp>
        <p:nvSpPr>
          <p:cNvPr id="241" name="Google Shape;241;p36"/>
          <p:cNvSpPr txBox="1">
            <a:spLocks noGrp="1"/>
          </p:cNvSpPr>
          <p:nvPr>
            <p:ph type="sldNum" idx="12"/>
          </p:nvPr>
        </p:nvSpPr>
        <p:spPr>
          <a:xfrm>
            <a:off x="8472458" y="4678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sp>
        <p:nvSpPr>
          <p:cNvPr id="6" name="Google Shape;191;p33">
            <a:extLst>
              <a:ext uri="{FF2B5EF4-FFF2-40B4-BE49-F238E27FC236}">
                <a16:creationId xmlns:a16="http://schemas.microsoft.com/office/drawing/2014/main" id="{5E71D786-88DD-83D6-FB1F-9973247414B6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" name="Google Shape;192;p33">
            <a:extLst>
              <a:ext uri="{FF2B5EF4-FFF2-40B4-BE49-F238E27FC236}">
                <a16:creationId xmlns:a16="http://schemas.microsoft.com/office/drawing/2014/main" id="{22DEA55B-A610-8181-367D-90959BC24B9E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0" name="img_collectivite_logo">
            <a:extLst>
              <a:ext uri="{FF2B5EF4-FFF2-40B4-BE49-F238E27FC236}">
                <a16:creationId xmlns:a16="http://schemas.microsoft.com/office/drawing/2014/main" id="{CB075544-6A34-9BB5-9911-CF4738745E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Données territoriales</a:t>
            </a:r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pic>
        <p:nvPicPr>
          <p:cNvPr id="251" name="Google Shape;251;p37" title="location-fr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980" y="1615450"/>
            <a:ext cx="954000" cy="9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7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{{COLLECTIVITE_NOM}}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91;p33">
            <a:extLst>
              <a:ext uri="{FF2B5EF4-FFF2-40B4-BE49-F238E27FC236}">
                <a16:creationId xmlns:a16="http://schemas.microsoft.com/office/drawing/2014/main" id="{8B70D906-8093-935A-1D2E-620EC20D29A4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" name="Google Shape;192;p33">
            <a:extLst>
              <a:ext uri="{FF2B5EF4-FFF2-40B4-BE49-F238E27FC236}">
                <a16:creationId xmlns:a16="http://schemas.microsoft.com/office/drawing/2014/main" id="{250873DB-ACF3-922B-AA71-258BAFE91D7B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0" name="img_collectivite_logo">
            <a:extLst>
              <a:ext uri="{FF2B5EF4-FFF2-40B4-BE49-F238E27FC236}">
                <a16:creationId xmlns:a16="http://schemas.microsoft.com/office/drawing/2014/main" id="{20469A26-30FA-6751-EA5D-BD105AFA3D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sp>
        <p:nvSpPr>
          <p:cNvPr id="261" name="Google Shape;261;p38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2" name="img_emission_ges_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9071" y="1049661"/>
            <a:ext cx="6420531" cy="35388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91;p33">
            <a:extLst>
              <a:ext uri="{FF2B5EF4-FFF2-40B4-BE49-F238E27FC236}">
                <a16:creationId xmlns:a16="http://schemas.microsoft.com/office/drawing/2014/main" id="{6ACE550B-B413-5C4A-06EB-B9ABD8672794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" name="Google Shape;192;p33">
            <a:extLst>
              <a:ext uri="{FF2B5EF4-FFF2-40B4-BE49-F238E27FC236}">
                <a16:creationId xmlns:a16="http://schemas.microsoft.com/office/drawing/2014/main" id="{DEA1A39F-B3CF-35DD-B81D-0EA2222E3B5C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" name="img_collectivite_logo">
            <a:extLst>
              <a:ext uri="{FF2B5EF4-FFF2-40B4-BE49-F238E27FC236}">
                <a16:creationId xmlns:a16="http://schemas.microsoft.com/office/drawing/2014/main" id="{9BB85724-DAB2-1368-E926-3C650D8317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39"/>
          <p:cNvSpPr txBox="1">
            <a:spLocks noGrp="1"/>
          </p:cNvSpPr>
          <p:nvPr>
            <p:ph type="sldNum" idx="12"/>
          </p:nvPr>
        </p:nvSpPr>
        <p:spPr>
          <a:xfrm>
            <a:off x="8472458" y="4678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pic>
        <p:nvPicPr>
          <p:cNvPr id="275" name="img_consommation_finale_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6299" y="1074499"/>
            <a:ext cx="6371583" cy="34892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91;p33">
            <a:extLst>
              <a:ext uri="{FF2B5EF4-FFF2-40B4-BE49-F238E27FC236}">
                <a16:creationId xmlns:a16="http://schemas.microsoft.com/office/drawing/2014/main" id="{E756FEB3-B280-60DC-214B-CAC5431B2FA6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" name="Google Shape;192;p33">
            <a:extLst>
              <a:ext uri="{FF2B5EF4-FFF2-40B4-BE49-F238E27FC236}">
                <a16:creationId xmlns:a16="http://schemas.microsoft.com/office/drawing/2014/main" id="{9292D539-A684-09CB-C9B5-84BCE640D7B6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" name="img_collectivite_logo">
            <a:extLst>
              <a:ext uri="{FF2B5EF4-FFF2-40B4-BE49-F238E27FC236}">
                <a16:creationId xmlns:a16="http://schemas.microsoft.com/office/drawing/2014/main" id="{58C0A162-C024-4A7B-2E14-D31DF8692A0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sp>
        <p:nvSpPr>
          <p:cNvPr id="282" name="Google Shape;282;p40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6" name="img_production_renouvelable_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6957" y="1134603"/>
            <a:ext cx="6436337" cy="34335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91;p33">
            <a:extLst>
              <a:ext uri="{FF2B5EF4-FFF2-40B4-BE49-F238E27FC236}">
                <a16:creationId xmlns:a16="http://schemas.microsoft.com/office/drawing/2014/main" id="{CD012167-AD31-3027-AC24-71A39EB8B3D5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" name="Google Shape;192;p33">
            <a:extLst>
              <a:ext uri="{FF2B5EF4-FFF2-40B4-BE49-F238E27FC236}">
                <a16:creationId xmlns:a16="http://schemas.microsoft.com/office/drawing/2014/main" id="{D9903F89-9505-4092-B77D-8EFEB8B982B5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" name="img_collectivite_logo">
            <a:extLst>
              <a:ext uri="{FF2B5EF4-FFF2-40B4-BE49-F238E27FC236}">
                <a16:creationId xmlns:a16="http://schemas.microsoft.com/office/drawing/2014/main" id="{0294A44A-7DFD-197E-DB40-76FA34DE445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Avancement des axes et leur actions</a:t>
            </a:r>
            <a:endParaRPr/>
          </a:p>
        </p:txBody>
      </p:sp>
      <p:sp>
        <p:nvSpPr>
          <p:cNvPr id="292" name="Google Shape;292;p41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pic>
        <p:nvPicPr>
          <p:cNvPr id="293" name="Google Shape;293;p41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450" y="1722100"/>
            <a:ext cx="952525" cy="9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1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{{COLLECTIVITE_NOM}}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91;p33">
            <a:extLst>
              <a:ext uri="{FF2B5EF4-FFF2-40B4-BE49-F238E27FC236}">
                <a16:creationId xmlns:a16="http://schemas.microsoft.com/office/drawing/2014/main" id="{D3D33EA9-5A64-885A-0564-AA2FFF4FE27F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" name="Google Shape;192;p33">
            <a:extLst>
              <a:ext uri="{FF2B5EF4-FFF2-40B4-BE49-F238E27FC236}">
                <a16:creationId xmlns:a16="http://schemas.microsoft.com/office/drawing/2014/main" id="{2E15C72F-FEA5-8BA9-E873-B45D29C93632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" name="img_collectivite_logo">
            <a:extLst>
              <a:ext uri="{FF2B5EF4-FFF2-40B4-BE49-F238E27FC236}">
                <a16:creationId xmlns:a16="http://schemas.microsoft.com/office/drawing/2014/main" id="{858B833B-E2CC-76C0-8CEC-57BBCF8971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>
            <a:spLocks noGrp="1"/>
          </p:cNvSpPr>
          <p:nvPr>
            <p:ph type="ctrTitle"/>
          </p:nvPr>
        </p:nvSpPr>
        <p:spPr>
          <a:xfrm>
            <a:off x="484550" y="973725"/>
            <a:ext cx="8202300" cy="4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{{AXE_NOM}}</a:t>
            </a:r>
            <a:endParaRPr sz="1600"/>
          </a:p>
        </p:txBody>
      </p:sp>
      <p:grpSp>
        <p:nvGrpSpPr>
          <p:cNvPr id="303" name="Google Shape;303;p42"/>
          <p:cNvGrpSpPr/>
          <p:nvPr/>
        </p:nvGrpSpPr>
        <p:grpSpPr>
          <a:xfrm>
            <a:off x="3561978" y="1561000"/>
            <a:ext cx="5124900" cy="928200"/>
            <a:chOff x="3561978" y="1561000"/>
            <a:chExt cx="5124900" cy="928200"/>
          </a:xfrm>
        </p:grpSpPr>
        <p:sp>
          <p:nvSpPr>
            <p:cNvPr id="304" name="Google Shape;304;p42"/>
            <p:cNvSpPr/>
            <p:nvPr/>
          </p:nvSpPr>
          <p:spPr>
            <a:xfrm>
              <a:off x="3561978" y="1561000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5" name="Google Shape;305;p42"/>
            <p:cNvSpPr txBox="1"/>
            <p:nvPr/>
          </p:nvSpPr>
          <p:spPr>
            <a:xfrm>
              <a:off x="4260934" y="1962453"/>
              <a:ext cx="27507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 dirty="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Taux d’actions terminées :</a:t>
              </a:r>
              <a:r>
                <a:rPr lang="fr" sz="91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fr" sz="1011" dirty="0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{{AXE_PROGRESS}}%</a:t>
              </a:r>
              <a:endParaRPr sz="1214" dirty="0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306" name="Google Shape;306;p42" title="Trajectoire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79855" y="1819559"/>
              <a:ext cx="443113" cy="4431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" name="Google Shape;307;p42"/>
          <p:cNvGrpSpPr/>
          <p:nvPr/>
        </p:nvGrpSpPr>
        <p:grpSpPr>
          <a:xfrm>
            <a:off x="3561950" y="3723075"/>
            <a:ext cx="5124900" cy="928200"/>
            <a:chOff x="3561950" y="3723075"/>
            <a:chExt cx="5124900" cy="928200"/>
          </a:xfrm>
        </p:grpSpPr>
        <p:sp>
          <p:nvSpPr>
            <p:cNvPr id="308" name="Google Shape;308;p42"/>
            <p:cNvSpPr/>
            <p:nvPr/>
          </p:nvSpPr>
          <p:spPr>
            <a:xfrm>
              <a:off x="3561950" y="3723075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9" name="Google Shape;309;p42"/>
            <p:cNvSpPr txBox="1"/>
            <p:nvPr/>
          </p:nvSpPr>
          <p:spPr>
            <a:xfrm>
              <a:off x="4260977" y="4034050"/>
              <a:ext cx="3318900" cy="4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Budget prévisionnel :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{{AXE_BUDGET_TOTAL}} HT </a:t>
              </a:r>
              <a:b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</a:br>
              <a:r>
                <a:rPr lang="fr" sz="85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({{AXE_BUDGET_INVESTISSEMENT}} investissement + {{AXE_BUDGET_FONCTIONNEMENT}} fonctionnement)</a:t>
              </a:r>
              <a:endParaRPr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310" name="Google Shape;310;p42" title="money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93483" y="3983756"/>
              <a:ext cx="404813" cy="4047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" name="Google Shape;311;p42"/>
          <p:cNvGrpSpPr/>
          <p:nvPr/>
        </p:nvGrpSpPr>
        <p:grpSpPr>
          <a:xfrm>
            <a:off x="3561950" y="2653471"/>
            <a:ext cx="5124900" cy="928200"/>
            <a:chOff x="3561950" y="2653471"/>
            <a:chExt cx="5124900" cy="928200"/>
          </a:xfrm>
        </p:grpSpPr>
        <p:sp>
          <p:nvSpPr>
            <p:cNvPr id="312" name="Google Shape;312;p42"/>
            <p:cNvSpPr/>
            <p:nvPr/>
          </p:nvSpPr>
          <p:spPr>
            <a:xfrm>
              <a:off x="3561950" y="2653471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3" name="Google Shape;313;p42"/>
            <p:cNvSpPr txBox="1"/>
            <p:nvPr/>
          </p:nvSpPr>
          <p:spPr>
            <a:xfrm>
              <a:off x="4197315" y="2972682"/>
              <a:ext cx="4489500" cy="6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 dirty="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Structure de l’axe</a:t>
              </a:r>
              <a:endParaRPr sz="91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1011" dirty="0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{{SOUS_AXES_COUNT}}</a:t>
              </a:r>
              <a:r>
                <a:rPr lang="fr" sz="1011" dirty="0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 dirty="0">
                  <a:solidFill>
                    <a:schemeClr val="accent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sous-axes - </a:t>
              </a:r>
              <a:r>
                <a:rPr lang="fr" sz="1011" dirty="0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{{INDICATEURS_COUNT}}</a:t>
              </a:r>
              <a:r>
                <a:rPr lang="fr" sz="1011" dirty="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indicateurs - </a:t>
              </a:r>
              <a:r>
                <a:rPr lang="fr" sz="1011" dirty="0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{{FICHES_COUNT}}</a:t>
              </a:r>
              <a:r>
                <a:rPr lang="fr" sz="1011" dirty="0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 dirty="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actions - </a:t>
              </a:r>
              <a:r>
                <a:rPr lang="fr" sz="1011" dirty="0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{{SOUS_FICHES_COUNT}}</a:t>
              </a:r>
              <a:r>
                <a:rPr lang="fr" sz="1011" dirty="0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 dirty="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sous-actions</a:t>
              </a:r>
              <a:endParaRPr sz="1214" dirty="0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314" name="Google Shape;314;p42" title="Dashboard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79865" y="2910665"/>
              <a:ext cx="443113" cy="4430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5" name="Google Shape;315;p42"/>
          <p:cNvSpPr txBox="1">
            <a:spLocks noGrp="1"/>
          </p:cNvSpPr>
          <p:nvPr>
            <p:ph type="sldNum" idx="12"/>
          </p:nvPr>
        </p:nvSpPr>
        <p:spPr>
          <a:xfrm>
            <a:off x="8472458" y="4678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16" name="Google Shape;316;p42"/>
          <p:cNvSpPr txBox="1"/>
          <p:nvPr/>
        </p:nvSpPr>
        <p:spPr>
          <a:xfrm>
            <a:off x="700400" y="2947450"/>
            <a:ext cx="24930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Aucune action dans cet axe.</a:t>
            </a:r>
            <a:endParaRPr sz="1000" u="sng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7" name="Google Shape;317;p42"/>
          <p:cNvPicPr preferRelativeResize="0"/>
          <p:nvPr/>
        </p:nvPicPr>
        <p:blipFill rotWithShape="1">
          <a:blip r:embed="rId6">
            <a:alphaModFix/>
          </a:blip>
          <a:srcRect t="228" b="219"/>
          <a:stretch/>
        </p:blipFill>
        <p:spPr>
          <a:xfrm>
            <a:off x="599032" y="1848675"/>
            <a:ext cx="2714491" cy="2750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42"/>
          <p:cNvGrpSpPr/>
          <p:nvPr/>
        </p:nvGrpSpPr>
        <p:grpSpPr>
          <a:xfrm>
            <a:off x="484550" y="1561000"/>
            <a:ext cx="2924700" cy="3090300"/>
            <a:chOff x="484550" y="1561000"/>
            <a:chExt cx="2924700" cy="3090300"/>
          </a:xfrm>
        </p:grpSpPr>
        <p:grpSp>
          <p:nvGrpSpPr>
            <p:cNvPr id="322" name="Google Shape;322;p42"/>
            <p:cNvGrpSpPr/>
            <p:nvPr/>
          </p:nvGrpSpPr>
          <p:grpSpPr>
            <a:xfrm>
              <a:off x="484550" y="1561000"/>
              <a:ext cx="2924700" cy="3090300"/>
              <a:chOff x="484550" y="1561000"/>
              <a:chExt cx="2924700" cy="3090300"/>
            </a:xfrm>
          </p:grpSpPr>
          <p:sp>
            <p:nvSpPr>
              <p:cNvPr id="323" name="Google Shape;323;p42"/>
              <p:cNvSpPr/>
              <p:nvPr/>
            </p:nvSpPr>
            <p:spPr>
              <a:xfrm>
                <a:off x="484550" y="1561000"/>
                <a:ext cx="2924700" cy="3090300"/>
              </a:xfrm>
              <a:prstGeom prst="roundRect">
                <a:avLst>
                  <a:gd name="adj" fmla="val 3190"/>
                </a:avLst>
              </a:prstGeom>
              <a:solidFill>
                <a:srgbClr val="FFFFFF"/>
              </a:solidFill>
              <a:ln w="9625" cap="flat" cmpd="sng">
                <a:solidFill>
                  <a:srgbClr val="EEEEE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2525" tIns="92525" rIns="92525" bIns="925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16"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24" name="Google Shape;324;p42"/>
              <p:cNvSpPr txBox="1"/>
              <p:nvPr/>
            </p:nvSpPr>
            <p:spPr>
              <a:xfrm>
                <a:off x="549012" y="1708572"/>
                <a:ext cx="2190300" cy="1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13"/>
                  <a:buFont typeface="Arial"/>
                  <a:buNone/>
                </a:pPr>
                <a:r>
                  <a:rPr lang="fr" sz="910" b="1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Répartition des actions par statut</a:t>
                </a:r>
                <a:endParaRPr sz="1214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endParaRPr>
              </a:p>
            </p:txBody>
          </p:sp>
        </p:grpSp>
        <p:pic>
          <p:nvPicPr>
            <p:cNvPr id="325" name="img_axe_count_by_statut_pie"/>
            <p:cNvPicPr preferRelativeResize="0"/>
            <p:nvPr/>
          </p:nvPicPr>
          <p:blipFill rotWithShape="1">
            <a:blip r:embed="rId6">
              <a:alphaModFix/>
            </a:blip>
            <a:srcRect t="228" b="219"/>
            <a:stretch/>
          </p:blipFill>
          <p:spPr>
            <a:xfrm>
              <a:off x="599032" y="1848675"/>
              <a:ext cx="2714491" cy="2750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txt_axe_no_fiche_info"/>
            <p:cNvSpPr txBox="1"/>
            <p:nvPr/>
          </p:nvSpPr>
          <p:spPr>
            <a:xfrm>
              <a:off x="700400" y="2947450"/>
              <a:ext cx="24930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 dirty="0">
                  <a:solidFill>
                    <a:srgbClr val="B7B7B7"/>
                  </a:solidFill>
                  <a:latin typeface="Poppins"/>
                  <a:ea typeface="Poppins"/>
                  <a:cs typeface="Poppins"/>
                  <a:sym typeface="Poppins"/>
                </a:rPr>
                <a:t>Aucune action dans cet axe.</a:t>
              </a:r>
              <a:endParaRPr sz="1000" u="sng" dirty="0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" name="Google Shape;191;p33">
            <a:extLst>
              <a:ext uri="{FF2B5EF4-FFF2-40B4-BE49-F238E27FC236}">
                <a16:creationId xmlns:a16="http://schemas.microsoft.com/office/drawing/2014/main" id="{7CA944FA-5916-7D76-084C-270CF337E0AD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" name="Google Shape;192;p33">
            <a:extLst>
              <a:ext uri="{FF2B5EF4-FFF2-40B4-BE49-F238E27FC236}">
                <a16:creationId xmlns:a16="http://schemas.microsoft.com/office/drawing/2014/main" id="{70D3EEA3-9633-8D00-795A-F09494A371A0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" name="img_collectivite_logo">
            <a:extLst>
              <a:ext uri="{FF2B5EF4-FFF2-40B4-BE49-F238E27FC236}">
                <a16:creationId xmlns:a16="http://schemas.microsoft.com/office/drawing/2014/main" id="{D224B2E0-83FA-B787-5453-25E1E1430BE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BDF11EFC-AEFF-A244-EACD-CE2C6C66011D}"/>
              </a:ext>
            </a:extLst>
          </p:cNvPr>
          <p:cNvGrpSpPr/>
          <p:nvPr/>
        </p:nvGrpSpPr>
        <p:grpSpPr>
          <a:xfrm>
            <a:off x="493775" y="2658949"/>
            <a:ext cx="5652600" cy="2275721"/>
            <a:chOff x="493775" y="2658949"/>
            <a:chExt cx="5652600" cy="2275721"/>
          </a:xfrm>
        </p:grpSpPr>
        <p:sp>
          <p:nvSpPr>
            <p:cNvPr id="340" name="Google Shape;340;p43"/>
            <p:cNvSpPr/>
            <p:nvPr/>
          </p:nvSpPr>
          <p:spPr>
            <a:xfrm>
              <a:off x="493775" y="2658949"/>
              <a:ext cx="5652600" cy="2275721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10250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8575" tIns="98575" rIns="98575" bIns="9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9" dirty="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1" name="Google Shape;341;p43"/>
            <p:cNvSpPr txBox="1"/>
            <p:nvPr/>
          </p:nvSpPr>
          <p:spPr>
            <a:xfrm>
              <a:off x="1230576" y="2891550"/>
              <a:ext cx="4751700" cy="171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70" b="1" dirty="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{{FICHE_INFORMATIONS_TITLE}} : </a:t>
              </a:r>
              <a:endParaRPr sz="97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342" name="Google Shape;342;p43" title="documen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8525" y="2891550"/>
              <a:ext cx="431275" cy="431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txt_fiche_informations">
              <a:extLst>
                <a:ext uri="{FF2B5EF4-FFF2-40B4-BE49-F238E27FC236}">
                  <a16:creationId xmlns:a16="http://schemas.microsoft.com/office/drawing/2014/main" id="{00ECE0A5-BF98-5AAF-8EE6-7CB801390936}"/>
                </a:ext>
              </a:extLst>
            </p:cNvPr>
            <p:cNvSpPr txBox="1"/>
            <p:nvPr/>
          </p:nvSpPr>
          <p:spPr>
            <a:xfrm>
              <a:off x="1052616" y="3073683"/>
              <a:ext cx="4751700" cy="1681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rmAutofit/>
            </a:bodyPr>
            <a:lstStyle/>
            <a:p>
              <a:pPr marL="168246" lvl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50"/>
              </a:pPr>
              <a:r>
                <a:rPr lang="fr-FR" sz="950" dirty="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{{FICHE_INFORMATIONS}}</a:t>
              </a:r>
            </a:p>
          </p:txBody>
        </p:sp>
      </p:grpSp>
      <p:pic>
        <p:nvPicPr>
          <p:cNvPr id="338" name="Google Shape;338;p43" title="insert_image.png"/>
          <p:cNvPicPr preferRelativeResize="0"/>
          <p:nvPr/>
        </p:nvPicPr>
        <p:blipFill rotWithShape="1">
          <a:blip r:embed="rId4">
            <a:alphaModFix/>
          </a:blip>
          <a:srcRect l="258" r="268"/>
          <a:stretch/>
        </p:blipFill>
        <p:spPr>
          <a:xfrm>
            <a:off x="6437215" y="781966"/>
            <a:ext cx="2712900" cy="4367109"/>
          </a:xfrm>
          <a:prstGeom prst="rect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1" name="Google Shape;331;p43"/>
          <p:cNvSpPr txBox="1">
            <a:spLocks noGrp="1"/>
          </p:cNvSpPr>
          <p:nvPr>
            <p:ph type="ctrTitle"/>
          </p:nvPr>
        </p:nvSpPr>
        <p:spPr>
          <a:xfrm>
            <a:off x="504725" y="981883"/>
            <a:ext cx="56526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/>
              <a:t>{{FICHE_TITRE}}</a:t>
            </a:r>
            <a:endParaRPr sz="1600" dirty="0"/>
          </a:p>
        </p:txBody>
      </p:sp>
      <p:sp>
        <p:nvSpPr>
          <p:cNvPr id="332" name="Google Shape;332;p43"/>
          <p:cNvSpPr txBox="1">
            <a:spLocks noGrp="1"/>
          </p:cNvSpPr>
          <p:nvPr>
            <p:ph type="sldNum" idx="12"/>
          </p:nvPr>
        </p:nvSpPr>
        <p:spPr>
          <a:xfrm>
            <a:off x="8572533" y="4732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grpSp>
        <p:nvGrpSpPr>
          <p:cNvPr id="333" name="Google Shape;333;p43"/>
          <p:cNvGrpSpPr/>
          <p:nvPr/>
        </p:nvGrpSpPr>
        <p:grpSpPr>
          <a:xfrm>
            <a:off x="493773" y="1804350"/>
            <a:ext cx="5652600" cy="940607"/>
            <a:chOff x="493773" y="1804350"/>
            <a:chExt cx="5652600" cy="940607"/>
          </a:xfrm>
        </p:grpSpPr>
        <p:sp>
          <p:nvSpPr>
            <p:cNvPr id="334" name="Google Shape;334;p43"/>
            <p:cNvSpPr/>
            <p:nvPr/>
          </p:nvSpPr>
          <p:spPr>
            <a:xfrm>
              <a:off x="493773" y="1804350"/>
              <a:ext cx="5652600" cy="7467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10250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8575" tIns="98575" rIns="98575" bIns="9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9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5" name="Google Shape;335;p43"/>
            <p:cNvSpPr txBox="1"/>
            <p:nvPr/>
          </p:nvSpPr>
          <p:spPr>
            <a:xfrm>
              <a:off x="1230573" y="2036957"/>
              <a:ext cx="30402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86"/>
                <a:buFont typeface="Arial"/>
                <a:buNone/>
              </a:pPr>
              <a:r>
                <a:rPr lang="fr" sz="970" b="1" dirty="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Budget prévisionnel :  </a:t>
              </a:r>
              <a:r>
                <a:rPr lang="fr" sz="1078" dirty="0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{{FICHE_BUDGET_TOTAL}} HT </a:t>
              </a:r>
              <a:br>
                <a:rPr lang="fr" sz="903" dirty="0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</a:br>
              <a:r>
                <a:rPr lang="fr" sz="850" dirty="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({{FICHE_BUDGET_INVESTISSEMENT}} investissement + {{FICHE_BUDGET_FONCTIONNEMENT}} fonctionnement)</a:t>
              </a:r>
              <a:endParaRPr sz="903" dirty="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336" name="Google Shape;336;p43" title="money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68523" y="1955664"/>
              <a:ext cx="431272" cy="4312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7" name="Google Shape;337;p43"/>
          <p:cNvSpPr txBox="1">
            <a:spLocks noGrp="1"/>
          </p:cNvSpPr>
          <p:nvPr>
            <p:ph type="ctrTitle"/>
          </p:nvPr>
        </p:nvSpPr>
        <p:spPr>
          <a:xfrm>
            <a:off x="504726" y="1392150"/>
            <a:ext cx="56526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Pilote</a:t>
            </a:r>
            <a:r>
              <a:rPr lang="fr" sz="1100" b="0">
                <a:solidFill>
                  <a:schemeClr val="dk2"/>
                </a:solidFill>
              </a:rPr>
              <a:t> : {{FICHE_PILOTES}} | </a:t>
            </a:r>
            <a:r>
              <a:rPr lang="fr" sz="1100">
                <a:solidFill>
                  <a:schemeClr val="dk2"/>
                </a:solidFill>
              </a:rPr>
              <a:t>Période</a:t>
            </a:r>
            <a:r>
              <a:rPr lang="fr" sz="1100" b="0">
                <a:solidFill>
                  <a:schemeClr val="dk2"/>
                </a:solidFill>
              </a:rPr>
              <a:t> : {{FICHE_DATE_DEBUT}} -&gt; {{FICHE_DATE_FIN}}</a:t>
            </a:r>
            <a:endParaRPr sz="1300"/>
          </a:p>
        </p:txBody>
      </p:sp>
      <p:grpSp>
        <p:nvGrpSpPr>
          <p:cNvPr id="343" name="grp_fiche_missing_info"/>
          <p:cNvGrpSpPr/>
          <p:nvPr/>
        </p:nvGrpSpPr>
        <p:grpSpPr>
          <a:xfrm>
            <a:off x="0" y="4743250"/>
            <a:ext cx="9144000" cy="400200"/>
            <a:chOff x="0" y="4743250"/>
            <a:chExt cx="9144000" cy="400200"/>
          </a:xfrm>
        </p:grpSpPr>
        <p:sp>
          <p:nvSpPr>
            <p:cNvPr id="344" name="Google Shape;344;p43"/>
            <p:cNvSpPr/>
            <p:nvPr/>
          </p:nvSpPr>
          <p:spPr>
            <a:xfrm>
              <a:off x="0" y="4743250"/>
              <a:ext cx="9144000" cy="400200"/>
            </a:xfrm>
            <a:prstGeom prst="roundRect">
              <a:avLst>
                <a:gd name="adj" fmla="val 49"/>
              </a:avLst>
            </a:prstGeom>
            <a:solidFill>
              <a:srgbClr val="FEF5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5" name="Google Shape;345;p43"/>
            <p:cNvSpPr txBox="1"/>
            <p:nvPr/>
          </p:nvSpPr>
          <p:spPr>
            <a:xfrm>
              <a:off x="329363" y="4779075"/>
              <a:ext cx="5817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 b="1">
                  <a:solidFill>
                    <a:srgbClr val="FAA90C"/>
                  </a:solidFill>
                  <a:latin typeface="Poppins"/>
                  <a:ea typeface="Poppins"/>
                  <a:cs typeface="Poppins"/>
                  <a:sym typeface="Poppins"/>
                </a:rPr>
                <a:t>Des informations sont manquantes : {{MISSING_INFO}}.</a:t>
              </a:r>
              <a:endParaRPr sz="900" b="1">
                <a:solidFill>
                  <a:srgbClr val="FAA90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347" name="Google Shape;347;p43" title="Icône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51200" y="4871325"/>
              <a:ext cx="138600" cy="13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8" name="txt_fiche_statut_REALISE"/>
          <p:cNvSpPr/>
          <p:nvPr/>
        </p:nvSpPr>
        <p:spPr>
          <a:xfrm>
            <a:off x="7915849" y="907450"/>
            <a:ext cx="1032600" cy="317400"/>
          </a:xfrm>
          <a:prstGeom prst="roundRect">
            <a:avLst>
              <a:gd name="adj" fmla="val 16667"/>
            </a:avLst>
          </a:prstGeom>
          <a:solidFill>
            <a:srgbClr val="E5FCF0"/>
          </a:solidFill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6AA84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RÉALISÉ à 100%</a:t>
            </a:r>
            <a:endParaRPr sz="1100" b="0" i="0" u="none" strike="noStrike" cap="none" dirty="0">
              <a:solidFill>
                <a:srgbClr val="6AA84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9" name="txt_fiche_statut_SANS_STATUT"/>
          <p:cNvSpPr/>
          <p:nvPr/>
        </p:nvSpPr>
        <p:spPr>
          <a:xfrm>
            <a:off x="8112349" y="904313"/>
            <a:ext cx="8379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6666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NON DÉFINI</a:t>
            </a:r>
            <a:endParaRPr sz="1100" b="0" i="0" u="none" strike="noStrike" cap="none" dirty="0">
              <a:solidFill>
                <a:srgbClr val="6666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5" name="txt_fiche_statut_EN_COURS"/>
          <p:cNvSpPr/>
          <p:nvPr/>
        </p:nvSpPr>
        <p:spPr>
          <a:xfrm>
            <a:off x="8071549" y="907450"/>
            <a:ext cx="837900" cy="317400"/>
          </a:xfrm>
          <a:prstGeom prst="roundRect">
            <a:avLst>
              <a:gd name="adj" fmla="val 16667"/>
            </a:avLst>
          </a:prstGeom>
          <a:solidFill>
            <a:srgbClr val="EDF4FF"/>
          </a:solidFill>
          <a:ln w="9525" cap="flat" cmpd="sng">
            <a:solidFill>
              <a:srgbClr val="438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4380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COURS</a:t>
            </a:r>
            <a:endParaRPr sz="1100" b="0" i="0" u="none" strike="noStrike" cap="none" dirty="0">
              <a:solidFill>
                <a:srgbClr val="4380F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4" name="txt_fiche_statut_A_VENIR"/>
          <p:cNvSpPr/>
          <p:nvPr/>
        </p:nvSpPr>
        <p:spPr>
          <a:xfrm>
            <a:off x="8153299" y="907450"/>
            <a:ext cx="756000" cy="317400"/>
          </a:xfrm>
          <a:prstGeom prst="roundRect">
            <a:avLst>
              <a:gd name="adj" fmla="val 16667"/>
            </a:avLst>
          </a:prstGeom>
          <a:solidFill>
            <a:srgbClr val="F0F0FE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VENIR</a:t>
            </a:r>
            <a:endParaRPr sz="1100" b="0" i="0" u="none" strike="noStrike" cap="none" dirty="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3" name="txt_fiche_statut_EN_RETARD"/>
          <p:cNvSpPr/>
          <p:nvPr/>
        </p:nvSpPr>
        <p:spPr>
          <a:xfrm>
            <a:off x="8089699" y="907643"/>
            <a:ext cx="801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673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F6737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RETARD</a:t>
            </a:r>
            <a:endParaRPr sz="1100" b="0" i="0" u="none" strike="noStrike" cap="none" dirty="0">
              <a:solidFill>
                <a:srgbClr val="F6737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2" name="txt_fiche_statut_ABANDONNE"/>
          <p:cNvSpPr/>
          <p:nvPr/>
        </p:nvSpPr>
        <p:spPr>
          <a:xfrm>
            <a:off x="7954999" y="907450"/>
            <a:ext cx="9543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6666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ABANDONNÉ</a:t>
            </a:r>
            <a:endParaRPr sz="1100" b="0" i="0" u="none" strike="noStrike" cap="none" dirty="0">
              <a:solidFill>
                <a:srgbClr val="6666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1" name="txt_fiche_statut_BLOQUE"/>
          <p:cNvSpPr/>
          <p:nvPr/>
        </p:nvSpPr>
        <p:spPr>
          <a:xfrm>
            <a:off x="8262524" y="907450"/>
            <a:ext cx="6615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AA9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FAA9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BLOQUÉ</a:t>
            </a:r>
            <a:endParaRPr sz="1100" b="0" i="0" u="none" strike="noStrike" cap="none" dirty="0">
              <a:solidFill>
                <a:srgbClr val="FAA90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0" name="txt_fiche_statut_A_DISCUTER"/>
          <p:cNvSpPr/>
          <p:nvPr/>
        </p:nvSpPr>
        <p:spPr>
          <a:xfrm>
            <a:off x="8020699" y="907450"/>
            <a:ext cx="888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DISCUTER</a:t>
            </a:r>
            <a:endParaRPr sz="1100" b="0" i="0" u="none" strike="noStrike" cap="none" dirty="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" name="Google Shape;191;p33">
            <a:extLst>
              <a:ext uri="{FF2B5EF4-FFF2-40B4-BE49-F238E27FC236}">
                <a16:creationId xmlns:a16="http://schemas.microsoft.com/office/drawing/2014/main" id="{E943517D-62CB-B929-334D-188F9FF4B60D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192;p33">
            <a:extLst>
              <a:ext uri="{FF2B5EF4-FFF2-40B4-BE49-F238E27FC236}">
                <a16:creationId xmlns:a16="http://schemas.microsoft.com/office/drawing/2014/main" id="{562A7B64-F77C-CA32-9F03-C307EEA2D45D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" name="img_collectivite_logo">
            <a:extLst>
              <a:ext uri="{FF2B5EF4-FFF2-40B4-BE49-F238E27FC236}">
                <a16:creationId xmlns:a16="http://schemas.microsoft.com/office/drawing/2014/main" id="{678E2E42-E120-5FA5-30C8-F8028DCA88A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299B0AA5-5C46-D5D2-E220-920FFD069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>
            <a:extLst>
              <a:ext uri="{FF2B5EF4-FFF2-40B4-BE49-F238E27FC236}">
                <a16:creationId xmlns:a16="http://schemas.microsoft.com/office/drawing/2014/main" id="{6FAD64D5-140A-17EC-D1AB-DA04621053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261" name="Google Shape;261;p38">
            <a:extLst>
              <a:ext uri="{FF2B5EF4-FFF2-40B4-BE49-F238E27FC236}">
                <a16:creationId xmlns:a16="http://schemas.microsoft.com/office/drawing/2014/main" id="{E3DABF0F-43DA-9790-9511-25C45168DCD6}"/>
              </a:ext>
            </a:extLst>
          </p:cNvPr>
          <p:cNvSpPr/>
          <p:nvPr/>
        </p:nvSpPr>
        <p:spPr>
          <a:xfrm>
            <a:off x="504724" y="1438506"/>
            <a:ext cx="8126320" cy="3285293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331;p43">
            <a:extLst>
              <a:ext uri="{FF2B5EF4-FFF2-40B4-BE49-F238E27FC236}">
                <a16:creationId xmlns:a16="http://schemas.microsoft.com/office/drawing/2014/main" id="{802CDE8B-379E-F960-DF0B-A54A257E83E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04724" y="1057383"/>
            <a:ext cx="8126319" cy="254669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/>
              <a:t>Indicateur : {{FICHE_TITRE}}</a:t>
            </a:r>
            <a:endParaRPr sz="1600" dirty="0"/>
          </a:p>
        </p:txBody>
      </p:sp>
      <p:pic>
        <p:nvPicPr>
          <p:cNvPr id="11" name="img_fiche_indicateur_chart_1" descr="Une image contenant capture d’écran, ligne, noir, Tracé&#10;&#10;Le contenu généré par l’IA peut être incorrect.">
            <a:extLst>
              <a:ext uri="{FF2B5EF4-FFF2-40B4-BE49-F238E27FC236}">
                <a16:creationId xmlns:a16="http://schemas.microsoft.com/office/drawing/2014/main" id="{63F4EA4A-F21C-538C-8B18-13D4CD87B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00" y="1582552"/>
            <a:ext cx="7759700" cy="2997200"/>
          </a:xfrm>
          <a:prstGeom prst="rect">
            <a:avLst/>
          </a:prstGeom>
        </p:spPr>
      </p:pic>
      <p:sp>
        <p:nvSpPr>
          <p:cNvPr id="7" name="txt_fiche_indicateur_no_data_1">
            <a:extLst>
              <a:ext uri="{FF2B5EF4-FFF2-40B4-BE49-F238E27FC236}">
                <a16:creationId xmlns:a16="http://schemas.microsoft.com/office/drawing/2014/main" id="{8C0D32DF-4F7D-12A1-1E36-748BD6AD2978}"/>
              </a:ext>
            </a:extLst>
          </p:cNvPr>
          <p:cNvSpPr txBox="1"/>
          <p:nvPr/>
        </p:nvSpPr>
        <p:spPr>
          <a:xfrm>
            <a:off x="3346567" y="2938456"/>
            <a:ext cx="24930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Aucune donnée pour cet indicateur.</a:t>
            </a:r>
            <a:endParaRPr sz="1000" u="sng" dirty="0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91;p33">
            <a:extLst>
              <a:ext uri="{FF2B5EF4-FFF2-40B4-BE49-F238E27FC236}">
                <a16:creationId xmlns:a16="http://schemas.microsoft.com/office/drawing/2014/main" id="{52D338F2-38A9-083E-8A37-127041F1A3A6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" name="Google Shape;192;p33">
            <a:extLst>
              <a:ext uri="{FF2B5EF4-FFF2-40B4-BE49-F238E27FC236}">
                <a16:creationId xmlns:a16="http://schemas.microsoft.com/office/drawing/2014/main" id="{665E8F77-2D39-4F68-7331-2FB2245A3013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" name="img_collectivite_logo">
            <a:extLst>
              <a:ext uri="{FF2B5EF4-FFF2-40B4-BE49-F238E27FC236}">
                <a16:creationId xmlns:a16="http://schemas.microsoft.com/office/drawing/2014/main" id="{C5431B81-2AE2-4158-AF78-B18C2366DB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692" y="230773"/>
            <a:ext cx="1160116" cy="3199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9166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46" title="logo final + accroch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9675" y="182725"/>
            <a:ext cx="1375626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6"/>
          <p:cNvSpPr txBox="1"/>
          <p:nvPr/>
        </p:nvSpPr>
        <p:spPr>
          <a:xfrm>
            <a:off x="288500" y="1059775"/>
            <a:ext cx="87031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Données territoriales : </a:t>
            </a:r>
            <a:endParaRPr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Consommation d’énergie : 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https://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www.data.gouv.fr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/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datasets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/bouquet-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dindicateurs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-communs-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energie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-climat-des-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orec</a:t>
            </a:r>
            <a:endParaRPr sz="1200" dirty="0">
              <a:solidFill>
                <a:schemeClr val="lt1"/>
              </a:solidFill>
              <a:latin typeface="Poppins"/>
              <a:cs typeface="Poppins"/>
              <a:sym typeface="Poppins"/>
            </a:endParaRPr>
          </a:p>
          <a:p>
            <a:pPr marL="457200" lvl="0" indent="-304800"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GES : 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https://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www.data.gouv.fr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/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datasets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/bouquet-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dindicateurs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-communs-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energie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-climat-des-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orec</a:t>
            </a:r>
            <a:endParaRPr sz="12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Production ENR : 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https://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www.data.gouv.fr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/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datasets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/bouquet-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dindicateurs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-communs-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energie</a:t>
            </a:r>
            <a:r>
              <a:rPr lang="fr-FR" sz="1200" dirty="0">
                <a:solidFill>
                  <a:schemeClr val="lt1"/>
                </a:solidFill>
                <a:latin typeface="Poppins"/>
                <a:cs typeface="Poppins"/>
              </a:rPr>
              <a:t>-climat-des-</a:t>
            </a:r>
            <a:r>
              <a:rPr lang="fr-FR" sz="1200" dirty="0" err="1">
                <a:solidFill>
                  <a:schemeClr val="lt1"/>
                </a:solidFill>
                <a:latin typeface="Poppins"/>
                <a:cs typeface="Poppins"/>
              </a:rPr>
              <a:t>orec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Rapport généré par </a:t>
            </a:r>
            <a:r>
              <a:rPr lang="fr" sz="1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Territoires en Transitions</a:t>
            </a:r>
            <a:endParaRPr sz="12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2" name="Google Shape;402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8" name="Google Shape;191;p33">
            <a:extLst>
              <a:ext uri="{FF2B5EF4-FFF2-40B4-BE49-F238E27FC236}">
                <a16:creationId xmlns:a16="http://schemas.microsoft.com/office/drawing/2014/main" id="{1752B57E-16BD-4A01-BE36-702ECF28385C}"/>
              </a:ext>
            </a:extLst>
          </p:cNvPr>
          <p:cNvSpPr txBox="1"/>
          <p:nvPr/>
        </p:nvSpPr>
        <p:spPr>
          <a:xfrm>
            <a:off x="254236" y="208829"/>
            <a:ext cx="7755958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" name="Google Shape;192;p33">
            <a:extLst>
              <a:ext uri="{FF2B5EF4-FFF2-40B4-BE49-F238E27FC236}">
                <a16:creationId xmlns:a16="http://schemas.microsoft.com/office/drawing/2014/main" id="{32FC3F76-8B8E-41C8-E48E-191F89A319D1}"/>
              </a:ext>
            </a:extLst>
          </p:cNvPr>
          <p:cNvSpPr txBox="1"/>
          <p:nvPr/>
        </p:nvSpPr>
        <p:spPr>
          <a:xfrm>
            <a:off x="254236" y="449396"/>
            <a:ext cx="7755958" cy="12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 dirty="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TET">
  <a:themeElements>
    <a:clrScheme name="Simple Light">
      <a:dk1>
        <a:srgbClr val="154C88"/>
      </a:dk1>
      <a:lt1>
        <a:srgbClr val="FAFBFF"/>
      </a:lt1>
      <a:dk2>
        <a:srgbClr val="5D5D79"/>
      </a:dk2>
      <a:lt2>
        <a:srgbClr val="EEEEEE"/>
      </a:lt2>
      <a:accent1>
        <a:srgbClr val="0B5EBE"/>
      </a:accent1>
      <a:accent2>
        <a:srgbClr val="05458D"/>
      </a:accent2>
      <a:accent3>
        <a:srgbClr val="6FA8DC"/>
      </a:accent3>
      <a:accent4>
        <a:srgbClr val="F55B5B"/>
      </a:accent4>
      <a:accent5>
        <a:srgbClr val="4380F5"/>
      </a:accent5>
      <a:accent6>
        <a:srgbClr val="F4C44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 TET">
  <a:themeElements>
    <a:clrScheme name="Simple Light">
      <a:dk1>
        <a:srgbClr val="154C88"/>
      </a:dk1>
      <a:lt1>
        <a:srgbClr val="FAFBFF"/>
      </a:lt1>
      <a:dk2>
        <a:srgbClr val="5D5D79"/>
      </a:dk2>
      <a:lt2>
        <a:srgbClr val="EEEEEE"/>
      </a:lt2>
      <a:accent1>
        <a:srgbClr val="0B5EBE"/>
      </a:accent1>
      <a:accent2>
        <a:srgbClr val="05458D"/>
      </a:accent2>
      <a:accent3>
        <a:srgbClr val="6FA8DC"/>
      </a:accent3>
      <a:accent4>
        <a:srgbClr val="F55B5B"/>
      </a:accent4>
      <a:accent5>
        <a:srgbClr val="4380F5"/>
      </a:accent5>
      <a:accent6>
        <a:srgbClr val="F4C44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7230</TotalTime>
  <Words>542</Words>
  <Application>Microsoft Macintosh PowerPoint</Application>
  <PresentationFormat>Affichage à l'écran (16:9)</PresentationFormat>
  <Paragraphs>90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Poppins</vt:lpstr>
      <vt:lpstr>Poppins ExtraBold</vt:lpstr>
      <vt:lpstr>Arial</vt:lpstr>
      <vt:lpstr>Poppins SemiBold</vt:lpstr>
      <vt:lpstr>Poppins Medium</vt:lpstr>
      <vt:lpstr>Theme TET</vt:lpstr>
      <vt:lpstr>Theme TET</vt:lpstr>
      <vt:lpstr>{{PLAN_NOM}}</vt:lpstr>
      <vt:lpstr>Sommaire</vt:lpstr>
      <vt:lpstr>Synthèse du plan </vt:lpstr>
      <vt:lpstr>Synthèse du plan</vt:lpstr>
      <vt:lpstr>Avancement du plan </vt:lpstr>
      <vt:lpstr>Données territoriales</vt:lpstr>
      <vt:lpstr>Présentation PowerPoint</vt:lpstr>
      <vt:lpstr>Présentation PowerPoint</vt:lpstr>
      <vt:lpstr>Présentation PowerPoint</vt:lpstr>
      <vt:lpstr>Avancement des axes et leur actions</vt:lpstr>
      <vt:lpstr>{{AXE_NOM}}</vt:lpstr>
      <vt:lpstr>{{FICHE_TITRE}}</vt:lpstr>
      <vt:lpstr>Indicateur : {{FICHE_TITRE}}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Thibaut Dusanter</cp:lastModifiedBy>
  <cp:revision>41</cp:revision>
  <dcterms:modified xsi:type="dcterms:W3CDTF">2026-04-22T08:38:21Z</dcterms:modified>
</cp:coreProperties>
</file>