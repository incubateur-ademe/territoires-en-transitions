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9144000" cy="5143500" type="screen16x9"/>
  <p:notesSz cx="6858000" cy="9144000"/>
  <p:embeddedFontLst>
    <p:embeddedFont>
      <p:font typeface="Poppins" pitchFamily="2" charset="77"/>
      <p:regular r:id="rId18"/>
      <p:bold r:id="rId19"/>
      <p:italic r:id="rId20"/>
      <p:boldItalic r:id="rId21"/>
    </p:embeddedFont>
    <p:embeddedFont>
      <p:font typeface="Poppins ExtraBold" panose="00000900000000000000" pitchFamily="2" charset="77"/>
      <p:bold r:id="rId22"/>
      <p:italic r:id="rId23"/>
      <p:boldItalic r:id="rId24"/>
    </p:embeddedFont>
    <p:embeddedFont>
      <p:font typeface="Poppins Medium" panose="00000600000000000000" pitchFamily="2" charset="77"/>
      <p:regular r:id="rId25"/>
      <p:bold r:id="rId26"/>
      <p:italic r:id="rId27"/>
      <p:boldItalic r:id="rId28"/>
    </p:embeddedFont>
    <p:embeddedFont>
      <p:font typeface="Poppins SemiBold" panose="00000700000000000000" pitchFamily="2" charset="77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50"/>
    <p:restoredTop sz="94643"/>
  </p:normalViewPr>
  <p:slideViewPr>
    <p:cSldViewPr snapToGrid="0">
      <p:cViewPr varScale="1">
        <p:scale>
          <a:sx n="118" d="100"/>
          <a:sy n="118" d="100"/>
        </p:scale>
        <p:origin x="208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125f6b97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125f6b97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3125b470c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3b3125b470c_1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2ac6617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2ac66177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f360684a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f360684a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fdd9055c2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9fdd9055c2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fdd9055c2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9fdd9055c2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2ac66177a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2ac66177a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fdd9055c2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9fdd9055c2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2ac66177a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a2ac66177a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573bcef67_6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573bcef67_6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f360684a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f360684a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0f273b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b0f273b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104dc401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b104dc401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081d125a2_4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081d125a2_4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 descr="dsds"/>
          <p:cNvSpPr txBox="1">
            <a:spLocks noGrp="1"/>
          </p:cNvSpPr>
          <p:nvPr>
            <p:ph type="ctrTitle"/>
          </p:nvPr>
        </p:nvSpPr>
        <p:spPr>
          <a:xfrm>
            <a:off x="311700" y="1861375"/>
            <a:ext cx="8520600" cy="4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71100" y="24441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title" idx="2"/>
          </p:nvPr>
        </p:nvSpPr>
        <p:spPr>
          <a:xfrm>
            <a:off x="1014150" y="2927825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">
  <p:cSld name="TITLE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 descr="dsds"/>
          <p:cNvSpPr txBox="1">
            <a:spLocks noGrp="1"/>
          </p:cNvSpPr>
          <p:nvPr>
            <p:ph type="ctrTitle"/>
          </p:nvPr>
        </p:nvSpPr>
        <p:spPr>
          <a:xfrm>
            <a:off x="249400" y="908859"/>
            <a:ext cx="8520600" cy="46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/>
          </p:nvPr>
        </p:nvSpPr>
        <p:spPr>
          <a:xfrm>
            <a:off x="249400" y="1334409"/>
            <a:ext cx="7115700" cy="3543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 1">
  <p:cSld name="TITLE_1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 descr="dsds"/>
          <p:cNvSpPr txBox="1">
            <a:spLocks noGrp="1"/>
          </p:cNvSpPr>
          <p:nvPr>
            <p:ph type="ctrTitle"/>
          </p:nvPr>
        </p:nvSpPr>
        <p:spPr>
          <a:xfrm>
            <a:off x="249400" y="686309"/>
            <a:ext cx="8520600" cy="46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 idx="2"/>
          </p:nvPr>
        </p:nvSpPr>
        <p:spPr>
          <a:xfrm>
            <a:off x="249400" y="1090509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de garde">
  <p:cSld name="CUSTOM_2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de garde 1">
  <p:cSld name="CUSTOM_2_1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6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5550" y="0"/>
            <a:ext cx="9144000" cy="89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5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 idx="2"/>
          </p:nvPr>
        </p:nvSpPr>
        <p:spPr>
          <a:xfrm>
            <a:off x="819600" y="2685750"/>
            <a:ext cx="71157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 1">
  <p:cSld name="SECTION_HEADER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>
            <a:off x="-50" y="0"/>
            <a:ext cx="9144000" cy="127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85750" y="326000"/>
            <a:ext cx="3962100" cy="53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 idx="2"/>
          </p:nvPr>
        </p:nvSpPr>
        <p:spPr>
          <a:xfrm>
            <a:off x="4785750" y="967700"/>
            <a:ext cx="42354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Poppins Medium"/>
              <a:buNone/>
              <a:defRPr sz="1200" b="0">
                <a:solidFill>
                  <a:schemeClr val="accent5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1 1">
  <p:cSld name="SECTION_TITLE_AND_DESCRIPTION_1_1">
    <p:bg>
      <p:bgPr>
        <a:solidFill>
          <a:srgbClr val="FAFB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3845600" y="0"/>
            <a:ext cx="5298300" cy="15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1" name="Google Shape;51;p9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5" name="Google Shape;55;p9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6" name="Google Shape;56;p9"/>
          <p:cNvSpPr/>
          <p:nvPr/>
        </p:nvSpPr>
        <p:spPr>
          <a:xfrm>
            <a:off x="5550" y="0"/>
            <a:ext cx="9144000" cy="89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068119" y="4361581"/>
            <a:ext cx="953100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88</a:t>
            </a: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ffre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62" name="Google Shape;62;p11"/>
          <p:cNvSpPr txBox="1"/>
          <p:nvPr/>
        </p:nvSpPr>
        <p:spPr>
          <a:xfrm>
            <a:off x="11225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11225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2936788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" name="Google Shape;65;p11"/>
          <p:cNvSpPr txBox="1"/>
          <p:nvPr/>
        </p:nvSpPr>
        <p:spPr>
          <a:xfrm>
            <a:off x="2936788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6" name="Google Shape;66;p11"/>
          <p:cNvSpPr txBox="1"/>
          <p:nvPr/>
        </p:nvSpPr>
        <p:spPr>
          <a:xfrm>
            <a:off x="4751025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4751025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8" name="Google Shape;68;p11"/>
          <p:cNvSpPr txBox="1"/>
          <p:nvPr/>
        </p:nvSpPr>
        <p:spPr>
          <a:xfrm>
            <a:off x="65652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1"/>
          <p:cNvSpPr txBox="1"/>
          <p:nvPr/>
        </p:nvSpPr>
        <p:spPr>
          <a:xfrm>
            <a:off x="65652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0" name="Google Shape;70;p11"/>
          <p:cNvSpPr txBox="1">
            <a:spLocks noGrp="1"/>
          </p:cNvSpPr>
          <p:nvPr>
            <p:ph type="ctrTitle"/>
          </p:nvPr>
        </p:nvSpPr>
        <p:spPr>
          <a:xfrm>
            <a:off x="311700" y="1786100"/>
            <a:ext cx="8520600" cy="4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ubTitle" idx="1"/>
          </p:nvPr>
        </p:nvSpPr>
        <p:spPr>
          <a:xfrm>
            <a:off x="1518475" y="24623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2">
  <p:cSld name="CUSTOM_3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7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05458D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">
  <p:cSld name="CUSTOM">
    <p:bg>
      <p:bgPr>
        <a:solidFill>
          <a:srgbClr val="05458D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>
            <a:off x="898200" y="2325450"/>
            <a:ext cx="73476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14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>
            <a:spLocks noGrp="1"/>
          </p:cNvSpPr>
          <p:nvPr>
            <p:ph type="title" idx="2"/>
          </p:nvPr>
        </p:nvSpPr>
        <p:spPr>
          <a:xfrm>
            <a:off x="1873025" y="32614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80" name="Google Shape;80;p14" title="Fiche a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903" y="1639029"/>
            <a:ext cx="686423" cy="6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2">
  <p:cSld name="CUSTOM_4">
    <p:bg>
      <p:bgPr>
        <a:solidFill>
          <a:srgbClr val="05458D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898200" y="28766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84" name="Google Shape;84;p15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>
            <a:spLocks noGrp="1"/>
          </p:cNvSpPr>
          <p:nvPr>
            <p:ph type="title" idx="2"/>
          </p:nvPr>
        </p:nvSpPr>
        <p:spPr>
          <a:xfrm>
            <a:off x="1873025" y="38126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title" idx="3"/>
          </p:nvPr>
        </p:nvSpPr>
        <p:spPr>
          <a:xfrm>
            <a:off x="898200" y="1548575"/>
            <a:ext cx="7347600" cy="881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None/>
              <a:defRPr sz="33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87" name="Google Shape;87;p15"/>
          <p:cNvCxnSpPr/>
          <p:nvPr/>
        </p:nvCxnSpPr>
        <p:spPr>
          <a:xfrm>
            <a:off x="2427750" y="2771475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1">
  <p:cSld name="CUSTOM_1">
    <p:bg>
      <p:bgPr>
        <a:solidFill>
          <a:srgbClr val="05458D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898200" y="1998050"/>
            <a:ext cx="7347600" cy="10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title" idx="2"/>
          </p:nvPr>
        </p:nvSpPr>
        <p:spPr>
          <a:xfrm>
            <a:off x="1873025" y="30669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92" name="Google Shape;92;p16" title="logoFon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buNone/>
              <a:defRPr sz="1300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 et description 1 1">
  <p:cSld name="SECTION_TITLE_AND_DESCRIPTION_1_1">
    <p:bg>
      <p:bgPr>
        <a:solidFill>
          <a:srgbClr val="FAFB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>
            <a:off x="3845600" y="0"/>
            <a:ext cx="5298300" cy="155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6" name="Google Shape;106;p18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PCAET 2019-2025</a:t>
            </a:r>
            <a:endParaRPr sz="14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Climat Air Énergie Territorial</a:t>
            </a:r>
            <a:endParaRPr sz="900" b="0" i="0" u="none" strike="noStrike" cap="none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5550" y="0"/>
            <a:ext cx="9144000" cy="89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" type="title">
  <p:cSld name="TITL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 descr="dsds"/>
          <p:cNvSpPr txBox="1">
            <a:spLocks noGrp="1"/>
          </p:cNvSpPr>
          <p:nvPr>
            <p:ph type="ctrTitle"/>
          </p:nvPr>
        </p:nvSpPr>
        <p:spPr>
          <a:xfrm>
            <a:off x="311700" y="1861375"/>
            <a:ext cx="8520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1"/>
          </p:nvPr>
        </p:nvSpPr>
        <p:spPr>
          <a:xfrm>
            <a:off x="1571100" y="24441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title" idx="2"/>
          </p:nvPr>
        </p:nvSpPr>
        <p:spPr>
          <a:xfrm>
            <a:off x="1014150" y="2927825"/>
            <a:ext cx="71157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de garde">
  <p:cSld name="CUSTOM_2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20"/>
          <p:cNvCxnSpPr/>
          <p:nvPr/>
        </p:nvCxnSpPr>
        <p:spPr>
          <a:xfrm>
            <a:off x="2433300" y="2669850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05458D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">
  <p:cSld name="TITLE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 descr="dsds"/>
          <p:cNvSpPr txBox="1">
            <a:spLocks noGrp="1"/>
          </p:cNvSpPr>
          <p:nvPr>
            <p:ph type="ctrTitle"/>
          </p:nvPr>
        </p:nvSpPr>
        <p:spPr>
          <a:xfrm>
            <a:off x="249400" y="908859"/>
            <a:ext cx="8520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title" idx="2"/>
          </p:nvPr>
        </p:nvSpPr>
        <p:spPr>
          <a:xfrm>
            <a:off x="249400" y="1334409"/>
            <a:ext cx="71157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 Medium"/>
              <a:buNone/>
              <a:defRPr sz="14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/ sous titre / texte 1 1">
  <p:cSld name="TITLE_1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 descr="dsds"/>
          <p:cNvSpPr txBox="1">
            <a:spLocks noGrp="1"/>
          </p:cNvSpPr>
          <p:nvPr>
            <p:ph type="ctrTitle"/>
          </p:nvPr>
        </p:nvSpPr>
        <p:spPr>
          <a:xfrm>
            <a:off x="249400" y="686309"/>
            <a:ext cx="8520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title" idx="2"/>
          </p:nvPr>
        </p:nvSpPr>
        <p:spPr>
          <a:xfrm>
            <a:off x="249400" y="1090509"/>
            <a:ext cx="71157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title" idx="2"/>
          </p:nvPr>
        </p:nvSpPr>
        <p:spPr>
          <a:xfrm>
            <a:off x="819600" y="2685750"/>
            <a:ext cx="71157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 Medium"/>
              <a:buNone/>
              <a:defRPr sz="1200" b="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 1">
  <p:cSld name="SECTION_HEADER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/>
          <p:nvPr/>
        </p:nvSpPr>
        <p:spPr>
          <a:xfrm>
            <a:off x="-50" y="0"/>
            <a:ext cx="9144000" cy="127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4785750" y="326000"/>
            <a:ext cx="39621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title" idx="2"/>
          </p:nvPr>
        </p:nvSpPr>
        <p:spPr>
          <a:xfrm>
            <a:off x="4785750" y="967700"/>
            <a:ext cx="42354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Poppins Medium"/>
              <a:buNone/>
              <a:defRPr sz="1200" b="0">
                <a:solidFill>
                  <a:schemeClr val="accent5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sldNum" idx="12"/>
          </p:nvPr>
        </p:nvSpPr>
        <p:spPr>
          <a:xfrm>
            <a:off x="8068119" y="4361581"/>
            <a:ext cx="9531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88</a:t>
            </a: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iffre">
  <p:cSld name="BIG_NUMBER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11225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 i="0" u="none" strike="noStrike" cap="none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11225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 b="0" i="0" u="none" strike="noStrike" cap="none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2936788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 i="0" u="none" strike="noStrike" cap="none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2936788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 b="0" i="0" u="none" strike="noStrike" cap="none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4751025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 i="0" u="none" strike="noStrike" cap="none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4751025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 b="0" i="0" u="none" strike="noStrike" cap="none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6565250" y="3022325"/>
            <a:ext cx="145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fr" sz="4000" b="1" i="0" u="none" strike="noStrike" cap="none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sz="4000" b="1" i="0" u="none" strike="noStrike" cap="none">
              <a:solidFill>
                <a:srgbClr val="0545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6565250" y="3550925"/>
            <a:ext cx="145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800" b="0" i="0" u="none" strike="noStrike" cap="none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Légende</a:t>
            </a:r>
            <a:endParaRPr sz="1800" b="0" i="0" u="none" strike="noStrike" cap="none">
              <a:solidFill>
                <a:srgbClr val="5D5D7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4" name="Google Shape;154;p27"/>
          <p:cNvSpPr txBox="1">
            <a:spLocks noGrp="1"/>
          </p:cNvSpPr>
          <p:nvPr>
            <p:ph type="ctrTitle"/>
          </p:nvPr>
        </p:nvSpPr>
        <p:spPr>
          <a:xfrm>
            <a:off x="311700" y="1786100"/>
            <a:ext cx="8520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subTitle" idx="1"/>
          </p:nvPr>
        </p:nvSpPr>
        <p:spPr>
          <a:xfrm>
            <a:off x="1518475" y="2462300"/>
            <a:ext cx="6001800" cy="367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BFF"/>
              </a:buClr>
              <a:buSzPts val="1600"/>
              <a:buFont typeface="Poppins Medium"/>
              <a:buNone/>
              <a:defRPr sz="1600">
                <a:solidFill>
                  <a:srgbClr val="FAFB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2">
  <p:cSld name="CUSTOM_3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7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">
  <p:cSld name="CUSTOM">
    <p:bg>
      <p:bgPr>
        <a:solidFill>
          <a:srgbClr val="05458D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>
            <a:spLocks noGrp="1"/>
          </p:cNvSpPr>
          <p:nvPr>
            <p:ph type="title"/>
          </p:nvPr>
        </p:nvSpPr>
        <p:spPr>
          <a:xfrm>
            <a:off x="898200" y="2325450"/>
            <a:ext cx="73476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60" name="Google Shape;160;p29" title="logoFon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9"/>
          <p:cNvSpPr txBox="1">
            <a:spLocks noGrp="1"/>
          </p:cNvSpPr>
          <p:nvPr>
            <p:ph type="title" idx="2"/>
          </p:nvPr>
        </p:nvSpPr>
        <p:spPr>
          <a:xfrm>
            <a:off x="1873025" y="32614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pic>
        <p:nvPicPr>
          <p:cNvPr id="162" name="Google Shape;162;p29" title="Fiche action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28903" y="1639029"/>
            <a:ext cx="686423" cy="68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2">
  <p:cSld name="CUSTOM_4">
    <p:bg>
      <p:bgPr>
        <a:solidFill>
          <a:srgbClr val="05458D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898200" y="2876650"/>
            <a:ext cx="7347600" cy="1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66" name="Google Shape;166;p30" title="logoFon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0"/>
          <p:cNvSpPr txBox="1">
            <a:spLocks noGrp="1"/>
          </p:cNvSpPr>
          <p:nvPr>
            <p:ph type="title" idx="2"/>
          </p:nvPr>
        </p:nvSpPr>
        <p:spPr>
          <a:xfrm>
            <a:off x="1873025" y="38126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title" idx="3"/>
          </p:nvPr>
        </p:nvSpPr>
        <p:spPr>
          <a:xfrm>
            <a:off x="898200" y="1548575"/>
            <a:ext cx="73476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None/>
              <a:defRPr sz="33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30"/>
          <p:cNvCxnSpPr/>
          <p:nvPr/>
        </p:nvCxnSpPr>
        <p:spPr>
          <a:xfrm>
            <a:off x="2427750" y="2771475"/>
            <a:ext cx="42885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se en page personnalisée 1 1">
  <p:cSld name="CUSTOM_1">
    <p:bg>
      <p:bgPr>
        <a:solidFill>
          <a:srgbClr val="05458D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>
            <a:spLocks noGrp="1"/>
          </p:cNvSpPr>
          <p:nvPr>
            <p:ph type="title"/>
          </p:nvPr>
        </p:nvSpPr>
        <p:spPr>
          <a:xfrm>
            <a:off x="898200" y="1998050"/>
            <a:ext cx="7347600" cy="1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title" idx="2"/>
          </p:nvPr>
        </p:nvSpPr>
        <p:spPr>
          <a:xfrm>
            <a:off x="1873025" y="3066950"/>
            <a:ext cx="5398200" cy="433500"/>
          </a:xfrm>
          <a:prstGeom prst="rect">
            <a:avLst/>
          </a:prstGeom>
          <a:solidFill>
            <a:srgbClr val="0B5EBE"/>
          </a:solidFill>
          <a:ln w="38100" cap="flat" cmpd="sng">
            <a:solidFill>
              <a:srgbClr val="0B5E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31" title="logoFon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9150" y="2513275"/>
            <a:ext cx="4346101" cy="32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92541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2800"/>
              <a:buFont typeface="Poppins"/>
              <a:buNone/>
              <a:defRPr sz="28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45550" y="2642991"/>
            <a:ext cx="5189400" cy="21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6583375" y="2674250"/>
            <a:ext cx="548700" cy="10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6909125" y="2666675"/>
            <a:ext cx="22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75" y="0"/>
            <a:ext cx="9144000" cy="75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 idx="2"/>
          </p:nvPr>
        </p:nvSpPr>
        <p:spPr>
          <a:xfrm>
            <a:off x="1240675" y="218475"/>
            <a:ext cx="39327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1200"/>
              <a:buFont typeface="Poppins"/>
              <a:buNone/>
              <a:defRPr sz="1200" b="1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 idx="3"/>
          </p:nvPr>
        </p:nvSpPr>
        <p:spPr>
          <a:xfrm>
            <a:off x="12406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title" idx="4"/>
          </p:nvPr>
        </p:nvSpPr>
        <p:spPr>
          <a:xfrm>
            <a:off x="60243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311700" y="92541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445550" y="2642991"/>
            <a:ext cx="5189400" cy="21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rgbClr val="5D5D7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6583375" y="2674250"/>
            <a:ext cx="548700" cy="10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6909125" y="2666675"/>
            <a:ext cx="22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75" y="0"/>
            <a:ext cx="9144000" cy="75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7"/>
          <p:cNvSpPr txBox="1">
            <a:spLocks noGrp="1"/>
          </p:cNvSpPr>
          <p:nvPr>
            <p:ph type="title" idx="2"/>
          </p:nvPr>
        </p:nvSpPr>
        <p:spPr>
          <a:xfrm>
            <a:off x="1240675" y="218475"/>
            <a:ext cx="39327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458D"/>
              </a:buClr>
              <a:buSzPts val="1200"/>
              <a:buFont typeface="Poppins"/>
              <a:buNone/>
              <a:defRPr sz="1200" b="1" i="0" u="none" strike="noStrike" cap="none">
                <a:solidFill>
                  <a:srgbClr val="05458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title" idx="3"/>
          </p:nvPr>
        </p:nvSpPr>
        <p:spPr>
          <a:xfrm>
            <a:off x="12406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 i="0" u="none" strike="noStrike" cap="none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 idx="4"/>
          </p:nvPr>
        </p:nvSpPr>
        <p:spPr>
          <a:xfrm>
            <a:off x="6024375" y="390775"/>
            <a:ext cx="29571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79"/>
              </a:buClr>
              <a:buSzPts val="900"/>
              <a:buFont typeface="Poppins Medium"/>
              <a:buNone/>
              <a:defRPr sz="900" b="0" i="0" u="none" strike="noStrike" cap="none">
                <a:solidFill>
                  <a:srgbClr val="5D5D79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oogle.fr/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hyperlink" Target="https://ecologie.data.gouv.f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{{PLAN_NOM}}</a:t>
            </a:r>
            <a:endParaRPr/>
          </a:p>
        </p:txBody>
      </p:sp>
      <p:sp>
        <p:nvSpPr>
          <p:cNvPr id="181" name="Google Shape;181;p32"/>
          <p:cNvSpPr txBox="1">
            <a:spLocks noGrp="1"/>
          </p:cNvSpPr>
          <p:nvPr>
            <p:ph type="title" idx="2"/>
          </p:nvPr>
        </p:nvSpPr>
        <p:spPr>
          <a:xfrm>
            <a:off x="1019700" y="3348563"/>
            <a:ext cx="71157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{{REPORT_DATE}}</a:t>
            </a:r>
            <a:endParaRPr/>
          </a:p>
        </p:txBody>
      </p:sp>
      <p:pic>
        <p:nvPicPr>
          <p:cNvPr id="182" name="img_collectivite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550" y="1992319"/>
            <a:ext cx="1866900" cy="514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>
            <a:spLocks noGrp="1"/>
          </p:cNvSpPr>
          <p:nvPr>
            <p:ph type="ctrTitle"/>
          </p:nvPr>
        </p:nvSpPr>
        <p:spPr>
          <a:xfrm>
            <a:off x="560677" y="1027025"/>
            <a:ext cx="32016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fr" sz="1600"/>
              <a:t>Sommaire</a:t>
            </a:r>
            <a:endParaRPr sz="1600"/>
          </a:p>
        </p:txBody>
      </p:sp>
      <p:pic>
        <p:nvPicPr>
          <p:cNvPr id="188" name="Google Shape;188;p33" title="Fiche action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976" y="932793"/>
            <a:ext cx="277210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3"/>
          <p:cNvSpPr txBox="1">
            <a:spLocks noGrp="1"/>
          </p:cNvSpPr>
          <p:nvPr>
            <p:ph type="title" idx="4294967295"/>
          </p:nvPr>
        </p:nvSpPr>
        <p:spPr>
          <a:xfrm>
            <a:off x="303975" y="1363350"/>
            <a:ext cx="8240700" cy="3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>
                <a:solidFill>
                  <a:srgbClr val="404092"/>
                </a:solidFill>
              </a:rPr>
              <a:t>Synthèse du plan</a:t>
            </a:r>
            <a:endParaRPr sz="1100">
              <a:solidFill>
                <a:srgbClr val="404092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>
                <a:solidFill>
                  <a:srgbClr val="404092"/>
                </a:solidFill>
              </a:rPr>
              <a:t>Données territoriales</a:t>
            </a:r>
            <a:endParaRPr sz="1100">
              <a:solidFill>
                <a:srgbClr val="404092"/>
              </a:solidFill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AutoNum type="alphaUcPeriod"/>
            </a:pPr>
            <a:r>
              <a:rPr lang="fr" sz="1100">
                <a:solidFill>
                  <a:srgbClr val="404092"/>
                </a:solidFill>
              </a:rPr>
              <a:t>Avancement des axes et leur actions</a:t>
            </a:r>
            <a:endParaRPr sz="1100">
              <a:solidFill>
                <a:srgbClr val="404092"/>
              </a:solidFill>
            </a:endParaRPr>
          </a:p>
          <a:p>
            <a:pPr marL="9144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000"/>
              <a:buFont typeface="Arial"/>
              <a:buChar char="•"/>
            </a:pPr>
            <a:r>
              <a:rPr lang="fr" sz="1000" b="0">
                <a:solidFill>
                  <a:srgbClr val="404092"/>
                </a:solidFill>
              </a:rPr>
              <a:t>{{AXE_NOMS}}</a:t>
            </a:r>
            <a:endParaRPr/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92"/>
              </a:buClr>
              <a:buSzPts val="1100"/>
              <a:buFont typeface="Arial"/>
              <a:buAutoNum type="alphaUcPeriod" startAt="4"/>
            </a:pPr>
            <a:r>
              <a:rPr lang="fr" sz="1100">
                <a:solidFill>
                  <a:srgbClr val="404092"/>
                </a:solidFill>
              </a:rPr>
              <a:t>Ressources</a:t>
            </a:r>
            <a:endParaRPr sz="1100">
              <a:solidFill>
                <a:srgbClr val="404092"/>
              </a:solidFill>
            </a:endParaRPr>
          </a:p>
        </p:txBody>
      </p:sp>
      <p:sp>
        <p:nvSpPr>
          <p:cNvPr id="190" name="Google Shape;19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sp>
        <p:nvSpPr>
          <p:cNvPr id="191" name="Google Shape;191;p33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 sz="1400" b="0" i="0" u="none" strike="noStrike" cap="none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 b="0" i="0" u="none" strike="noStrike" cap="none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40559262-7244-647D-06FF-38E05CBC79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236" y="265816"/>
            <a:ext cx="923528" cy="25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Synthèse du plan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4"/>
          <p:cNvSpPr txBox="1">
            <a:spLocks noGrp="1"/>
          </p:cNvSpPr>
          <p:nvPr>
            <p:ph type="title" idx="2"/>
          </p:nvPr>
        </p:nvSpPr>
        <p:spPr>
          <a:xfrm>
            <a:off x="1014150" y="322721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{{COLLECTIVITE_NOM}}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4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450" y="1722100"/>
            <a:ext cx="952525" cy="9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4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2" name="Google Shape;202;p34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3" name="Google Shape;203;p34"/>
          <p:cNvSpPr txBox="1">
            <a:spLocks noGrp="1"/>
          </p:cNvSpPr>
          <p:nvPr>
            <p:ph type="sldNum" idx="12"/>
          </p:nvPr>
        </p:nvSpPr>
        <p:spPr>
          <a:xfrm>
            <a:off x="8472458" y="4678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38E809C4-C592-464F-82DF-285ABBA9AE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236" y="265816"/>
            <a:ext cx="923528" cy="25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>
            <a:spLocks noGrp="1"/>
          </p:cNvSpPr>
          <p:nvPr>
            <p:ph type="ctrTitle"/>
          </p:nvPr>
        </p:nvSpPr>
        <p:spPr>
          <a:xfrm>
            <a:off x="484550" y="1128025"/>
            <a:ext cx="8202300" cy="2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Synthèse du plan</a:t>
            </a:r>
            <a:endParaRPr sz="1600"/>
          </a:p>
        </p:txBody>
      </p:sp>
      <p:grpSp>
        <p:nvGrpSpPr>
          <p:cNvPr id="210" name="Google Shape;210;p35"/>
          <p:cNvGrpSpPr/>
          <p:nvPr/>
        </p:nvGrpSpPr>
        <p:grpSpPr>
          <a:xfrm>
            <a:off x="3561978" y="1561000"/>
            <a:ext cx="5124900" cy="928200"/>
            <a:chOff x="3561978" y="1561000"/>
            <a:chExt cx="5124900" cy="928200"/>
          </a:xfrm>
        </p:grpSpPr>
        <p:sp>
          <p:nvSpPr>
            <p:cNvPr id="211" name="Google Shape;211;p35"/>
            <p:cNvSpPr/>
            <p:nvPr/>
          </p:nvSpPr>
          <p:spPr>
            <a:xfrm>
              <a:off x="3561978" y="1561000"/>
              <a:ext cx="5124900" cy="9282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35"/>
            <p:cNvSpPr txBox="1"/>
            <p:nvPr/>
          </p:nvSpPr>
          <p:spPr>
            <a:xfrm>
              <a:off x="4260934" y="1962453"/>
              <a:ext cx="27507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Avancement global des actions :</a:t>
              </a:r>
              <a:r>
                <a:rPr lang="fr" sz="91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{{PLAN_PROGRESS}}%</a:t>
              </a:r>
              <a:endParaRPr sz="1214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213" name="Google Shape;213;p35" title="Trajectoire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79855" y="1819559"/>
              <a:ext cx="443113" cy="4431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4" name="Google Shape;214;p35"/>
          <p:cNvGrpSpPr/>
          <p:nvPr/>
        </p:nvGrpSpPr>
        <p:grpSpPr>
          <a:xfrm>
            <a:off x="3561950" y="3723075"/>
            <a:ext cx="5124900" cy="928200"/>
            <a:chOff x="3561950" y="3723075"/>
            <a:chExt cx="5124900" cy="928200"/>
          </a:xfrm>
        </p:grpSpPr>
        <p:sp>
          <p:nvSpPr>
            <p:cNvPr id="215" name="Google Shape;215;p35"/>
            <p:cNvSpPr/>
            <p:nvPr/>
          </p:nvSpPr>
          <p:spPr>
            <a:xfrm>
              <a:off x="3561950" y="3723075"/>
              <a:ext cx="5124900" cy="9282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6" name="Google Shape;216;p35"/>
            <p:cNvSpPr txBox="1"/>
            <p:nvPr/>
          </p:nvSpPr>
          <p:spPr>
            <a:xfrm>
              <a:off x="4260977" y="4034050"/>
              <a:ext cx="3318900" cy="4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Budget prévisionnel :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{{PLAN_BUDGET_TOTAL}} HT </a:t>
              </a:r>
              <a:b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</a:br>
              <a:r>
                <a:rPr lang="fr" sz="85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({{PLAN_BUDGET_INVESTISSEMENT}} investissement + {{PLAN_BUDGET_FONCTIONNEMENT}} fonctionnement)</a:t>
              </a:r>
              <a:endParaRPr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217" name="Google Shape;217;p35" title="money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93483" y="3983756"/>
              <a:ext cx="404813" cy="4047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" name="Google Shape;218;p35"/>
          <p:cNvGrpSpPr/>
          <p:nvPr/>
        </p:nvGrpSpPr>
        <p:grpSpPr>
          <a:xfrm>
            <a:off x="3561950" y="2653471"/>
            <a:ext cx="5124900" cy="928200"/>
            <a:chOff x="3561950" y="2653471"/>
            <a:chExt cx="5124900" cy="928200"/>
          </a:xfrm>
        </p:grpSpPr>
        <p:sp>
          <p:nvSpPr>
            <p:cNvPr id="219" name="Google Shape;219;p35"/>
            <p:cNvSpPr/>
            <p:nvPr/>
          </p:nvSpPr>
          <p:spPr>
            <a:xfrm>
              <a:off x="3561950" y="2653471"/>
              <a:ext cx="5124900" cy="9282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35"/>
            <p:cNvSpPr txBox="1"/>
            <p:nvPr/>
          </p:nvSpPr>
          <p:spPr>
            <a:xfrm>
              <a:off x="4197315" y="2972682"/>
              <a:ext cx="4489500" cy="60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Structure du plan</a:t>
              </a:r>
              <a:endParaRPr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{{AXES_COUNT}}</a:t>
              </a:r>
              <a:r>
                <a:rPr lang="fr" sz="1011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</a:t>
              </a:r>
              <a:r>
                <a:rPr lang="fr" sz="1011">
                  <a:solidFill>
                    <a:schemeClr val="accent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axes -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{{INDICATEURS_COUNT}}</a:t>
              </a:r>
              <a:r>
                <a:rPr lang="fr" sz="1011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indicateurs -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{{FICHES_COUNT}}</a:t>
              </a:r>
              <a:r>
                <a:rPr lang="fr" sz="1011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</a:t>
              </a:r>
              <a:r>
                <a:rPr lang="fr" sz="1011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actions -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{{SOUS_FICHES_COUNT}}</a:t>
              </a:r>
              <a:r>
                <a:rPr lang="fr" sz="1011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</a:t>
              </a:r>
              <a:r>
                <a:rPr lang="fr" sz="1011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sous-actions</a:t>
              </a:r>
              <a:endParaRPr sz="1214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221" name="Google Shape;221;p35" title="Dashboard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79865" y="2910665"/>
              <a:ext cx="443113" cy="4430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" name="Google Shape;222;p35"/>
          <p:cNvSpPr/>
          <p:nvPr/>
        </p:nvSpPr>
        <p:spPr>
          <a:xfrm>
            <a:off x="9381163" y="4663225"/>
            <a:ext cx="3109200" cy="781500"/>
          </a:xfrm>
          <a:prstGeom prst="roundRect">
            <a:avLst>
              <a:gd name="adj" fmla="val 6187"/>
            </a:avLst>
          </a:prstGeom>
          <a:solidFill>
            <a:srgbClr val="FFFFFF"/>
          </a:solidFill>
          <a:ln w="7200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150" tIns="69150" rIns="69150" bIns="69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58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p35"/>
          <p:cNvSpPr txBox="1"/>
          <p:nvPr/>
        </p:nvSpPr>
        <p:spPr>
          <a:xfrm>
            <a:off x="9998256" y="4825785"/>
            <a:ext cx="2267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2"/>
              <a:buFont typeface="Arial"/>
              <a:buNone/>
            </a:pPr>
            <a:r>
              <a:rPr lang="fr" sz="831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Répartition des actions par statut : </a:t>
            </a:r>
            <a:endParaRPr sz="831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7" b="1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fr" sz="907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à venir (7%)  </a:t>
            </a:r>
            <a:r>
              <a:rPr lang="fr" sz="907" b="1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fr" sz="907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 à l’arrêt (1%)</a:t>
            </a:r>
            <a:r>
              <a:rPr lang="fr" sz="907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lang="fr" sz="907">
                <a:solidFill>
                  <a:srgbClr val="F1C23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fr" sz="907" b="1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66 </a:t>
            </a:r>
            <a:r>
              <a:rPr lang="fr" sz="907">
                <a:solidFill>
                  <a:srgbClr val="3C78D8"/>
                </a:solidFill>
                <a:latin typeface="Poppins"/>
                <a:ea typeface="Poppins"/>
                <a:cs typeface="Poppins"/>
                <a:sym typeface="Poppins"/>
              </a:rPr>
              <a:t>en cours (61%)  </a:t>
            </a:r>
            <a:r>
              <a:rPr lang="fr" sz="907" b="1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33 </a:t>
            </a:r>
            <a:r>
              <a:rPr lang="fr" sz="907">
                <a:solidFill>
                  <a:srgbClr val="6AA84F"/>
                </a:solidFill>
                <a:latin typeface="Poppins"/>
                <a:ea typeface="Poppins"/>
                <a:cs typeface="Poppins"/>
                <a:sym typeface="Poppins"/>
              </a:rPr>
              <a:t>réalisées (28%)</a:t>
            </a:r>
            <a:endParaRPr sz="907">
              <a:solidFill>
                <a:srgbClr val="48A775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pic>
        <p:nvPicPr>
          <p:cNvPr id="224" name="Google Shape;224;p35" title="Action à impact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97070" y="4860058"/>
            <a:ext cx="413757" cy="4137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35"/>
          <p:cNvGrpSpPr/>
          <p:nvPr/>
        </p:nvGrpSpPr>
        <p:grpSpPr>
          <a:xfrm>
            <a:off x="484550" y="1561000"/>
            <a:ext cx="2924700" cy="3090300"/>
            <a:chOff x="484550" y="1561000"/>
            <a:chExt cx="2924700" cy="3090300"/>
          </a:xfrm>
        </p:grpSpPr>
        <p:sp>
          <p:nvSpPr>
            <p:cNvPr id="226" name="Google Shape;226;p35"/>
            <p:cNvSpPr/>
            <p:nvPr/>
          </p:nvSpPr>
          <p:spPr>
            <a:xfrm>
              <a:off x="484550" y="1561000"/>
              <a:ext cx="2924700" cy="3090300"/>
            </a:xfrm>
            <a:prstGeom prst="roundRect">
              <a:avLst>
                <a:gd name="adj" fmla="val 3190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227" name="img_plan_count_by_statut_pie"/>
            <p:cNvPicPr preferRelativeResize="0"/>
            <p:nvPr/>
          </p:nvPicPr>
          <p:blipFill rotWithShape="1">
            <a:blip r:embed="rId7">
              <a:alphaModFix/>
            </a:blip>
            <a:srcRect t="228" b="219"/>
            <a:stretch/>
          </p:blipFill>
          <p:spPr>
            <a:xfrm>
              <a:off x="599032" y="1848675"/>
              <a:ext cx="2714491" cy="2750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35"/>
            <p:cNvSpPr txBox="1"/>
            <p:nvPr/>
          </p:nvSpPr>
          <p:spPr>
            <a:xfrm>
              <a:off x="549012" y="1708572"/>
              <a:ext cx="2190300" cy="1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Répartition des actions par statut</a:t>
              </a:r>
              <a:endParaRPr sz="1214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</p:grpSp>
      <p:sp>
        <p:nvSpPr>
          <p:cNvPr id="229" name="Google Shape;229;p35"/>
          <p:cNvSpPr txBox="1">
            <a:spLocks noGrp="1"/>
          </p:cNvSpPr>
          <p:nvPr>
            <p:ph type="sldNum" idx="12"/>
          </p:nvPr>
        </p:nvSpPr>
        <p:spPr>
          <a:xfrm>
            <a:off x="8472458" y="4678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  <p:sp>
        <p:nvSpPr>
          <p:cNvPr id="230" name="Google Shape;230;p35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1" name="Google Shape;231;p35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32" name="img_collectivite_logo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4236" y="265816"/>
            <a:ext cx="923528" cy="25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/>
          <p:nvPr/>
        </p:nvSpPr>
        <p:spPr>
          <a:xfrm>
            <a:off x="484550" y="1561000"/>
            <a:ext cx="8132400" cy="3283500"/>
          </a:xfrm>
          <a:prstGeom prst="roundRect">
            <a:avLst>
              <a:gd name="adj" fmla="val 3190"/>
            </a:avLst>
          </a:prstGeom>
          <a:solidFill>
            <a:srgbClr val="FFFFFF"/>
          </a:solidFill>
          <a:ln w="96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2525" tIns="92525" rIns="92525" bIns="92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16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p36"/>
          <p:cNvSpPr txBox="1"/>
          <p:nvPr/>
        </p:nvSpPr>
        <p:spPr>
          <a:xfrm>
            <a:off x="318950" y="1326450"/>
            <a:ext cx="842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AA8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9" name="img_plan_progress_by_axe_chart"/>
          <p:cNvPicPr preferRelativeResize="0">
            <a:picLocks/>
          </p:cNvPicPr>
          <p:nvPr/>
        </p:nvPicPr>
        <p:blipFill>
          <a:blip r:embed="rId3">
            <a:alphaModFix/>
          </a:blip>
          <a:srcRect/>
          <a:stretch/>
        </p:blipFill>
        <p:spPr>
          <a:xfrm>
            <a:off x="690384" y="1724725"/>
            <a:ext cx="7763231" cy="30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6"/>
          <p:cNvSpPr txBox="1">
            <a:spLocks noGrp="1"/>
          </p:cNvSpPr>
          <p:nvPr>
            <p:ph type="ctrTitle"/>
          </p:nvPr>
        </p:nvSpPr>
        <p:spPr>
          <a:xfrm>
            <a:off x="484550" y="1128025"/>
            <a:ext cx="8202300" cy="2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accent2"/>
                </a:solidFill>
              </a:rPr>
              <a:t>Avancement du plan </a:t>
            </a:r>
            <a:endParaRPr sz="1600"/>
          </a:p>
        </p:txBody>
      </p:sp>
      <p:sp>
        <p:nvSpPr>
          <p:cNvPr id="241" name="Google Shape;241;p36"/>
          <p:cNvSpPr txBox="1">
            <a:spLocks noGrp="1"/>
          </p:cNvSpPr>
          <p:nvPr>
            <p:ph type="sldNum" idx="12"/>
          </p:nvPr>
        </p:nvSpPr>
        <p:spPr>
          <a:xfrm>
            <a:off x="8472458" y="4678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sp>
        <p:nvSpPr>
          <p:cNvPr id="242" name="Google Shape;242;p36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3" name="Google Shape;243;p36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68CDBA6D-CBA6-7219-DFB8-423BC8CD0D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236" y="265816"/>
            <a:ext cx="923528" cy="25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Données territoriales</a:t>
            </a:r>
            <a:endParaRPr/>
          </a:p>
        </p:txBody>
      </p:sp>
      <p:sp>
        <p:nvSpPr>
          <p:cNvPr id="250" name="Google Shape;250;p37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  <p:pic>
        <p:nvPicPr>
          <p:cNvPr id="251" name="Google Shape;251;p37" title="location-fr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980" y="1615450"/>
            <a:ext cx="954000" cy="9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7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5" name="Google Shape;255;p37"/>
          <p:cNvSpPr txBox="1">
            <a:spLocks noGrp="1"/>
          </p:cNvSpPr>
          <p:nvPr>
            <p:ph type="title" idx="2"/>
          </p:nvPr>
        </p:nvSpPr>
        <p:spPr>
          <a:xfrm>
            <a:off x="1014150" y="322721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{{COLLECTIVITE_NOM}}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0C68804F-9258-9E0F-E562-4719088F1F0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236" y="265816"/>
            <a:ext cx="923528" cy="25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  <p:sp>
        <p:nvSpPr>
          <p:cNvPr id="261" name="Google Shape;261;p38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2" name="img_emission_ges_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9071" y="1049661"/>
            <a:ext cx="6420531" cy="353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8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64" name="Google Shape;264;p38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" name="img_collectivite_logo">
            <a:extLst>
              <a:ext uri="{FF2B5EF4-FFF2-40B4-BE49-F238E27FC236}">
                <a16:creationId xmlns:a16="http://schemas.microsoft.com/office/drawing/2014/main" id="{5E272CE8-D478-7312-4A92-FD2E446B7E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236" y="265816"/>
            <a:ext cx="923528" cy="25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39"/>
          <p:cNvSpPr txBox="1">
            <a:spLocks noGrp="1"/>
          </p:cNvSpPr>
          <p:nvPr>
            <p:ph type="sldNum" idx="12"/>
          </p:nvPr>
        </p:nvSpPr>
        <p:spPr>
          <a:xfrm>
            <a:off x="8472458" y="4678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  <p:sp>
        <p:nvSpPr>
          <p:cNvPr id="272" name="Google Shape;272;p39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3" name="Google Shape;273;p39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75" name="img_consommation_finale_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6299" y="1074499"/>
            <a:ext cx="6371583" cy="3489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EDB6EAD7-5C5F-0979-E660-386CB976C1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236" y="265816"/>
            <a:ext cx="923528" cy="25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sp>
        <p:nvSpPr>
          <p:cNvPr id="282" name="Google Shape;282;p40"/>
          <p:cNvSpPr/>
          <p:nvPr/>
        </p:nvSpPr>
        <p:spPr>
          <a:xfrm>
            <a:off x="1092925" y="914400"/>
            <a:ext cx="6824400" cy="3809400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p40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4" name="Google Shape;284;p40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86" name="img_production_renouvelable_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6957" y="1134603"/>
            <a:ext cx="6436337" cy="3433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20B39220-FDAA-CBF8-0830-2F46235E97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236" y="265816"/>
            <a:ext cx="923528" cy="25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>
            <a:spLocks noGrp="1"/>
          </p:cNvSpPr>
          <p:nvPr>
            <p:ph type="title"/>
          </p:nvPr>
        </p:nvSpPr>
        <p:spPr>
          <a:xfrm>
            <a:off x="576300" y="2754350"/>
            <a:ext cx="79914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Avancement des axes et leur actions</a:t>
            </a:r>
            <a:endParaRPr/>
          </a:p>
        </p:txBody>
      </p:sp>
      <p:sp>
        <p:nvSpPr>
          <p:cNvPr id="292" name="Google Shape;292;p41"/>
          <p:cNvSpPr txBox="1">
            <a:spLocks noGrp="1"/>
          </p:cNvSpPr>
          <p:nvPr>
            <p:ph type="sldNum" idx="12"/>
          </p:nvPr>
        </p:nvSpPr>
        <p:spPr>
          <a:xfrm>
            <a:off x="8567700" y="4820999"/>
            <a:ext cx="548700" cy="3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pic>
        <p:nvPicPr>
          <p:cNvPr id="293" name="Google Shape;293;p41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4450" y="1722100"/>
            <a:ext cx="952525" cy="9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1"/>
          <p:cNvSpPr txBox="1">
            <a:spLocks noGrp="1"/>
          </p:cNvSpPr>
          <p:nvPr>
            <p:ph type="title" idx="2"/>
          </p:nvPr>
        </p:nvSpPr>
        <p:spPr>
          <a:xfrm>
            <a:off x="1014150" y="3227213"/>
            <a:ext cx="7115700" cy="25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{{COLLECTIVITE_NOM}}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41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6" name="Google Shape;296;p41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C9D413EF-834D-0091-C229-C362051E55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236" y="265816"/>
            <a:ext cx="923528" cy="25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 txBox="1">
            <a:spLocks noGrp="1"/>
          </p:cNvSpPr>
          <p:nvPr>
            <p:ph type="ctrTitle"/>
          </p:nvPr>
        </p:nvSpPr>
        <p:spPr>
          <a:xfrm>
            <a:off x="484550" y="973725"/>
            <a:ext cx="8202300" cy="40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{{AXE_NOM}}</a:t>
            </a:r>
            <a:endParaRPr sz="1600"/>
          </a:p>
        </p:txBody>
      </p:sp>
      <p:grpSp>
        <p:nvGrpSpPr>
          <p:cNvPr id="303" name="Google Shape;303;p42"/>
          <p:cNvGrpSpPr/>
          <p:nvPr/>
        </p:nvGrpSpPr>
        <p:grpSpPr>
          <a:xfrm>
            <a:off x="3561978" y="1561000"/>
            <a:ext cx="5124900" cy="928200"/>
            <a:chOff x="3561978" y="1561000"/>
            <a:chExt cx="5124900" cy="928200"/>
          </a:xfrm>
        </p:grpSpPr>
        <p:sp>
          <p:nvSpPr>
            <p:cNvPr id="304" name="Google Shape;304;p42"/>
            <p:cNvSpPr/>
            <p:nvPr/>
          </p:nvSpPr>
          <p:spPr>
            <a:xfrm>
              <a:off x="3561978" y="1561000"/>
              <a:ext cx="5124900" cy="9282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5" name="Google Shape;305;p42"/>
            <p:cNvSpPr txBox="1"/>
            <p:nvPr/>
          </p:nvSpPr>
          <p:spPr>
            <a:xfrm>
              <a:off x="4260934" y="1962453"/>
              <a:ext cx="27507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Avancement global des actions :</a:t>
              </a:r>
              <a:r>
                <a:rPr lang="fr" sz="91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{{AXE_PROGRESS}}%</a:t>
              </a:r>
              <a:endParaRPr sz="1214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306" name="Google Shape;306;p42" title="Trajectoire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79855" y="1819559"/>
              <a:ext cx="443113" cy="44311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7" name="Google Shape;307;p42"/>
          <p:cNvGrpSpPr/>
          <p:nvPr/>
        </p:nvGrpSpPr>
        <p:grpSpPr>
          <a:xfrm>
            <a:off x="3561950" y="3723075"/>
            <a:ext cx="5124900" cy="928200"/>
            <a:chOff x="3561950" y="3723075"/>
            <a:chExt cx="5124900" cy="928200"/>
          </a:xfrm>
        </p:grpSpPr>
        <p:sp>
          <p:nvSpPr>
            <p:cNvPr id="308" name="Google Shape;308;p42"/>
            <p:cNvSpPr/>
            <p:nvPr/>
          </p:nvSpPr>
          <p:spPr>
            <a:xfrm>
              <a:off x="3561950" y="3723075"/>
              <a:ext cx="5124900" cy="9282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9" name="Google Shape;309;p42"/>
            <p:cNvSpPr txBox="1"/>
            <p:nvPr/>
          </p:nvSpPr>
          <p:spPr>
            <a:xfrm>
              <a:off x="4260977" y="4034050"/>
              <a:ext cx="3318900" cy="4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Budget prévisionnel :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{{AXE_BUDGET_TOTAL}} HT </a:t>
              </a:r>
              <a:b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</a:br>
              <a:r>
                <a:rPr lang="fr" sz="85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({{AXE_BUDGET_INVESTISSEMENT}} investissement + {{AXE_BUDGET_FONCTIONNEMENT}} fonctionnement)</a:t>
              </a:r>
              <a:endParaRPr sz="1011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310" name="Google Shape;310;p42" title="money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93483" y="3983756"/>
              <a:ext cx="404813" cy="4047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1" name="Google Shape;311;p42"/>
          <p:cNvGrpSpPr/>
          <p:nvPr/>
        </p:nvGrpSpPr>
        <p:grpSpPr>
          <a:xfrm>
            <a:off x="3561950" y="2653471"/>
            <a:ext cx="5124900" cy="928200"/>
            <a:chOff x="3561950" y="2653471"/>
            <a:chExt cx="5124900" cy="928200"/>
          </a:xfrm>
        </p:grpSpPr>
        <p:sp>
          <p:nvSpPr>
            <p:cNvPr id="312" name="Google Shape;312;p42"/>
            <p:cNvSpPr/>
            <p:nvPr/>
          </p:nvSpPr>
          <p:spPr>
            <a:xfrm>
              <a:off x="3561950" y="2653471"/>
              <a:ext cx="5124900" cy="9282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96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2525" tIns="92525" rIns="92525" bIns="92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16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3" name="Google Shape;313;p42"/>
            <p:cNvSpPr txBox="1"/>
            <p:nvPr/>
          </p:nvSpPr>
          <p:spPr>
            <a:xfrm>
              <a:off x="4197315" y="2972682"/>
              <a:ext cx="4489500" cy="60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91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Structure du plan</a:t>
              </a:r>
              <a:endParaRPr sz="91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13"/>
                <a:buFont typeface="Arial"/>
                <a:buNone/>
              </a:pP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{{SOUS_AXES_COUNT}}</a:t>
              </a:r>
              <a:r>
                <a:rPr lang="fr" sz="1011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</a:t>
              </a:r>
              <a:r>
                <a:rPr lang="fr" sz="1011">
                  <a:solidFill>
                    <a:schemeClr val="accent2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sous-axes -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{{INDICATEURS_COUNT}}</a:t>
              </a:r>
              <a:r>
                <a:rPr lang="fr" sz="1011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indicateurs -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{{FICHES_COUNT}}</a:t>
              </a:r>
              <a:r>
                <a:rPr lang="fr" sz="1011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</a:t>
              </a:r>
              <a:r>
                <a:rPr lang="fr" sz="1011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actions - </a:t>
              </a:r>
              <a:r>
                <a:rPr lang="fr" sz="1011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{{SOUS_FICHES_COUNT}}</a:t>
              </a:r>
              <a:r>
                <a:rPr lang="fr" sz="1011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 </a:t>
              </a:r>
              <a:r>
                <a:rPr lang="fr" sz="1011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sous-actions</a:t>
              </a:r>
              <a:endParaRPr sz="1214">
                <a:solidFill>
                  <a:srgbClr val="48A775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314" name="Google Shape;314;p42" title="Dashboard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79865" y="2910665"/>
              <a:ext cx="443113" cy="4430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5" name="Google Shape;315;p42"/>
          <p:cNvSpPr txBox="1">
            <a:spLocks noGrp="1"/>
          </p:cNvSpPr>
          <p:nvPr>
            <p:ph type="sldNum" idx="12"/>
          </p:nvPr>
        </p:nvSpPr>
        <p:spPr>
          <a:xfrm>
            <a:off x="8472458" y="4678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316" name="Google Shape;316;p42"/>
          <p:cNvSpPr txBox="1"/>
          <p:nvPr/>
        </p:nvSpPr>
        <p:spPr>
          <a:xfrm>
            <a:off x="700400" y="2947450"/>
            <a:ext cx="24930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Aucune action dans cet axe.</a:t>
            </a:r>
            <a:endParaRPr sz="1000" u="sng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7" name="Google Shape;317;p42"/>
          <p:cNvPicPr preferRelativeResize="0"/>
          <p:nvPr/>
        </p:nvPicPr>
        <p:blipFill rotWithShape="1">
          <a:blip r:embed="rId6">
            <a:alphaModFix/>
          </a:blip>
          <a:srcRect t="228" b="219"/>
          <a:stretch/>
        </p:blipFill>
        <p:spPr>
          <a:xfrm>
            <a:off x="599032" y="1848675"/>
            <a:ext cx="2714491" cy="275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2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19" name="Google Shape;319;p42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321" name="Google Shape;321;p42"/>
          <p:cNvGrpSpPr/>
          <p:nvPr/>
        </p:nvGrpSpPr>
        <p:grpSpPr>
          <a:xfrm>
            <a:off x="484550" y="1561000"/>
            <a:ext cx="2924700" cy="3090300"/>
            <a:chOff x="484550" y="1561000"/>
            <a:chExt cx="2924700" cy="3090300"/>
          </a:xfrm>
        </p:grpSpPr>
        <p:grpSp>
          <p:nvGrpSpPr>
            <p:cNvPr id="322" name="Google Shape;322;p42"/>
            <p:cNvGrpSpPr/>
            <p:nvPr/>
          </p:nvGrpSpPr>
          <p:grpSpPr>
            <a:xfrm>
              <a:off x="484550" y="1561000"/>
              <a:ext cx="2924700" cy="3090300"/>
              <a:chOff x="484550" y="1561000"/>
              <a:chExt cx="2924700" cy="3090300"/>
            </a:xfrm>
          </p:grpSpPr>
          <p:sp>
            <p:nvSpPr>
              <p:cNvPr id="323" name="Google Shape;323;p42"/>
              <p:cNvSpPr/>
              <p:nvPr/>
            </p:nvSpPr>
            <p:spPr>
              <a:xfrm>
                <a:off x="484550" y="1561000"/>
                <a:ext cx="2924700" cy="3090300"/>
              </a:xfrm>
              <a:prstGeom prst="roundRect">
                <a:avLst>
                  <a:gd name="adj" fmla="val 3190"/>
                </a:avLst>
              </a:prstGeom>
              <a:solidFill>
                <a:srgbClr val="FFFFFF"/>
              </a:solidFill>
              <a:ln w="9625" cap="flat" cmpd="sng">
                <a:solidFill>
                  <a:srgbClr val="EEEEE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2525" tIns="92525" rIns="92525" bIns="925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16"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324" name="Google Shape;324;p42"/>
              <p:cNvSpPr txBox="1"/>
              <p:nvPr/>
            </p:nvSpPr>
            <p:spPr>
              <a:xfrm>
                <a:off x="549012" y="1708572"/>
                <a:ext cx="2190300" cy="1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13"/>
                  <a:buFont typeface="Arial"/>
                  <a:buNone/>
                </a:pPr>
                <a:r>
                  <a:rPr lang="fr" sz="910" b="1">
                    <a:solidFill>
                      <a:schemeClr val="dk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Répartition des actions par statut</a:t>
                </a:r>
                <a:endParaRPr sz="1214">
                  <a:solidFill>
                    <a:srgbClr val="48A775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endParaRPr>
              </a:p>
            </p:txBody>
          </p:sp>
        </p:grpSp>
        <p:pic>
          <p:nvPicPr>
            <p:cNvPr id="325" name="img_axe_count_by_statut_pie"/>
            <p:cNvPicPr preferRelativeResize="0"/>
            <p:nvPr/>
          </p:nvPicPr>
          <p:blipFill rotWithShape="1">
            <a:blip r:embed="rId6">
              <a:alphaModFix/>
            </a:blip>
            <a:srcRect t="228" b="219"/>
            <a:stretch/>
          </p:blipFill>
          <p:spPr>
            <a:xfrm>
              <a:off x="599032" y="1848675"/>
              <a:ext cx="2714491" cy="2750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txt_axe_no_fiche_info"/>
            <p:cNvSpPr txBox="1"/>
            <p:nvPr/>
          </p:nvSpPr>
          <p:spPr>
            <a:xfrm>
              <a:off x="700400" y="2947450"/>
              <a:ext cx="2493000" cy="31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000" dirty="0">
                  <a:solidFill>
                    <a:srgbClr val="B7B7B7"/>
                  </a:solidFill>
                  <a:latin typeface="Poppins"/>
                  <a:ea typeface="Poppins"/>
                  <a:cs typeface="Poppins"/>
                  <a:sym typeface="Poppins"/>
                </a:rPr>
                <a:t>Aucune action dans cet axe.</a:t>
              </a:r>
              <a:endParaRPr sz="1000" u="sng" dirty="0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A9096E7B-1A62-F95B-3D56-09CB2412BAC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4236" y="265816"/>
            <a:ext cx="923528" cy="25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3" title="insert_image.png"/>
          <p:cNvPicPr preferRelativeResize="0"/>
          <p:nvPr/>
        </p:nvPicPr>
        <p:blipFill rotWithShape="1">
          <a:blip r:embed="rId3">
            <a:alphaModFix/>
          </a:blip>
          <a:srcRect l="258" r="268"/>
          <a:stretch/>
        </p:blipFill>
        <p:spPr>
          <a:xfrm>
            <a:off x="6437215" y="781966"/>
            <a:ext cx="2712900" cy="4367109"/>
          </a:xfrm>
          <a:prstGeom prst="rect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8" name="txt_fiche_statut_REALISE"/>
          <p:cNvSpPr/>
          <p:nvPr/>
        </p:nvSpPr>
        <p:spPr>
          <a:xfrm>
            <a:off x="7915849" y="907450"/>
            <a:ext cx="1032600" cy="317400"/>
          </a:xfrm>
          <a:prstGeom prst="roundRect">
            <a:avLst>
              <a:gd name="adj" fmla="val 16667"/>
            </a:avLst>
          </a:prstGeom>
          <a:solidFill>
            <a:srgbClr val="E5FCF0"/>
          </a:solidFill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>
                <a:solidFill>
                  <a:srgbClr val="6AA84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RÉALISÉ à 100%</a:t>
            </a:r>
            <a:endParaRPr sz="1100" b="0" i="0" u="none" strike="noStrike" cap="none">
              <a:solidFill>
                <a:srgbClr val="6AA84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9" name="txt_fiche_statut_SANS_STATUT"/>
          <p:cNvSpPr/>
          <p:nvPr/>
        </p:nvSpPr>
        <p:spPr>
          <a:xfrm>
            <a:off x="8112349" y="904313"/>
            <a:ext cx="8379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6666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NON DÉFINI</a:t>
            </a:r>
            <a:endParaRPr sz="1100" b="0" i="0" u="none" strike="noStrike" cap="none" dirty="0">
              <a:solidFill>
                <a:srgbClr val="6666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0" name="txt_fiche_statut_A_DISCUTER"/>
          <p:cNvSpPr/>
          <p:nvPr/>
        </p:nvSpPr>
        <p:spPr>
          <a:xfrm>
            <a:off x="8020699" y="907450"/>
            <a:ext cx="8886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9352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352C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À DISCUTER</a:t>
            </a:r>
            <a:endParaRPr sz="1100" b="0" i="0" u="none" strike="noStrike" cap="none" dirty="0">
              <a:solidFill>
                <a:srgbClr val="9352C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1" name="txt_fiche_statut_BLOQUE"/>
          <p:cNvSpPr/>
          <p:nvPr/>
        </p:nvSpPr>
        <p:spPr>
          <a:xfrm>
            <a:off x="8262524" y="907450"/>
            <a:ext cx="6615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FAA9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FAA90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BLOQUÉ</a:t>
            </a:r>
            <a:endParaRPr sz="1100" b="0" i="0" u="none" strike="noStrike" cap="none" dirty="0">
              <a:solidFill>
                <a:srgbClr val="FAA90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2" name="txt_fiche_statut_ABANDONNE"/>
          <p:cNvSpPr/>
          <p:nvPr/>
        </p:nvSpPr>
        <p:spPr>
          <a:xfrm>
            <a:off x="7954999" y="907450"/>
            <a:ext cx="9543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6666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ABANDONNÉ</a:t>
            </a:r>
            <a:endParaRPr sz="1100" b="0" i="0" u="none" strike="noStrike" cap="none" dirty="0">
              <a:solidFill>
                <a:srgbClr val="6666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3" name="txt_fiche_statut_EN_RETARD"/>
          <p:cNvSpPr/>
          <p:nvPr/>
        </p:nvSpPr>
        <p:spPr>
          <a:xfrm>
            <a:off x="8089699" y="907643"/>
            <a:ext cx="801600" cy="317400"/>
          </a:xfrm>
          <a:prstGeom prst="roundRect">
            <a:avLst>
              <a:gd name="adj" fmla="val 16667"/>
            </a:avLst>
          </a:prstGeom>
          <a:solidFill>
            <a:srgbClr val="F9F9F9"/>
          </a:solidFill>
          <a:ln w="9525" cap="flat" cmpd="sng">
            <a:solidFill>
              <a:srgbClr val="F673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F6737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RETARD</a:t>
            </a:r>
            <a:endParaRPr sz="1100" b="0" i="0" u="none" strike="noStrike" cap="none" dirty="0">
              <a:solidFill>
                <a:srgbClr val="F6737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4" name="txt_fiche_statut_A_VENIR"/>
          <p:cNvSpPr/>
          <p:nvPr/>
        </p:nvSpPr>
        <p:spPr>
          <a:xfrm>
            <a:off x="8153299" y="907450"/>
            <a:ext cx="756000" cy="317400"/>
          </a:xfrm>
          <a:prstGeom prst="roundRect">
            <a:avLst>
              <a:gd name="adj" fmla="val 16667"/>
            </a:avLst>
          </a:prstGeom>
          <a:solidFill>
            <a:srgbClr val="F0F0FE"/>
          </a:solidFill>
          <a:ln w="9525" cap="flat" cmpd="sng">
            <a:solidFill>
              <a:srgbClr val="9352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9352C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À VENIR</a:t>
            </a:r>
            <a:endParaRPr sz="1100" b="0" i="0" u="none" strike="noStrike" cap="none" dirty="0">
              <a:solidFill>
                <a:srgbClr val="9352C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5" name="txt_fiche_statut_EN_COURS"/>
          <p:cNvSpPr/>
          <p:nvPr/>
        </p:nvSpPr>
        <p:spPr>
          <a:xfrm>
            <a:off x="8071549" y="907450"/>
            <a:ext cx="837900" cy="317400"/>
          </a:xfrm>
          <a:prstGeom prst="roundRect">
            <a:avLst>
              <a:gd name="adj" fmla="val 16667"/>
            </a:avLst>
          </a:prstGeom>
          <a:solidFill>
            <a:srgbClr val="EDF4FF"/>
          </a:solidFill>
          <a:ln w="9525" cap="flat" cmpd="sng">
            <a:solidFill>
              <a:srgbClr val="4380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72000" rIns="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 b="0" i="0" u="none" strike="noStrike" cap="none" dirty="0">
                <a:solidFill>
                  <a:srgbClr val="4380F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COURS</a:t>
            </a:r>
            <a:endParaRPr sz="1100" b="0" i="0" u="none" strike="noStrike" cap="none" dirty="0">
              <a:solidFill>
                <a:srgbClr val="4380F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31" name="Google Shape;331;p43"/>
          <p:cNvSpPr txBox="1">
            <a:spLocks noGrp="1"/>
          </p:cNvSpPr>
          <p:nvPr>
            <p:ph type="ctrTitle"/>
          </p:nvPr>
        </p:nvSpPr>
        <p:spPr>
          <a:xfrm>
            <a:off x="504725" y="1139825"/>
            <a:ext cx="56526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{{FICHE_TITRE}}</a:t>
            </a:r>
            <a:endParaRPr sz="1600"/>
          </a:p>
        </p:txBody>
      </p:sp>
      <p:sp>
        <p:nvSpPr>
          <p:cNvPr id="332" name="Google Shape;332;p43"/>
          <p:cNvSpPr txBox="1">
            <a:spLocks noGrp="1"/>
          </p:cNvSpPr>
          <p:nvPr>
            <p:ph type="sldNum" idx="12"/>
          </p:nvPr>
        </p:nvSpPr>
        <p:spPr>
          <a:xfrm>
            <a:off x="8572533" y="47327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grpSp>
        <p:nvGrpSpPr>
          <p:cNvPr id="333" name="Google Shape;333;p43"/>
          <p:cNvGrpSpPr/>
          <p:nvPr/>
        </p:nvGrpSpPr>
        <p:grpSpPr>
          <a:xfrm>
            <a:off x="493773" y="1804350"/>
            <a:ext cx="5652600" cy="940607"/>
            <a:chOff x="493773" y="1804350"/>
            <a:chExt cx="5652600" cy="940607"/>
          </a:xfrm>
        </p:grpSpPr>
        <p:sp>
          <p:nvSpPr>
            <p:cNvPr id="334" name="Google Shape;334;p43"/>
            <p:cNvSpPr/>
            <p:nvPr/>
          </p:nvSpPr>
          <p:spPr>
            <a:xfrm>
              <a:off x="493773" y="1804350"/>
              <a:ext cx="5652600" cy="7467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10250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8575" tIns="98575" rIns="98575" bIns="985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9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5" name="Google Shape;335;p43"/>
            <p:cNvSpPr txBox="1"/>
            <p:nvPr/>
          </p:nvSpPr>
          <p:spPr>
            <a:xfrm>
              <a:off x="1230573" y="2036957"/>
              <a:ext cx="30402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86"/>
                <a:buFont typeface="Arial"/>
                <a:buNone/>
              </a:pPr>
              <a:r>
                <a:rPr lang="fr" sz="97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Budget prévisionnel :  </a:t>
              </a:r>
              <a:r>
                <a:rPr lang="fr" sz="1078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{{FICHE_BUDGET_TOTAL}} HT </a:t>
              </a:r>
              <a:br>
                <a:rPr lang="fr" sz="903">
                  <a:solidFill>
                    <a:schemeClr val="accent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</a:br>
              <a:r>
                <a:rPr lang="fr" sz="85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({{FICHE_BUDGET_INVESTISSEMENT}} investissement + {{FICHE_BUDGET_FONCTIONNEMENT}} fonctionnement)</a:t>
              </a:r>
              <a:endParaRPr sz="903">
                <a:solidFill>
                  <a:schemeClr val="accent3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pic>
          <p:nvPicPr>
            <p:cNvPr id="336" name="Google Shape;336;p43" title="money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8523" y="1955664"/>
              <a:ext cx="431272" cy="4312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7" name="Google Shape;337;p43"/>
          <p:cNvSpPr txBox="1">
            <a:spLocks noGrp="1"/>
          </p:cNvSpPr>
          <p:nvPr>
            <p:ph type="ctrTitle"/>
          </p:nvPr>
        </p:nvSpPr>
        <p:spPr>
          <a:xfrm>
            <a:off x="504726" y="1392150"/>
            <a:ext cx="56526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Pilote</a:t>
            </a:r>
            <a:r>
              <a:rPr lang="fr" sz="1100" b="0">
                <a:solidFill>
                  <a:schemeClr val="dk2"/>
                </a:solidFill>
              </a:rPr>
              <a:t> : {{FICHE_PILOTES}} | </a:t>
            </a:r>
            <a:r>
              <a:rPr lang="fr" sz="1100">
                <a:solidFill>
                  <a:schemeClr val="dk2"/>
                </a:solidFill>
              </a:rPr>
              <a:t>Période</a:t>
            </a:r>
            <a:r>
              <a:rPr lang="fr" sz="1100" b="0">
                <a:solidFill>
                  <a:schemeClr val="dk2"/>
                </a:solidFill>
              </a:rPr>
              <a:t> : {{FICHE_DATE_DEBUT}} -&gt; {{FICHE_DATE_FIN}}</a:t>
            </a:r>
            <a:endParaRPr sz="1300"/>
          </a:p>
        </p:txBody>
      </p:sp>
      <p:grpSp>
        <p:nvGrpSpPr>
          <p:cNvPr id="339" name="Google Shape;339;p43"/>
          <p:cNvGrpSpPr/>
          <p:nvPr/>
        </p:nvGrpSpPr>
        <p:grpSpPr>
          <a:xfrm>
            <a:off x="493775" y="2658950"/>
            <a:ext cx="5652600" cy="1339800"/>
            <a:chOff x="493775" y="2658950"/>
            <a:chExt cx="5652600" cy="1339800"/>
          </a:xfrm>
        </p:grpSpPr>
        <p:sp>
          <p:nvSpPr>
            <p:cNvPr id="340" name="Google Shape;340;p43"/>
            <p:cNvSpPr/>
            <p:nvPr/>
          </p:nvSpPr>
          <p:spPr>
            <a:xfrm>
              <a:off x="493775" y="2658950"/>
              <a:ext cx="5652600" cy="1339800"/>
            </a:xfrm>
            <a:prstGeom prst="roundRect">
              <a:avLst>
                <a:gd name="adj" fmla="val 6187"/>
              </a:avLst>
            </a:prstGeom>
            <a:solidFill>
              <a:srgbClr val="FFFFFF"/>
            </a:solidFill>
            <a:ln w="10250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8575" tIns="98575" rIns="98575" bIns="985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9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1" name="Google Shape;341;p43"/>
            <p:cNvSpPr txBox="1"/>
            <p:nvPr/>
          </p:nvSpPr>
          <p:spPr>
            <a:xfrm>
              <a:off x="1230576" y="2891550"/>
              <a:ext cx="4751700" cy="65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70" b="1" dirty="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Information importante:  </a:t>
              </a:r>
              <a:endParaRPr sz="97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lvl="0" indent="-288954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50"/>
                <a:buFont typeface="Poppins Medium"/>
                <a:buChar char="●"/>
              </a:pPr>
              <a:r>
                <a:rPr lang="fr" sz="950" dirty="0">
                  <a:solidFill>
                    <a:schemeClr val="dk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Remplissez ici  les informations importantes concernant l'action</a:t>
              </a:r>
              <a:endParaRPr sz="95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marL="457200" lvl="0" indent="-288954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50"/>
                <a:buFont typeface="Poppins Medium"/>
                <a:buChar char="●"/>
              </a:pPr>
              <a:endParaRPr sz="95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marL="457200" lvl="0" indent="-288954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950"/>
                <a:buFont typeface="Poppins Medium"/>
                <a:buChar char="●"/>
              </a:pPr>
              <a:endParaRPr sz="950" dirty="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pic>
          <p:nvPicPr>
            <p:cNvPr id="342" name="Google Shape;342;p43" title="document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68525" y="2891550"/>
              <a:ext cx="431275" cy="431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3" name="grp_fiche_missing_info"/>
          <p:cNvGrpSpPr/>
          <p:nvPr/>
        </p:nvGrpSpPr>
        <p:grpSpPr>
          <a:xfrm>
            <a:off x="0" y="4743250"/>
            <a:ext cx="9144000" cy="400200"/>
            <a:chOff x="0" y="4743250"/>
            <a:chExt cx="9144000" cy="400200"/>
          </a:xfrm>
        </p:grpSpPr>
        <p:sp>
          <p:nvSpPr>
            <p:cNvPr id="344" name="Google Shape;344;p43"/>
            <p:cNvSpPr/>
            <p:nvPr/>
          </p:nvSpPr>
          <p:spPr>
            <a:xfrm>
              <a:off x="0" y="4743250"/>
              <a:ext cx="9144000" cy="400200"/>
            </a:xfrm>
            <a:prstGeom prst="roundRect">
              <a:avLst>
                <a:gd name="adj" fmla="val 49"/>
              </a:avLst>
            </a:prstGeom>
            <a:solidFill>
              <a:srgbClr val="FEF5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5" name="Google Shape;345;p43"/>
            <p:cNvSpPr txBox="1"/>
            <p:nvPr/>
          </p:nvSpPr>
          <p:spPr>
            <a:xfrm>
              <a:off x="329363" y="4779075"/>
              <a:ext cx="5817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900" b="1">
                  <a:solidFill>
                    <a:srgbClr val="FAA90C"/>
                  </a:solidFill>
                  <a:latin typeface="Poppins"/>
                  <a:ea typeface="Poppins"/>
                  <a:cs typeface="Poppins"/>
                  <a:sym typeface="Poppins"/>
                </a:rPr>
                <a:t>Des informations sont manquantes : {{MISSING_INFO}}.</a:t>
              </a:r>
              <a:endParaRPr sz="900" b="1">
                <a:solidFill>
                  <a:srgbClr val="FAA90C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46" name="txt_fiche_fill_missing_info_link">
              <a:hlinkClick r:id="rId6"/>
            </p:cNvPr>
            <p:cNvSpPr/>
            <p:nvPr/>
          </p:nvSpPr>
          <p:spPr>
            <a:xfrm>
              <a:off x="7520850" y="4818100"/>
              <a:ext cx="1490100" cy="250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rgbClr val="EEEE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800" dirty="0">
                  <a:solidFill>
                    <a:srgbClr val="43434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Cliquez pour les ajouter</a:t>
              </a:r>
              <a:endParaRPr sz="800" dirty="0">
                <a:solidFill>
                  <a:srgbClr val="434343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pic>
          <p:nvPicPr>
            <p:cNvPr id="347" name="Google Shape;347;p43" title="Icône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51200" y="4871325"/>
              <a:ext cx="138600" cy="13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43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7" name="Google Shape;357;p43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B345B200-BE6A-23E8-1CCE-922B8B2C2A9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4236" y="265816"/>
            <a:ext cx="923528" cy="25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5"/>
          <p:cNvSpPr txBox="1">
            <a:spLocks noGrp="1"/>
          </p:cNvSpPr>
          <p:nvPr>
            <p:ph type="ctrTitle"/>
          </p:nvPr>
        </p:nvSpPr>
        <p:spPr>
          <a:xfrm>
            <a:off x="318950" y="1051600"/>
            <a:ext cx="8460300" cy="250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Indicateurs : {{FICHE_TITRE}} </a:t>
            </a:r>
            <a:endParaRPr sz="1600"/>
          </a:p>
        </p:txBody>
      </p:sp>
      <p:sp>
        <p:nvSpPr>
          <p:cNvPr id="383" name="Google Shape;383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grpSp>
        <p:nvGrpSpPr>
          <p:cNvPr id="384" name="grp_fiche_indicateur_chart_1"/>
          <p:cNvGrpSpPr/>
          <p:nvPr/>
        </p:nvGrpSpPr>
        <p:grpSpPr>
          <a:xfrm>
            <a:off x="172000" y="1543207"/>
            <a:ext cx="2818800" cy="3198788"/>
            <a:chOff x="172000" y="1543275"/>
            <a:chExt cx="2818800" cy="3096900"/>
          </a:xfrm>
        </p:grpSpPr>
        <p:sp>
          <p:nvSpPr>
            <p:cNvPr id="385" name="Google Shape;385;p45"/>
            <p:cNvSpPr/>
            <p:nvPr/>
          </p:nvSpPr>
          <p:spPr>
            <a:xfrm>
              <a:off x="172000" y="1543275"/>
              <a:ext cx="2818800" cy="3096900"/>
            </a:xfrm>
            <a:prstGeom prst="roundRect">
              <a:avLst>
                <a:gd name="adj" fmla="val 2458"/>
              </a:avLst>
            </a:pr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386" name="img_fiche_indicateur_chart_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5325" y="1602325"/>
              <a:ext cx="2716225" cy="30065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7" name="grp_fiche_indicateur_chart_2"/>
          <p:cNvGrpSpPr/>
          <p:nvPr/>
        </p:nvGrpSpPr>
        <p:grpSpPr>
          <a:xfrm>
            <a:off x="3139700" y="1557732"/>
            <a:ext cx="2818800" cy="3198788"/>
            <a:chOff x="172000" y="1543275"/>
            <a:chExt cx="2818800" cy="3096900"/>
          </a:xfrm>
        </p:grpSpPr>
        <p:sp>
          <p:nvSpPr>
            <p:cNvPr id="388" name="Google Shape;388;p45"/>
            <p:cNvSpPr/>
            <p:nvPr/>
          </p:nvSpPr>
          <p:spPr>
            <a:xfrm>
              <a:off x="172000" y="1543275"/>
              <a:ext cx="2818800" cy="3096900"/>
            </a:xfrm>
            <a:prstGeom prst="roundRect">
              <a:avLst>
                <a:gd name="adj" fmla="val 2458"/>
              </a:avLst>
            </a:pr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389" name="img_fiche_indicateur_chart_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5325" y="1602325"/>
              <a:ext cx="2716225" cy="30065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0" name="grp_fiche_indicateur_chart_3"/>
          <p:cNvGrpSpPr/>
          <p:nvPr/>
        </p:nvGrpSpPr>
        <p:grpSpPr>
          <a:xfrm>
            <a:off x="6107400" y="1557732"/>
            <a:ext cx="2818800" cy="3198788"/>
            <a:chOff x="172000" y="1543275"/>
            <a:chExt cx="2818800" cy="3096900"/>
          </a:xfrm>
        </p:grpSpPr>
        <p:sp>
          <p:nvSpPr>
            <p:cNvPr id="391" name="Google Shape;391;p45"/>
            <p:cNvSpPr/>
            <p:nvPr/>
          </p:nvSpPr>
          <p:spPr>
            <a:xfrm>
              <a:off x="172000" y="1543275"/>
              <a:ext cx="2818800" cy="3096900"/>
            </a:xfrm>
            <a:prstGeom prst="roundRect">
              <a:avLst>
                <a:gd name="adj" fmla="val 2458"/>
              </a:avLst>
            </a:pr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pic>
          <p:nvPicPr>
            <p:cNvPr id="392" name="img_fiche_indicateur_chart_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5325" y="1602325"/>
              <a:ext cx="2716225" cy="30065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3" name="Google Shape;393;p45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94" name="Google Shape;394;p45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DEC5F2D7-1360-848C-82BC-D21576407C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236" y="265816"/>
            <a:ext cx="923528" cy="25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46" title="logo final + accroch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9675" y="182725"/>
            <a:ext cx="1375626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6"/>
          <p:cNvSpPr txBox="1"/>
          <p:nvPr/>
        </p:nvSpPr>
        <p:spPr>
          <a:xfrm>
            <a:off x="288500" y="1059775"/>
            <a:ext cx="77733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Données territoriales : 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Consommation d’énergie : </a:t>
            </a:r>
            <a:r>
              <a:rPr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https://ecologie.data.gouv.fr/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GES : </a:t>
            </a:r>
            <a:r>
              <a:rPr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https://ecologie.data.gouv.fr/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Char char="-"/>
            </a:pP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Production ENR : </a:t>
            </a:r>
            <a:r>
              <a:rPr lang="fr" sz="1200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https://ecologie.data.gouv.fr/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Rapport généré par </a:t>
            </a:r>
            <a:r>
              <a:rPr lang="fr" sz="1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Territoires en Transitions</a:t>
            </a:r>
            <a:endParaRPr sz="1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2" name="Google Shape;402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403" name="Google Shape;403;p46"/>
          <p:cNvSpPr txBox="1"/>
          <p:nvPr/>
        </p:nvSpPr>
        <p:spPr>
          <a:xfrm>
            <a:off x="1265200" y="183775"/>
            <a:ext cx="393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{{PLAN_NOM}}</a:t>
            </a:r>
            <a:endParaRPr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04" name="Google Shape;404;p46"/>
          <p:cNvSpPr txBox="1"/>
          <p:nvPr/>
        </p:nvSpPr>
        <p:spPr>
          <a:xfrm>
            <a:off x="1265200" y="399175"/>
            <a:ext cx="7115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99999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{{PLAN_TYPE}}</a:t>
            </a:r>
            <a:endParaRPr sz="900">
              <a:solidFill>
                <a:srgbClr val="99999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" name="img_collectivite_logo">
            <a:extLst>
              <a:ext uri="{FF2B5EF4-FFF2-40B4-BE49-F238E27FC236}">
                <a16:creationId xmlns:a16="http://schemas.microsoft.com/office/drawing/2014/main" id="{03B9FAE3-7D97-B54D-3CA5-9534EA559D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4236" y="265816"/>
            <a:ext cx="923528" cy="254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 TET">
  <a:themeElements>
    <a:clrScheme name="Simple Light">
      <a:dk1>
        <a:srgbClr val="154C88"/>
      </a:dk1>
      <a:lt1>
        <a:srgbClr val="FAFBFF"/>
      </a:lt1>
      <a:dk2>
        <a:srgbClr val="5D5D79"/>
      </a:dk2>
      <a:lt2>
        <a:srgbClr val="EEEEEE"/>
      </a:lt2>
      <a:accent1>
        <a:srgbClr val="0B5EBE"/>
      </a:accent1>
      <a:accent2>
        <a:srgbClr val="05458D"/>
      </a:accent2>
      <a:accent3>
        <a:srgbClr val="6FA8DC"/>
      </a:accent3>
      <a:accent4>
        <a:srgbClr val="F55B5B"/>
      </a:accent4>
      <a:accent5>
        <a:srgbClr val="4380F5"/>
      </a:accent5>
      <a:accent6>
        <a:srgbClr val="F4C44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 TET">
  <a:themeElements>
    <a:clrScheme name="Simple Light">
      <a:dk1>
        <a:srgbClr val="154C88"/>
      </a:dk1>
      <a:lt1>
        <a:srgbClr val="FAFBFF"/>
      </a:lt1>
      <a:dk2>
        <a:srgbClr val="5D5D79"/>
      </a:dk2>
      <a:lt2>
        <a:srgbClr val="EEEEEE"/>
      </a:lt2>
      <a:accent1>
        <a:srgbClr val="0B5EBE"/>
      </a:accent1>
      <a:accent2>
        <a:srgbClr val="05458D"/>
      </a:accent2>
      <a:accent3>
        <a:srgbClr val="6FA8DC"/>
      </a:accent3>
      <a:accent4>
        <a:srgbClr val="F55B5B"/>
      </a:accent4>
      <a:accent5>
        <a:srgbClr val="4380F5"/>
      </a:accent5>
      <a:accent6>
        <a:srgbClr val="F4C44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560</Words>
  <Application>Microsoft Macintosh PowerPoint</Application>
  <PresentationFormat>Affichage à l'écran (16:9)</PresentationFormat>
  <Paragraphs>92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Arial</vt:lpstr>
      <vt:lpstr>Poppins SemiBold</vt:lpstr>
      <vt:lpstr>Poppins</vt:lpstr>
      <vt:lpstr>Poppins Medium</vt:lpstr>
      <vt:lpstr>Poppins ExtraBold</vt:lpstr>
      <vt:lpstr>Theme TET</vt:lpstr>
      <vt:lpstr>Theme TET</vt:lpstr>
      <vt:lpstr>{{PLAN_NOM}}</vt:lpstr>
      <vt:lpstr>Sommaire</vt:lpstr>
      <vt:lpstr>Synthèse du plan </vt:lpstr>
      <vt:lpstr>Synthèse du plan</vt:lpstr>
      <vt:lpstr>Avancement du plan </vt:lpstr>
      <vt:lpstr>Données territoriales</vt:lpstr>
      <vt:lpstr>Présentation PowerPoint</vt:lpstr>
      <vt:lpstr>Présentation PowerPoint</vt:lpstr>
      <vt:lpstr>Présentation PowerPoint</vt:lpstr>
      <vt:lpstr>Avancement des axes et leur actions</vt:lpstr>
      <vt:lpstr>{{AXE_NOM}}</vt:lpstr>
      <vt:lpstr>{{FICHE_TITRE}}</vt:lpstr>
      <vt:lpstr>Indicateurs : {{FICHE_TITRE}}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Thibaut Dusanter</cp:lastModifiedBy>
  <cp:revision>7</cp:revision>
  <dcterms:modified xsi:type="dcterms:W3CDTF">2025-12-22T15:31:26Z</dcterms:modified>
</cp:coreProperties>
</file>