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2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5143500" type="screen16x9"/>
  <p:notesSz cx="6858000" cy="9144000"/>
  <p:embeddedFontLst>
    <p:embeddedFont>
      <p:font typeface="Poppins" pitchFamily="2" charset="77"/>
      <p:regular r:id="rId24"/>
      <p:bold r:id="rId25"/>
      <p:italic r:id="rId26"/>
      <p:boldItalic r:id="rId27"/>
    </p:embeddedFont>
    <p:embeddedFont>
      <p:font typeface="Poppins ExtraBold" panose="00000900000000000000" pitchFamily="2" charset="77"/>
      <p:bold r:id="rId28"/>
      <p:italic r:id="rId29"/>
      <p:boldItalic r:id="rId30"/>
    </p:embeddedFont>
    <p:embeddedFont>
      <p:font typeface="Poppins Medium" panose="00000600000000000000" pitchFamily="2" charset="77"/>
      <p:regular r:id="rId31"/>
      <p:italic r:id="rId32"/>
    </p:embeddedFont>
    <p:embeddedFont>
      <p:font typeface="Poppins SemiBold" panose="00000700000000000000" pitchFamily="2" charset="77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colas VALLÉE" initials="" lastIdx="8" clrIdx="0"/>
  <p:cmAuthor id="1" name="Clément Saulnier" initials="" lastIdx="21" clrIdx="1"/>
  <p:cmAuthor id="2" name="Manon Bouvier" initials="" lastIdx="1" clrIdx="2"/>
  <p:cmAuthor id="3" name="thibaut dusanter" initials="" lastIdx="1" clrIdx="3"/>
  <p:cmAuthor id="4" name="Arnaud Morvan" initials="" lastIdx="3" clrIdx="4"/>
  <p:cmAuthor id="5" name="Territoires en Transitions" initials="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5A437C-706F-4A56-B884-62DC5EDBEEEA}">
  <a:tblStyle styleId="{7D5A437C-706F-4A56-B884-62DC5EDBEE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07"/>
    <p:restoredTop sz="94643"/>
  </p:normalViewPr>
  <p:slideViewPr>
    <p:cSldViewPr snapToGrid="0">
      <p:cViewPr varScale="1">
        <p:scale>
          <a:sx n="113" d="100"/>
          <a:sy n="113" d="100"/>
        </p:scale>
        <p:origin x="176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125f6b9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125f6b9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78b42931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878b42931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2ac6617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2ac6617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7733054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7733054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a20c2ba14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a20c2ba14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fdd9055c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fdd9055c2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aa20c2ba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aa20c2ba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fdd9055c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fdd9055c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9fdd9055c2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9fdd9055c2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2ac66177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2ac66177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2ac66177a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a2ac66177a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a573bcef67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a573bcef67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7733054b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a7733054b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9fdd9055c2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9fdd9055c2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a2ac66177a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a2ac66177a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a7733054b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a7733054ba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7733054ba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7733054ba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9fdd9055c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9fdd9055c2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7733054ba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7733054ba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a081d125a2_4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a081d125a2_4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a99574d14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a99574d14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2" name="Google Shape;62;p11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4" name="Google Shape;64;p11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" name="Google Shape;65;p11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6" name="Google Shape;66;p11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8" name="Google Shape;68;p11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0" name="Google Shape;70;p11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8" name="Google Shape;78;p14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80" name="Google Shape;80;p14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4" name="Google Shape;84;p15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87" name="Google Shape;87;p15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2" name="Google Shape;92;p16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3.png"/><Relationship Id="rId4" Type="http://schemas.openxmlformats.org/officeDocument/2006/relationships/hyperlink" Target="https://ecologie.data.gouv.f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1.png"/><Relationship Id="rId5" Type="http://schemas.openxmlformats.org/officeDocument/2006/relationships/image" Target="../media/image26.png"/><Relationship Id="rId1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{{PLAN_NOM}}</a:t>
            </a:r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{{REPORT_DATE}}</a:t>
            </a:r>
            <a:endParaRPr/>
          </a:p>
        </p:txBody>
      </p:sp>
      <p:pic>
        <p:nvPicPr>
          <p:cNvPr id="1026" name="img_collectivite_logo">
            <a:extLst>
              <a:ext uri="{FF2B5EF4-FFF2-40B4-BE49-F238E27FC236}">
                <a16:creationId xmlns:a16="http://schemas.microsoft.com/office/drawing/2014/main" id="{58A23416-87E8-EDA7-D7E4-5A846681B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550" y="1992319"/>
            <a:ext cx="1866900" cy="51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ctrTitle"/>
          </p:nvPr>
        </p:nvSpPr>
        <p:spPr>
          <a:xfrm>
            <a:off x="560677" y="1027025"/>
            <a:ext cx="32016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Sommaire</a:t>
            </a:r>
            <a:endParaRPr sz="1600"/>
          </a:p>
        </p:txBody>
      </p:sp>
      <p:pic>
        <p:nvPicPr>
          <p:cNvPr id="114" name="Google Shape;114;p19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976" y="932793"/>
            <a:ext cx="277210" cy="2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>
            <a:spLocks noGrp="1"/>
          </p:cNvSpPr>
          <p:nvPr>
            <p:ph type="title" idx="4294967295"/>
          </p:nvPr>
        </p:nvSpPr>
        <p:spPr>
          <a:xfrm>
            <a:off x="303975" y="1363350"/>
            <a:ext cx="82407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Synthèse du plan - page 3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Données territoriales - page 6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Avancement des axes et leur actions - page 1</a:t>
            </a:r>
            <a:endParaRPr sz="1100" dirty="0">
              <a:solidFill>
                <a:srgbClr val="404092"/>
              </a:solidFill>
            </a:endParaRPr>
          </a:p>
          <a:p>
            <a:pPr marL="914400" indent="-292100">
              <a:lnSpc>
                <a:spcPct val="150000"/>
              </a:lnSpc>
              <a:buClr>
                <a:srgbClr val="404092"/>
              </a:buClr>
              <a:buSzPts val="1000"/>
              <a:buFont typeface="Poppins"/>
              <a:buAutoNum type="arabicPeriod"/>
            </a:pPr>
            <a:r>
              <a:rPr lang="fr-FR" sz="1000" b="0" dirty="0">
                <a:solidFill>
                  <a:srgbClr val="404092"/>
                </a:solidFill>
              </a:rPr>
              <a:t>{{AXE_NOMS}}</a:t>
            </a:r>
          </a:p>
          <a:p>
            <a:pPr marL="457200" lvl="0" indent="-298450">
              <a:lnSpc>
                <a:spcPct val="150000"/>
              </a:lnSpc>
              <a:buClr>
                <a:srgbClr val="404092"/>
              </a:buClr>
              <a:buSzPts val="1100"/>
              <a:buFont typeface="+mj-lt"/>
              <a:buAutoNum type="alphaUcPeriod" startAt="4"/>
            </a:pPr>
            <a:r>
              <a:rPr lang="fr-FR" sz="1100" dirty="0">
                <a:solidFill>
                  <a:srgbClr val="404092"/>
                </a:solidFill>
              </a:rPr>
              <a:t>Données territoriales - page 6</a:t>
            </a:r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117" name="Google Shape;117;p1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9302A6F-815D-713B-5125-E85021715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Synthèse du plan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{{COLLECTIVITE_NOM}}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20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  <p:pic>
        <p:nvPicPr>
          <p:cNvPr id="127" name="Google Shape;127;p20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50" name="img_collectivite_logo">
            <a:extLst>
              <a:ext uri="{FF2B5EF4-FFF2-40B4-BE49-F238E27FC236}">
                <a16:creationId xmlns:a16="http://schemas.microsoft.com/office/drawing/2014/main" id="{62C33B4E-4F48-9263-5554-C73B73A55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36" name="Google Shape;136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  <p:sp>
        <p:nvSpPr>
          <p:cNvPr id="137" name="Google Shape;137;p21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3684848" y="2297778"/>
            <a:ext cx="1738200" cy="2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actions :</a:t>
            </a:r>
            <a:r>
              <a:rPr lang="fr" sz="91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33 %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39" name="Google Shape;139;p2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1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2" name="Google Shape;142;p21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1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5" name="Google Shape;145;p21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1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/>
        </p:nvSpPr>
        <p:spPr>
          <a:xfrm>
            <a:off x="6196398" y="2200718"/>
            <a:ext cx="2600700" cy="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11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107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256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8" name="Google Shape;148;p21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" name="Google Shape;150;p21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51" name="Google Shape;151;p21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1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3" name="Google Shape;153;p21" title="app.territoiresentransitions.fr_collectivite_5460_plans_tableau-de-bord.png"/>
          <p:cNvPicPr preferRelativeResize="0"/>
          <p:nvPr/>
        </p:nvPicPr>
        <p:blipFill rotWithShape="1">
          <a:blip r:embed="rId8">
            <a:alphaModFix/>
          </a:blip>
          <a:srcRect l="5823" t="7590" r="5814" b="4047"/>
          <a:stretch/>
        </p:blipFill>
        <p:spPr>
          <a:xfrm>
            <a:off x="433720" y="1821175"/>
            <a:ext cx="2145600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55" name="Google Shape;155;p2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6" name="Google Shape;156;p2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0AC98644-09D5-37ED-930D-066F9926C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  <p:sp>
        <p:nvSpPr>
          <p:cNvPr id="164" name="Google Shape;164;p22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5" name="Google Shape;165;p22"/>
          <p:cNvSpPr txBox="1"/>
          <p:nvPr/>
        </p:nvSpPr>
        <p:spPr>
          <a:xfrm>
            <a:off x="3684848" y="2297778"/>
            <a:ext cx="1738200" cy="45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</a:t>
            </a: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actions :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 {{PLAN_PROGRESS}}%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6" name="Google Shape;166;p22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9" name="Google Shape;169;p22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2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p22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2" name="Google Shape;172;p22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4" name="Google Shape;174;p22"/>
          <p:cNvSpPr txBox="1"/>
          <p:nvPr/>
        </p:nvSpPr>
        <p:spPr>
          <a:xfrm>
            <a:off x="6196398" y="2200718"/>
            <a:ext cx="2600700" cy="76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{{AXES_COUNT}}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{{INDICATEURS_COUNT}}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 suivi </a:t>
            </a:r>
            <a:b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</a:br>
            <a:r>
              <a:rPr lang="fr" sz="1011">
                <a:solidFill>
                  <a:schemeClr val="accent3"/>
                </a:solidFill>
                <a:latin typeface="Poppins ExtraBold"/>
                <a:ea typeface="Poppins Medium"/>
                <a:cs typeface="Poppins ExtraBold"/>
                <a:sym typeface="Poppins ExtraBold"/>
              </a:rPr>
              <a:t>{{FICHES_COUNT}}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5" name="Google Shape;175;p22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7" name="Google Shape;177;p22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8" name="Google Shape;178;p22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2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0" name="img_plan_count_by_statut_pie"/>
          <p:cNvPicPr preferRelativeResize="0"/>
          <p:nvPr/>
        </p:nvPicPr>
        <p:blipFill>
          <a:blip r:embed="rId8">
            <a:alphaModFix/>
          </a:blip>
          <a:srcRect t="224" b="224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2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F985AA8C-C44C-7306-7C91-6BAB95132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3"/>
          <p:cNvSpPr/>
          <p:nvPr/>
        </p:nvSpPr>
        <p:spPr>
          <a:xfrm>
            <a:off x="1046650" y="1415450"/>
            <a:ext cx="6758400" cy="34290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0" name="Google Shape;190;p23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191" name="Google Shape;191;p23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3" name="Google Shape;19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  <p:pic>
        <p:nvPicPr>
          <p:cNvPr id="194" name="img_plan_progress_by_axe_chart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1320125" y="1583893"/>
            <a:ext cx="6211451" cy="311205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96" name="Google Shape;196;p2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AD26B17A-CCE7-A91E-AE86-2388DBAAA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203" name="Google Shape;203;p24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204" name="Google Shape;204;p24"/>
          <p:cNvGraphicFramePr/>
          <p:nvPr/>
        </p:nvGraphicFramePr>
        <p:xfrm>
          <a:off x="260975" y="13264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{7D5A437C-706F-4A56-B884-62DC5EDBEEEA}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8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ID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AXE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AVANCEMENT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ACTIONS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Déchets &amp; Économie Circulaire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56%</a:t>
                      </a:r>
                      <a:endParaRPr sz="7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 Infrastructures Publiques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25%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11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Urbanisme &amp; Aménagement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12%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Puits de Carbone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54%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Biodiversité &amp; Adaptation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46%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6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Alimentation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89%</a:t>
                      </a:r>
                      <a:endParaRPr sz="10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Mobilités &amp; Déplacements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3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Énergies Renouvelables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93%</a:t>
                      </a:r>
                      <a:endParaRPr sz="7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9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Agriculture</a:t>
                      </a:r>
                      <a:endParaRPr sz="100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26%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10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Sensibilisation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22%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Numérique &amp; Données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29%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16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5" name="Google Shape;205;p24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  <p:sp>
        <p:nvSpPr>
          <p:cNvPr id="207" name="Google Shape;207;p2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08" name="Google Shape;208;p2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9" name="Google Shape;20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Données territoriales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  <p:pic>
        <p:nvPicPr>
          <p:cNvPr id="216" name="Google Shape;216;p25" title="location-fra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6980" y="1615450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D042D8F-7E8C-960F-1957-ED4084122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  <p:sp>
        <p:nvSpPr>
          <p:cNvPr id="225" name="Google Shape;225;p26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26" name="Google Shape;226;p26" title="Consommation énergétique finale.png"/>
          <p:cNvPicPr preferRelativeResize="0"/>
          <p:nvPr/>
        </p:nvPicPr>
        <p:blipFill rotWithShape="1">
          <a:blip r:embed="rId3">
            <a:alphaModFix/>
          </a:blip>
          <a:srcRect t="4269"/>
          <a:stretch/>
        </p:blipFill>
        <p:spPr>
          <a:xfrm>
            <a:off x="1372350" y="1223453"/>
            <a:ext cx="6399299" cy="3340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6"/>
          <p:cNvSpPr txBox="1">
            <a:spLocks noGrp="1"/>
          </p:cNvSpPr>
          <p:nvPr>
            <p:ph type="title" idx="4294967295"/>
          </p:nvPr>
        </p:nvSpPr>
        <p:spPr>
          <a:xfrm>
            <a:off x="1581275" y="136540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Consommation énergétique finale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sp>
        <p:nvSpPr>
          <p:cNvPr id="236" name="Google Shape;236;p27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37" name="Google Shape;237;p27" title="Émissions de gaz à effet de serre.png"/>
          <p:cNvPicPr preferRelativeResize="0"/>
          <p:nvPr/>
        </p:nvPicPr>
        <p:blipFill rotWithShape="1">
          <a:blip r:embed="rId3">
            <a:alphaModFix/>
          </a:blip>
          <a:srcRect t="4952"/>
          <a:stretch/>
        </p:blipFill>
        <p:spPr>
          <a:xfrm>
            <a:off x="1317300" y="1224906"/>
            <a:ext cx="6444073" cy="336363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7"/>
          <p:cNvSpPr txBox="1">
            <a:spLocks noGrp="1"/>
          </p:cNvSpPr>
          <p:nvPr>
            <p:ph type="title" idx="4294967295"/>
          </p:nvPr>
        </p:nvSpPr>
        <p:spPr>
          <a:xfrm>
            <a:off x="1317300" y="10423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Émission de gaz à effet de serre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9" name="Google Shape;239;p2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40" name="Google Shape;240;p2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41" name="Google Shape;24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7" name="Google Shape;24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248" name="Google Shape;248;p28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9" name="Google Shape;249;p28" title="Production d’énergie renouvelable du territoire.png"/>
          <p:cNvPicPr preferRelativeResize="0"/>
          <p:nvPr/>
        </p:nvPicPr>
        <p:blipFill rotWithShape="1">
          <a:blip r:embed="rId3">
            <a:alphaModFix/>
          </a:blip>
          <a:srcRect t="5069"/>
          <a:stretch/>
        </p:blipFill>
        <p:spPr>
          <a:xfrm>
            <a:off x="1283100" y="1308650"/>
            <a:ext cx="6444052" cy="3259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8"/>
          <p:cNvSpPr txBox="1">
            <a:spLocks noGrp="1"/>
          </p:cNvSpPr>
          <p:nvPr>
            <p:ph type="title" idx="4294967295"/>
          </p:nvPr>
        </p:nvSpPr>
        <p:spPr>
          <a:xfrm>
            <a:off x="1283100" y="10837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Production d’énergie renouvelable du territoire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53" name="Google Shape;25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59" name="Google Shape;259;p29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{{COLLECTIVITE_NOM}}</a:t>
            </a:r>
            <a:endParaRPr dirty="0"/>
          </a:p>
        </p:txBody>
      </p:sp>
      <p:sp>
        <p:nvSpPr>
          <p:cNvPr id="260" name="Google Shape;260;p29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pic>
        <p:nvPicPr>
          <p:cNvPr id="261" name="Google Shape;261;p29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8C2C1E82-131D-1140-3900-A701E567C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0"/>
          <p:cNvSpPr txBox="1">
            <a:spLocks noGrp="1"/>
          </p:cNvSpPr>
          <p:nvPr>
            <p:ph type="ctrTitle"/>
          </p:nvPr>
        </p:nvSpPr>
        <p:spPr>
          <a:xfrm>
            <a:off x="288225" y="1060000"/>
            <a:ext cx="8406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Axe 1. Déchets et Économie Circulaire</a:t>
            </a:r>
            <a:endParaRPr sz="1600"/>
          </a:p>
        </p:txBody>
      </p:sp>
      <p:sp>
        <p:nvSpPr>
          <p:cNvPr id="270" name="Google Shape;270;p30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sp>
        <p:nvSpPr>
          <p:cNvPr id="271" name="Google Shape;271;p30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2" name="Google Shape;272;p30"/>
          <p:cNvSpPr txBox="1"/>
          <p:nvPr/>
        </p:nvSpPr>
        <p:spPr>
          <a:xfrm>
            <a:off x="3684848" y="2352840"/>
            <a:ext cx="1738200" cy="1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33 %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3" name="Google Shape;273;p30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0"/>
          <p:cNvSpPr/>
          <p:nvPr/>
        </p:nvSpPr>
        <p:spPr>
          <a:xfrm>
            <a:off x="2985825" y="29686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5" name="Google Shape;275;p30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19K€HT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(190k€)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6" name="Google Shape;276;p30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0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30"/>
          <p:cNvSpPr txBox="1"/>
          <p:nvPr/>
        </p:nvSpPr>
        <p:spPr>
          <a:xfrm>
            <a:off x="6373601" y="3234144"/>
            <a:ext cx="1038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9" name="Google Shape;279;p30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0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6196398" y="2200718"/>
            <a:ext cx="2600700" cy="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de l'axe:</a:t>
            </a:r>
            <a:endParaRPr sz="91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11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sous-axes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107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256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82" name="Google Shape;282;p30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84" name="Google Shape;284;p30" title="app.territoiresentransitions.fr_collectivite_5460_plans_tableau-de-bord.png"/>
          <p:cNvPicPr preferRelativeResize="0"/>
          <p:nvPr/>
        </p:nvPicPr>
        <p:blipFill rotWithShape="1">
          <a:blip r:embed="rId7">
            <a:alphaModFix/>
          </a:blip>
          <a:srcRect l="5823" t="7590" r="5814" b="4047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0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87" name="Google Shape;287;p3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88" name="Google Shape;288;p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pic>
        <p:nvPicPr>
          <p:cNvPr id="295" name="Google Shape;295;p3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5003" y="1641276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97" name="Google Shape;297;p3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98" name="Google Shape;29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04" name="Google Shape;304;p32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15</a:t>
            </a:fld>
            <a:endParaRPr/>
          </a:p>
        </p:txBody>
      </p:sp>
      <p:sp>
        <p:nvSpPr>
          <p:cNvPr id="305" name="Google Shape;305;p32"/>
          <p:cNvSpPr txBox="1"/>
          <p:nvPr/>
        </p:nvSpPr>
        <p:spPr>
          <a:xfrm>
            <a:off x="319800" y="1823600"/>
            <a:ext cx="51243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Nombre d’arbres plantés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Hectares d’Espaces Boisés Classés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164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Stockage carbone annuel de la nouvelle forêt :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N/C 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06" name="Google Shape;306;p32"/>
          <p:cNvSpPr/>
          <p:nvPr/>
        </p:nvSpPr>
        <p:spPr>
          <a:xfrm>
            <a:off x="5916275" y="1823600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772675" y="2093950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08" name="Google Shape;308;p32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187" y="2020621"/>
            <a:ext cx="501275" cy="50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2"/>
          <p:cNvSpPr/>
          <p:nvPr/>
        </p:nvSpPr>
        <p:spPr>
          <a:xfrm>
            <a:off x="7760075" y="1006175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chemeClr val="accent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sp>
        <p:nvSpPr>
          <p:cNvPr id="311" name="Google Shape;311;p32"/>
          <p:cNvSpPr/>
          <p:nvPr/>
        </p:nvSpPr>
        <p:spPr>
          <a:xfrm>
            <a:off x="5916275" y="2833025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32"/>
          <p:cNvSpPr txBox="1"/>
          <p:nvPr/>
        </p:nvSpPr>
        <p:spPr>
          <a:xfrm>
            <a:off x="6772675" y="3191533"/>
            <a:ext cx="1708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13" name="Google Shape;313;p32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5002" y="2992627"/>
            <a:ext cx="554221" cy="548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4" name="Google Shape;314;p32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3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6" name="Google Shape;316;p3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17" name="Google Shape;317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3"/>
          <p:cNvSpPr txBox="1">
            <a:spLocks noGrp="1"/>
          </p:cNvSpPr>
          <p:nvPr>
            <p:ph type="ctrTitle"/>
          </p:nvPr>
        </p:nvSpPr>
        <p:spPr>
          <a:xfrm>
            <a:off x="16086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23" name="Google Shape;323;p33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16</a:t>
            </a:fld>
            <a:endParaRPr/>
          </a:p>
        </p:txBody>
      </p:sp>
      <p:sp>
        <p:nvSpPr>
          <p:cNvPr id="324" name="Google Shape;324;p33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25" name="Google Shape;325;p33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33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27" name="Google Shape;327;p33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3"/>
          <p:cNvSpPr txBox="1">
            <a:spLocks noGrp="1"/>
          </p:cNvSpPr>
          <p:nvPr>
            <p:ph type="ctrTitle"/>
          </p:nvPr>
        </p:nvSpPr>
        <p:spPr>
          <a:xfrm>
            <a:off x="16086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sp>
        <p:nvSpPr>
          <p:cNvPr id="329" name="Google Shape;329;p33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0" name="Google Shape;330;p33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31" name="Google Shape;331;p33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2" name="Google Shape;332;p33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3" name="Google Shape;333;p33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33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33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: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36" name="Google Shape;336;p33"/>
          <p:cNvSpPr/>
          <p:nvPr/>
        </p:nvSpPr>
        <p:spPr>
          <a:xfrm>
            <a:off x="336175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rgbClr val="FBFCFE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7" name="Google Shape;337;p33"/>
          <p:cNvSpPr txBox="1"/>
          <p:nvPr/>
        </p:nvSpPr>
        <p:spPr>
          <a:xfrm>
            <a:off x="1124933" y="4251422"/>
            <a:ext cx="15735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Nombre d’arbres plantés :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38" name="Google Shape;338;p33" title="tre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8727" y="4145200"/>
            <a:ext cx="528223" cy="52820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9" name="Google Shape;339;p33"/>
          <p:cNvCxnSpPr/>
          <p:nvPr/>
        </p:nvCxnSpPr>
        <p:spPr>
          <a:xfrm>
            <a:off x="336175" y="358283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40" name="Google Shape;340;p33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3" title="Capture d’écran 2025-11-20 à 19.22.27.png"/>
          <p:cNvPicPr preferRelativeResize="0"/>
          <p:nvPr/>
        </p:nvPicPr>
        <p:blipFill rotWithShape="1">
          <a:blip r:embed="rId7">
            <a:alphaModFix/>
          </a:blip>
          <a:srcRect l="28122" t="30648" r="33190" b="19165"/>
          <a:stretch/>
        </p:blipFill>
        <p:spPr>
          <a:xfrm>
            <a:off x="319800" y="887825"/>
            <a:ext cx="1083600" cy="671400"/>
          </a:xfrm>
          <a:prstGeom prst="roundRect">
            <a:avLst>
              <a:gd name="adj" fmla="val 7469"/>
            </a:avLst>
          </a:prstGeom>
          <a:noFill/>
          <a:ln>
            <a:noFill/>
          </a:ln>
        </p:spPr>
      </p:pic>
      <p:sp>
        <p:nvSpPr>
          <p:cNvPr id="342" name="Google Shape;342;p33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3" name="Google Shape;343;p33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4" name="Google Shape;344;p33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5" name="Google Shape;345;p33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6" name="Google Shape;346;p33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7" name="Google Shape;347;p33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8" name="Google Shape;348;p33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9" name="Google Shape;349;p33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1" name="Google Shape;351;p33" title="CO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4" name="Google Shape;354;p3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4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60" name="Google Shape;360;p34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17</a:t>
            </a:fld>
            <a:endParaRPr/>
          </a:p>
        </p:txBody>
      </p:sp>
      <p:sp>
        <p:nvSpPr>
          <p:cNvPr id="361" name="Google Shape;361;p34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2" name="Google Shape;362;p34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3" name="Google Shape;363;p34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34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>
                <a:solidFill>
                  <a:schemeClr val="dk2"/>
                </a:solidFill>
              </a:rPr>
              <a:t>Pilote</a:t>
            </a:r>
            <a:r>
              <a:rPr lang="fr" sz="1100" b="0" dirty="0">
                <a:solidFill>
                  <a:schemeClr val="dk2"/>
                </a:solidFill>
              </a:rPr>
              <a:t> : A. Dusanter | </a:t>
            </a:r>
            <a:r>
              <a:rPr lang="fr" sz="1100" dirty="0">
                <a:solidFill>
                  <a:schemeClr val="dk2"/>
                </a:solidFill>
              </a:rPr>
              <a:t>Période</a:t>
            </a:r>
            <a:r>
              <a:rPr lang="fr" sz="1100" b="0" dirty="0">
                <a:solidFill>
                  <a:schemeClr val="dk2"/>
                </a:solidFill>
              </a:rPr>
              <a:t> : 30/10/24 -&gt; 31/12/25</a:t>
            </a:r>
            <a:endParaRPr sz="1300" dirty="0"/>
          </a:p>
        </p:txBody>
      </p:sp>
      <p:sp>
        <p:nvSpPr>
          <p:cNvPr id="365" name="Google Shape;365;p34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34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7" name="Google Shape;367;p34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8" name="Google Shape;368;p34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9" name="Google Shape;369;p34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0" name="Google Shape;370;p34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72" name="Google Shape;372;p34"/>
          <p:cNvSpPr/>
          <p:nvPr/>
        </p:nvSpPr>
        <p:spPr>
          <a:xfrm>
            <a:off x="336175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rgbClr val="FBFCFE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3" name="Google Shape;373;p34"/>
          <p:cNvSpPr txBox="1"/>
          <p:nvPr/>
        </p:nvSpPr>
        <p:spPr>
          <a:xfrm>
            <a:off x="1124933" y="4251422"/>
            <a:ext cx="15735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Nombre d’arbres plantés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74" name="Google Shape;374;p34" title="tre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8727" y="4145200"/>
            <a:ext cx="528223" cy="52820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5" name="Google Shape;375;p34"/>
          <p:cNvCxnSpPr/>
          <p:nvPr/>
        </p:nvCxnSpPr>
        <p:spPr>
          <a:xfrm>
            <a:off x="336175" y="3546475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76" name="Google Shape;376;p34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34"/>
          <p:cNvSpPr/>
          <p:nvPr/>
        </p:nvSpPr>
        <p:spPr>
          <a:xfrm>
            <a:off x="7076325" y="-5207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8283325" y="-5207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076325" y="-929950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8050625" y="-929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6300200" y="-929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2" name="Google Shape;382;p34"/>
          <p:cNvSpPr/>
          <p:nvPr/>
        </p:nvSpPr>
        <p:spPr>
          <a:xfrm>
            <a:off x="6205675" y="-5207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5202275" y="-5207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4" name="Google Shape;384;p34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5" name="Google Shape;385;p34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6" name="Google Shape;386;p34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7" name="Google Shape;387;p34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8" name="Google Shape;388;p34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9" name="Google Shape;389;p34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0" name="Google Shape;390;p34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</a:t>
            </a:r>
            <a:r>
              <a:rPr lang="fr" sz="1000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Villiersfins</a:t>
            </a: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1" name="Google Shape;391;p34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2" name="Google Shape;392;p34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93" name="Google Shape;393;p34" title="CO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96" name="Google Shape;396;p3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97" name="Google Shape;397;p34"/>
          <p:cNvSpPr/>
          <p:nvPr/>
        </p:nvSpPr>
        <p:spPr>
          <a:xfrm>
            <a:off x="5347675" y="-929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8" name="Google Shape;398;p34"/>
          <p:cNvSpPr/>
          <p:nvPr/>
        </p:nvSpPr>
        <p:spPr>
          <a:xfrm>
            <a:off x="7847275" y="1221813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9" name="Google Shape;399;p34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5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 - </a:t>
            </a:r>
            <a:endParaRPr sz="1600"/>
          </a:p>
        </p:txBody>
      </p:sp>
      <p:sp>
        <p:nvSpPr>
          <p:cNvPr id="405" name="Google Shape;405;p35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6" name="Google Shape;406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18</a:t>
            </a:fld>
            <a:endParaRPr/>
          </a:p>
        </p:txBody>
      </p:sp>
      <p:sp>
        <p:nvSpPr>
          <p:cNvPr id="407" name="Google Shape;407;p35"/>
          <p:cNvSpPr/>
          <p:nvPr/>
        </p:nvSpPr>
        <p:spPr>
          <a:xfrm>
            <a:off x="318950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08" name="img_fiche_indicateur1" title="Hectares d’Espaces Boisés Classés.png"/>
          <p:cNvPicPr preferRelativeResize="0"/>
          <p:nvPr/>
        </p:nvPicPr>
        <p:blipFill rotWithShape="1">
          <a:blip r:embed="rId3">
            <a:alphaModFix/>
          </a:blip>
          <a:srcRect t="4707"/>
          <a:stretch/>
        </p:blipFill>
        <p:spPr>
          <a:xfrm>
            <a:off x="477688" y="1951375"/>
            <a:ext cx="3710623" cy="1845599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5"/>
          <p:cNvSpPr txBox="1">
            <a:spLocks noGrp="1"/>
          </p:cNvSpPr>
          <p:nvPr>
            <p:ph type="title" idx="4294967295"/>
          </p:nvPr>
        </p:nvSpPr>
        <p:spPr>
          <a:xfrm>
            <a:off x="477700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 dirty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 dirty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0" name="Google Shape;410;p35"/>
          <p:cNvSpPr/>
          <p:nvPr/>
        </p:nvSpPr>
        <p:spPr>
          <a:xfrm>
            <a:off x="4742625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5"/>
          <p:cNvSpPr txBox="1">
            <a:spLocks noGrp="1"/>
          </p:cNvSpPr>
          <p:nvPr>
            <p:ph type="title" idx="4294967295"/>
          </p:nvPr>
        </p:nvSpPr>
        <p:spPr>
          <a:xfrm>
            <a:off x="4901375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12" name="img_fiche_indicateur2" title="Nombre d’arbres plantés.png"/>
          <p:cNvPicPr preferRelativeResize="0"/>
          <p:nvPr/>
        </p:nvPicPr>
        <p:blipFill rotWithShape="1">
          <a:blip r:embed="rId4">
            <a:alphaModFix/>
          </a:blip>
          <a:srcRect t="4370"/>
          <a:stretch/>
        </p:blipFill>
        <p:spPr>
          <a:xfrm>
            <a:off x="4947500" y="1948075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4" name="Google Shape;414;p3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15" name="Google Shape;415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19</a:t>
            </a:fld>
            <a:endParaRPr/>
          </a:p>
        </p:txBody>
      </p:sp>
      <p:sp>
        <p:nvSpPr>
          <p:cNvPr id="421" name="Google Shape;421;p36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422" name="Google Shape;422;p36"/>
          <p:cNvSpPr txBox="1">
            <a:spLocks noGrp="1"/>
          </p:cNvSpPr>
          <p:nvPr>
            <p:ph type="title" idx="2"/>
          </p:nvPr>
        </p:nvSpPr>
        <p:spPr>
          <a:xfrm>
            <a:off x="319800" y="1321836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cxnSp>
        <p:nvCxnSpPr>
          <p:cNvPr id="423" name="Google Shape;423;p36"/>
          <p:cNvCxnSpPr/>
          <p:nvPr/>
        </p:nvCxnSpPr>
        <p:spPr>
          <a:xfrm>
            <a:off x="336175" y="2019250"/>
            <a:ext cx="4136400" cy="18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4" name="Google Shape;424;p36"/>
          <p:cNvSpPr/>
          <p:nvPr/>
        </p:nvSpPr>
        <p:spPr>
          <a:xfrm>
            <a:off x="4742625" y="2438463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5" name="Google Shape;425;p36"/>
          <p:cNvSpPr txBox="1">
            <a:spLocks noGrp="1"/>
          </p:cNvSpPr>
          <p:nvPr>
            <p:ph type="title" idx="4294967295"/>
          </p:nvPr>
        </p:nvSpPr>
        <p:spPr>
          <a:xfrm>
            <a:off x="4901375" y="2608438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26" name="Google Shape;426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4947500" y="2843263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36"/>
          <p:cNvSpPr/>
          <p:nvPr/>
        </p:nvSpPr>
        <p:spPr>
          <a:xfrm>
            <a:off x="336175" y="2175463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8" name="Google Shape;428;p36"/>
          <p:cNvSpPr txBox="1"/>
          <p:nvPr/>
        </p:nvSpPr>
        <p:spPr>
          <a:xfrm>
            <a:off x="1142875" y="2339975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29" name="Google Shape;429;p36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125" y="2286023"/>
            <a:ext cx="493456" cy="49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36"/>
          <p:cNvSpPr/>
          <p:nvPr/>
        </p:nvSpPr>
        <p:spPr>
          <a:xfrm>
            <a:off x="336175" y="3003588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1" name="Google Shape;431;p36"/>
          <p:cNvSpPr txBox="1"/>
          <p:nvPr/>
        </p:nvSpPr>
        <p:spPr>
          <a:xfrm>
            <a:off x="1142875" y="3266388"/>
            <a:ext cx="1300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32" name="Google Shape;432;p36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1200" y="3093701"/>
            <a:ext cx="501275" cy="496272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36"/>
          <p:cNvSpPr/>
          <p:nvPr/>
        </p:nvSpPr>
        <p:spPr>
          <a:xfrm>
            <a:off x="4696250" y="29774"/>
            <a:ext cx="4447800" cy="5143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4" name="Google Shape;434;p36"/>
          <p:cNvSpPr/>
          <p:nvPr/>
        </p:nvSpPr>
        <p:spPr>
          <a:xfrm>
            <a:off x="4906100" y="1775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35" name="Google Shape;435;p36" title="Hectares d’Espaces Boisés Classés.png"/>
          <p:cNvPicPr preferRelativeResize="0"/>
          <p:nvPr/>
        </p:nvPicPr>
        <p:blipFill rotWithShape="1">
          <a:blip r:embed="rId6">
            <a:alphaModFix/>
          </a:blip>
          <a:srcRect t="4707"/>
          <a:stretch/>
        </p:blipFill>
        <p:spPr>
          <a:xfrm>
            <a:off x="5064838" y="585600"/>
            <a:ext cx="3710623" cy="1845599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36"/>
          <p:cNvSpPr txBox="1">
            <a:spLocks noGrp="1"/>
          </p:cNvSpPr>
          <p:nvPr>
            <p:ph type="title" idx="4294967295"/>
          </p:nvPr>
        </p:nvSpPr>
        <p:spPr>
          <a:xfrm>
            <a:off x="5064850" y="3474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37" name="Google Shape;437;p36"/>
          <p:cNvSpPr/>
          <p:nvPr/>
        </p:nvSpPr>
        <p:spPr>
          <a:xfrm>
            <a:off x="4906100" y="26489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8" name="Google Shape;438;p36"/>
          <p:cNvSpPr txBox="1">
            <a:spLocks noGrp="1"/>
          </p:cNvSpPr>
          <p:nvPr>
            <p:ph type="title" idx="4294967295"/>
          </p:nvPr>
        </p:nvSpPr>
        <p:spPr>
          <a:xfrm>
            <a:off x="5064850" y="28188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39" name="Google Shape;439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5110975" y="3053700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2" name="Google Shape;442;p36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3" name="Google Shape;443;p36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4" name="Google Shape;444;p36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5" name="Google Shape;445;p36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6" name="Google Shape;446;p36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7" name="Google Shape;447;p3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49" name="Google Shape;449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Google Shape;454;p37" title="logo final + accroch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09675" y="182725"/>
            <a:ext cx="1375626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37"/>
          <p:cNvSpPr txBox="1"/>
          <p:nvPr/>
        </p:nvSpPr>
        <p:spPr>
          <a:xfrm>
            <a:off x="288500" y="1059775"/>
            <a:ext cx="7773300" cy="21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Données territoriales : </a:t>
            </a: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Consommation d’énergie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GES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Production ENR : </a:t>
            </a:r>
            <a:r>
              <a:rPr lang="fr" sz="1200" u="sng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https://ecologie.data.gouv.fr/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Notes de suivi </a:t>
            </a:r>
            <a:r>
              <a:rPr lang="fr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: les résumés ont été généré par intelligence artificielle à partir des notes de suivi des actions. Il s'appuie sur les outils développés par l’entreprise française Mistral Al.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Rapport généré par </a:t>
            </a: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Territoires en Transitions</a:t>
            </a:r>
            <a:endParaRPr sz="1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6" name="Google Shape;456;p3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20</a:t>
            </a:fld>
            <a:endParaRPr/>
          </a:p>
        </p:txBody>
      </p:sp>
      <p:sp>
        <p:nvSpPr>
          <p:cNvPr id="457" name="Google Shape;457;p3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58" name="Google Shape;458;p3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59" name="Google Shape;459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200"/>
              <a:t>21</a:t>
            </a:fld>
            <a:endParaRPr sz="200"/>
          </a:p>
        </p:txBody>
      </p:sp>
      <p:pic>
        <p:nvPicPr>
          <p:cNvPr id="465" name="Google Shape;465;p38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7228" y="1497872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38" title="environmen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125" y="1441151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38" title="su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6675" y="147210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38" title="vir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61891" y="1429550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38" title="ar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44754" y="1486279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38" title="food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97099" y="148627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38" title="human-cooperation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730514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8" title="tree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865211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38" title="Gouvernance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80502" y="2818413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8" title="companie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340925" y="2807375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8" title="community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70975" y="2841600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8" title="map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049150" y="2893150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38"/>
          <p:cNvSpPr txBox="1"/>
          <p:nvPr/>
        </p:nvSpPr>
        <p:spPr>
          <a:xfrm>
            <a:off x="20491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Activités économiques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8" name="Google Shape;478;p38"/>
          <p:cNvSpPr txBox="1"/>
          <p:nvPr/>
        </p:nvSpPr>
        <p:spPr>
          <a:xfrm>
            <a:off x="29646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Agriculture et alimentation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9" name="Google Shape;479;p38"/>
          <p:cNvSpPr txBox="1"/>
          <p:nvPr/>
        </p:nvSpPr>
        <p:spPr>
          <a:xfrm>
            <a:off x="37960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Culture, identité collective, sport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38"/>
          <p:cNvSpPr txBox="1"/>
          <p:nvPr/>
        </p:nvSpPr>
        <p:spPr>
          <a:xfrm>
            <a:off x="47115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Eau, milieux aquatiques et assainissement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55429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Économie circulaire et déchets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2" name="Google Shape;482;p38"/>
          <p:cNvSpPr txBox="1"/>
          <p:nvPr/>
        </p:nvSpPr>
        <p:spPr>
          <a:xfrm>
            <a:off x="64584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Énergie et climat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3" name="Google Shape;483;p38"/>
          <p:cNvSpPr txBox="1"/>
          <p:nvPr/>
        </p:nvSpPr>
        <p:spPr>
          <a:xfrm>
            <a:off x="19941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Mobilité et transport</a:t>
            </a:r>
            <a:endParaRPr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4" name="Google Shape;484;p38"/>
          <p:cNvSpPr txBox="1"/>
          <p:nvPr/>
        </p:nvSpPr>
        <p:spPr>
          <a:xfrm>
            <a:off x="29096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Nature, environnement, air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37709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Sensibilisation, communication et accompagnement au changement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6" name="Google Shape;486;p38"/>
          <p:cNvSpPr txBox="1"/>
          <p:nvPr/>
        </p:nvSpPr>
        <p:spPr>
          <a:xfrm>
            <a:off x="46864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Solidarité et lien social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5436463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Stratégie, organisation interne et gouvernance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8" name="Google Shape;488;p38"/>
          <p:cNvSpPr txBox="1"/>
          <p:nvPr/>
        </p:nvSpPr>
        <p:spPr>
          <a:xfrm>
            <a:off x="6399888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Urbanisme, logement, aménagement, bâtiments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90" name="Google Shape;490;p3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91" name="Google Shape;491;p38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1336</Words>
  <Application>Microsoft Macintosh PowerPoint</Application>
  <PresentationFormat>Affichage à l'écran (16:9)</PresentationFormat>
  <Paragraphs>246</Paragraphs>
  <Slides>21</Slides>
  <Notes>21</Notes>
  <HiddenSlides>3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Poppins SemiBold</vt:lpstr>
      <vt:lpstr>Poppins ExtraBold</vt:lpstr>
      <vt:lpstr>Poppins Medium</vt:lpstr>
      <vt:lpstr>Poppins</vt:lpstr>
      <vt:lpstr>Theme TET</vt:lpstr>
      <vt:lpstr>{{PLAN_NOM}}</vt:lpstr>
      <vt:lpstr>Sommaire</vt:lpstr>
      <vt:lpstr>Synthèse du plan </vt:lpstr>
      <vt:lpstr>Synthèse du plan</vt:lpstr>
      <vt:lpstr>Synthèse du plan</vt:lpstr>
      <vt:lpstr>Avancement du plan </vt:lpstr>
      <vt:lpstr>Avancement du plan </vt:lpstr>
      <vt:lpstr>Données territoriales</vt:lpstr>
      <vt:lpstr>Consommation énergétique finale</vt:lpstr>
      <vt:lpstr>Émission de gaz à effet de serre</vt:lpstr>
      <vt:lpstr>Production d’énergie renouvelable du territoire</vt:lpstr>
      <vt:lpstr>Avancement des axes et leur actions</vt:lpstr>
      <vt:lpstr>Axe 1. Déchets et Économie Circulaire</vt:lpstr>
      <vt:lpstr>Avancement des axes et leur actions</vt:lpstr>
      <vt:lpstr>4.3 Créer un nouvel espace boisé à Blois</vt:lpstr>
      <vt:lpstr>4.3 Créer un nouvel espace boisé à Blois</vt:lpstr>
      <vt:lpstr>4.3 Créer un nouvel espace boisé à Blois</vt:lpstr>
      <vt:lpstr>4.3 Créer un nouvel espace boisé à Blois - </vt:lpstr>
      <vt:lpstr>4.3 Créer un nouvel espace boisé à Blois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Thibaut Dusanter</cp:lastModifiedBy>
  <cp:revision>29</cp:revision>
  <dcterms:modified xsi:type="dcterms:W3CDTF">2025-12-08T08:58:25Z</dcterms:modified>
</cp:coreProperties>
</file>