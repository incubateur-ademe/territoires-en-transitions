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5143500" type="screen16x9"/>
  <p:notesSz cx="6858000" cy="9144000"/>
  <p:embeddedFontLst>
    <p:embeddedFont>
      <p:font typeface="Poppins" pitchFamily="2" charset="77"/>
      <p:regular r:id="rId24"/>
      <p:bold r:id="rId25"/>
      <p:italic r:id="rId26"/>
      <p:boldItalic r:id="rId27"/>
    </p:embeddedFont>
    <p:embeddedFont>
      <p:font typeface="Poppins ExtraBold" panose="00000900000000000000" pitchFamily="2" charset="77"/>
      <p:bold r:id="rId28"/>
      <p:italic r:id="rId29"/>
      <p:boldItalic r:id="rId30"/>
    </p:embeddedFont>
    <p:embeddedFont>
      <p:font typeface="Poppins Medium" panose="00000600000000000000" pitchFamily="2" charset="77"/>
      <p:regular r:id="rId31"/>
      <p:italic r:id="rId32"/>
    </p:embeddedFont>
    <p:embeddedFont>
      <p:font typeface="Poppins SemiBold" panose="00000700000000000000" pitchFamily="2" charset="77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olas VALLÉE" initials="" lastIdx="8" clrIdx="0"/>
  <p:cmAuthor id="1" name="Clément Saulnier" initials="" lastIdx="21" clrIdx="1"/>
  <p:cmAuthor id="2" name="Manon Bouvier" initials="" lastIdx="1" clrIdx="2"/>
  <p:cmAuthor id="3" name="thibaut dusanter" initials="" lastIdx="1" clrIdx="3"/>
  <p:cmAuthor id="4" name="Arnaud Morvan" initials="" lastIdx="3" clrIdx="4"/>
  <p:cmAuthor id="5" name="Territoires en Transitions" initials="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5A437C-706F-4A56-B884-62DC5EDBEEEA}">
  <a:tblStyle styleId="{7D5A437C-706F-4A56-B884-62DC5EDBEE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6"/>
    <p:restoredTop sz="94643"/>
  </p:normalViewPr>
  <p:slideViewPr>
    <p:cSldViewPr snapToGrid="0">
      <p:cViewPr varScale="1">
        <p:scale>
          <a:sx n="153" d="100"/>
          <a:sy n="153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125f6b97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125f6b97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78b42931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78b42931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ac6617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2ac6617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733054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7733054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a20c2ba1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a20c2ba1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fdd9055c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fdd9055c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a20c2ba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a20c2ba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fdd9055c2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fdd9055c2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fdd9055c2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fdd9055c2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2ac66177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2ac66177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2ac66177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2ac66177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573bcef67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573bcef67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7733054b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7733054b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fdd9055c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fdd9055c2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2ac66177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2ac66177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7733054b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7733054ba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7733054ba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7733054ba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fdd9055c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9fdd9055c2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7733054ba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7733054ba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081d125a2_4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081d125a2_4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99574d14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a99574d14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 descr="dsds"/>
          <p:cNvSpPr txBox="1">
            <a:spLocks noGrp="1"/>
          </p:cNvSpPr>
          <p:nvPr>
            <p:ph type="ctrTitle"/>
          </p:nvPr>
        </p:nvSpPr>
        <p:spPr>
          <a:xfrm>
            <a:off x="311700" y="1861375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71100" y="24441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title" idx="2"/>
          </p:nvPr>
        </p:nvSpPr>
        <p:spPr>
          <a:xfrm>
            <a:off x="1014150" y="2927825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CUSTOM_2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" name="Google Shape;51;p9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2" name="Google Shape;62;p11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1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6" name="Google Shape;66;p11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5458D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14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14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5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87" name="Google Shape;87;p15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16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hyperlink" Target="https://ecologie.data.gouv.fr/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{{PLAN_NOM}}</a:t>
            </a: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{{REPORT_DATE}}</a:t>
            </a:r>
            <a:endParaRPr/>
          </a:p>
        </p:txBody>
      </p:sp>
      <p:pic>
        <p:nvPicPr>
          <p:cNvPr id="1026" name="img_collectivite_logo">
            <a:extLst>
              <a:ext uri="{FF2B5EF4-FFF2-40B4-BE49-F238E27FC236}">
                <a16:creationId xmlns:a16="http://schemas.microsoft.com/office/drawing/2014/main" id="{58A23416-87E8-EDA7-D7E4-5A846681B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1992319"/>
            <a:ext cx="1866900" cy="51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ctrTitle"/>
          </p:nvPr>
        </p:nvSpPr>
        <p:spPr>
          <a:xfrm>
            <a:off x="560677" y="1027025"/>
            <a:ext cx="32016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Sommaire</a:t>
            </a:r>
            <a:endParaRPr sz="1600"/>
          </a:p>
        </p:txBody>
      </p:sp>
      <p:pic>
        <p:nvPicPr>
          <p:cNvPr id="114" name="Google Shape;114;p19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76" y="932793"/>
            <a:ext cx="27721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303975" y="1363350"/>
            <a:ext cx="82407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 dirty="0">
                <a:solidFill>
                  <a:srgbClr val="404092"/>
                </a:solidFill>
              </a:rPr>
              <a:t>Synthèse du plan - page 3</a:t>
            </a:r>
            <a:endParaRPr sz="1100" dirty="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 dirty="0">
                <a:solidFill>
                  <a:srgbClr val="404092"/>
                </a:solidFill>
              </a:rPr>
              <a:t>Données territoriales - page 6</a:t>
            </a:r>
            <a:endParaRPr sz="1100" dirty="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 dirty="0">
                <a:solidFill>
                  <a:srgbClr val="404092"/>
                </a:solidFill>
              </a:rPr>
              <a:t>Avancement des axes et leur actions - page 1</a:t>
            </a:r>
            <a:endParaRPr sz="1100" dirty="0">
              <a:solidFill>
                <a:srgbClr val="404092"/>
              </a:solidFill>
            </a:endParaRPr>
          </a:p>
          <a:p>
            <a:pPr marL="914400" indent="-292100">
              <a:lnSpc>
                <a:spcPct val="150000"/>
              </a:lnSpc>
              <a:buClr>
                <a:srgbClr val="404092"/>
              </a:buClr>
              <a:buSzPts val="1000"/>
              <a:buFont typeface="Poppins"/>
              <a:buAutoNum type="arabicPeriod"/>
            </a:pPr>
            <a:r>
              <a:rPr lang="fr-FR" sz="1000" b="0" dirty="0">
                <a:solidFill>
                  <a:srgbClr val="404092"/>
                </a:solidFill>
              </a:rPr>
              <a:t>{{AXE_NOMS}}</a:t>
            </a:r>
          </a:p>
          <a:p>
            <a:pPr marL="457200" lvl="0" indent="-298450">
              <a:lnSpc>
                <a:spcPct val="150000"/>
              </a:lnSpc>
              <a:buClr>
                <a:srgbClr val="404092"/>
              </a:buClr>
              <a:buSzPts val="1100"/>
              <a:buFont typeface="+mj-lt"/>
              <a:buAutoNum type="alphaUcPeriod" startAt="4"/>
            </a:pPr>
            <a:r>
              <a:rPr lang="fr-FR" sz="1100" dirty="0">
                <a:solidFill>
                  <a:srgbClr val="404092"/>
                </a:solidFill>
              </a:rPr>
              <a:t>Données territoriales - page 6</a:t>
            </a:r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69302A6F-815D-713B-5125-E85021715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6" y="265816"/>
            <a:ext cx="923528" cy="25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Synthèse du plan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{{COLLECTIVITE_NOM}}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pic>
        <p:nvPicPr>
          <p:cNvPr id="127" name="Google Shape;127;p20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50" name="img_collectivite_logo">
            <a:extLst>
              <a:ext uri="{FF2B5EF4-FFF2-40B4-BE49-F238E27FC236}">
                <a16:creationId xmlns:a16="http://schemas.microsoft.com/office/drawing/2014/main" id="{62C33B4E-4F48-9263-5554-C73B73A55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6" y="265816"/>
            <a:ext cx="923528" cy="25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ctrTitle"/>
          </p:nvPr>
        </p:nvSpPr>
        <p:spPr>
          <a:xfrm>
            <a:off x="271375" y="1128025"/>
            <a:ext cx="84234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Synthèse du plan</a:t>
            </a:r>
            <a:endParaRPr sz="1600"/>
          </a:p>
        </p:txBody>
      </p:sp>
      <p:sp>
        <p:nvSpPr>
          <p:cNvPr id="136" name="Google Shape;13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2985825" y="2052225"/>
            <a:ext cx="2437200" cy="7248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3684848" y="2297778"/>
            <a:ext cx="1738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Avancement global des actions :</a:t>
            </a:r>
            <a:r>
              <a:rPr lang="fr" sz="91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33 %</a:t>
            </a:r>
            <a:endParaRPr sz="1214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39" name="Google Shape;139;p21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752" y="2209134"/>
            <a:ext cx="443113" cy="44311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/>
          <p:nvPr/>
        </p:nvSpPr>
        <p:spPr>
          <a:xfrm>
            <a:off x="2985825" y="2971124"/>
            <a:ext cx="24372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684846" y="3209765"/>
            <a:ext cx="1738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: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950K€HT </a:t>
            </a:r>
            <a:b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8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(900k€ fonct. + 50k€ invest.)</a:t>
            </a:r>
            <a:endParaRPr sz="1011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2" name="Google Shape;142;p21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368" y="3159470"/>
            <a:ext cx="404813" cy="40479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5561029" y="2930200"/>
            <a:ext cx="31338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07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150" tIns="103150" rIns="103150" bIns="103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7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6373600" y="3234150"/>
            <a:ext cx="12099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1"/>
              <a:buFont typeface="Arial"/>
              <a:buNone/>
            </a:pPr>
            <a:r>
              <a:rPr lang="fr" sz="1015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: </a:t>
            </a:r>
            <a:r>
              <a:rPr lang="fr" sz="1128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8.5 ETP</a:t>
            </a:r>
            <a:endParaRPr sz="135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5" name="Google Shape;145;p21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068" y="3073952"/>
            <a:ext cx="498987" cy="49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/>
          <p:nvPr/>
        </p:nvSpPr>
        <p:spPr>
          <a:xfrm>
            <a:off x="5561025" y="2052225"/>
            <a:ext cx="3133800" cy="7011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6196398" y="2200718"/>
            <a:ext cx="26007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 du plan</a:t>
            </a:r>
            <a:endParaRPr sz="91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</a:t>
            </a:r>
            <a:r>
              <a:rPr lang="fr" sz="1011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axes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indicateurs de suivi</a:t>
            </a:r>
            <a:endParaRPr sz="1011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107</a:t>
            </a:r>
            <a:r>
              <a:rPr lang="fr" sz="1011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actions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256</a:t>
            </a:r>
            <a:r>
              <a:rPr lang="fr" sz="1011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sous-actions</a:t>
            </a:r>
            <a:endParaRPr sz="1011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endParaRPr sz="1214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8" name="Google Shape;148;p21" title="Dashboa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8950" y="2195929"/>
            <a:ext cx="443113" cy="4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9381163" y="4663225"/>
            <a:ext cx="31092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72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150" tIns="69150" rIns="69150" bIns="69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8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9998256" y="4825785"/>
            <a:ext cx="2267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2"/>
              <a:buFont typeface="Arial"/>
              <a:buNone/>
            </a:pPr>
            <a:r>
              <a:rPr lang="fr" sz="831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 : </a:t>
            </a:r>
            <a:endParaRPr sz="831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7" b="1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à venir (7%)  </a:t>
            </a:r>
            <a:r>
              <a:rPr lang="fr" sz="907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" sz="907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à l’arrêt (1%)</a:t>
            </a:r>
            <a: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907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66 </a:t>
            </a:r>
            <a:r>
              <a:rPr lang="fr" sz="907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 cours (61%)  </a:t>
            </a:r>
            <a:r>
              <a:rPr lang="fr" sz="907" b="1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33 </a:t>
            </a:r>
            <a:r>
              <a:rPr lang="fr" sz="907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réalisées (28%)</a:t>
            </a:r>
            <a:endParaRPr sz="907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51" name="Google Shape;151;p21" title="Action à impact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97070" y="4860058"/>
            <a:ext cx="413757" cy="41375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/>
          <p:nvPr/>
        </p:nvSpPr>
        <p:spPr>
          <a:xfrm>
            <a:off x="332150" y="1586450"/>
            <a:ext cx="2362800" cy="2496600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1" title="app.territoiresentransitions.fr_collectivite_5460_plans_tableau-de-bord.png"/>
          <p:cNvPicPr preferRelativeResize="0"/>
          <p:nvPr/>
        </p:nvPicPr>
        <p:blipFill rotWithShape="1">
          <a:blip r:embed="rId8">
            <a:alphaModFix/>
          </a:blip>
          <a:srcRect l="5823" t="7590" r="5814" b="4047"/>
          <a:stretch/>
        </p:blipFill>
        <p:spPr>
          <a:xfrm>
            <a:off x="433720" y="1821175"/>
            <a:ext cx="2145600" cy="214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396612" y="1736325"/>
            <a:ext cx="21903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</a:t>
            </a:r>
            <a:endParaRPr sz="1214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0AC98644-09D5-37ED-930D-066F9926C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6" y="265816"/>
            <a:ext cx="923528" cy="25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ctrTitle"/>
          </p:nvPr>
        </p:nvSpPr>
        <p:spPr>
          <a:xfrm>
            <a:off x="271375" y="1128025"/>
            <a:ext cx="84234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Synthèse du plan</a:t>
            </a:r>
            <a:endParaRPr sz="1600"/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2985825" y="2052225"/>
            <a:ext cx="2437200" cy="7248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3684848" y="2297778"/>
            <a:ext cx="1738200" cy="45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Avancement global des </a:t>
            </a: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actions :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 {{PLAN_PROGRESS}}%</a:t>
            </a:r>
            <a:endParaRPr sz="1214" dirty="0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66" name="Google Shape;166;p22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752" y="2209134"/>
            <a:ext cx="443113" cy="4431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/>
          <p:nvPr/>
        </p:nvSpPr>
        <p:spPr>
          <a:xfrm>
            <a:off x="2985825" y="2971124"/>
            <a:ext cx="24372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3684846" y="3209765"/>
            <a:ext cx="1738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: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950K€HT </a:t>
            </a:r>
            <a:b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8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(900k€ fonct. + 50k€ invest.)</a:t>
            </a:r>
            <a:endParaRPr sz="1011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69" name="Google Shape;169;p22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368" y="3159470"/>
            <a:ext cx="404813" cy="40479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/>
          <p:nvPr/>
        </p:nvSpPr>
        <p:spPr>
          <a:xfrm>
            <a:off x="5561029" y="2930200"/>
            <a:ext cx="31338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07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150" tIns="103150" rIns="103150" bIns="103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7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6373600" y="3234150"/>
            <a:ext cx="12099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1"/>
              <a:buFont typeface="Arial"/>
              <a:buNone/>
            </a:pPr>
            <a:r>
              <a:rPr lang="fr" sz="1015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: </a:t>
            </a:r>
            <a:r>
              <a:rPr lang="fr" sz="1128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8.5 ETP</a:t>
            </a:r>
            <a:endParaRPr sz="135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72" name="Google Shape;172;p22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068" y="3073952"/>
            <a:ext cx="498987" cy="49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/>
          <p:nvPr/>
        </p:nvSpPr>
        <p:spPr>
          <a:xfrm>
            <a:off x="5561025" y="2052225"/>
            <a:ext cx="3133800" cy="7011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6196398" y="2200718"/>
            <a:ext cx="2600700" cy="76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 du plan</a:t>
            </a:r>
            <a:endParaRPr sz="91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lang="fr" sz="1011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{{AXES_COUNT}}</a:t>
            </a:r>
            <a:r>
              <a:rPr lang="fr" sz="1011" dirty="0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 dirty="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axes </a:t>
            </a:r>
            <a:r>
              <a:rPr lang="fr" sz="1011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{{INDICATEURS_COUNT}}</a:t>
            </a:r>
            <a:r>
              <a:rPr lang="fr" sz="101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indicateurs </a:t>
            </a:r>
            <a: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 suivi </a:t>
            </a:r>
            <a:b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fr" sz="1011">
                <a:solidFill>
                  <a:schemeClr val="accent3"/>
                </a:solidFill>
                <a:latin typeface="Poppins ExtraBold"/>
                <a:ea typeface="Poppins Medium"/>
                <a:cs typeface="Poppins ExtraBold"/>
                <a:sym typeface="Poppins ExtraBold"/>
              </a:rPr>
              <a:t>{{FICHES_COUNT}}</a:t>
            </a:r>
            <a:r>
              <a:rPr lang="fr" sz="1011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actions</a:t>
            </a:r>
            <a:endParaRPr sz="1214" dirty="0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75" name="Google Shape;175;p22" title="Dashboa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8950" y="2195929"/>
            <a:ext cx="443113" cy="4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9381163" y="4663225"/>
            <a:ext cx="31092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72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150" tIns="69150" rIns="69150" bIns="69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8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9998256" y="4825785"/>
            <a:ext cx="2267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2"/>
              <a:buFont typeface="Arial"/>
              <a:buNone/>
            </a:pPr>
            <a:r>
              <a:rPr lang="fr" sz="831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 : </a:t>
            </a:r>
            <a:endParaRPr sz="831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7" b="1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à venir (7%)  </a:t>
            </a:r>
            <a:r>
              <a:rPr lang="fr" sz="907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" sz="907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à l’arrêt (1%)</a:t>
            </a:r>
            <a: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907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66 </a:t>
            </a:r>
            <a:r>
              <a:rPr lang="fr" sz="907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 cours (61%)  </a:t>
            </a:r>
            <a:r>
              <a:rPr lang="fr" sz="907" b="1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33 </a:t>
            </a:r>
            <a:r>
              <a:rPr lang="fr" sz="907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réalisées (28%)</a:t>
            </a:r>
            <a:endParaRPr sz="907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78" name="Google Shape;178;p22" title="Action à impact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97070" y="4860058"/>
            <a:ext cx="413757" cy="41375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/>
          <p:nvPr/>
        </p:nvSpPr>
        <p:spPr>
          <a:xfrm>
            <a:off x="332150" y="1586450"/>
            <a:ext cx="2362800" cy="2496600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img_plan_count_by_statut_pie"/>
          <p:cNvPicPr preferRelativeResize="0"/>
          <p:nvPr/>
        </p:nvPicPr>
        <p:blipFill>
          <a:blip r:embed="rId8">
            <a:alphaModFix/>
          </a:blip>
          <a:srcRect t="224" b="224"/>
          <a:stretch/>
        </p:blipFill>
        <p:spPr>
          <a:xfrm>
            <a:off x="433721" y="1821175"/>
            <a:ext cx="2116081" cy="214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396612" y="1736325"/>
            <a:ext cx="21903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</a:t>
            </a:r>
            <a:endParaRPr sz="1214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F985AA8C-C44C-7306-7C91-6BAB95132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6" y="265816"/>
            <a:ext cx="923528" cy="25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1046650" y="1415450"/>
            <a:ext cx="6758400" cy="3429000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3"/>
          <p:cNvSpPr txBox="1">
            <a:spLocks noGrp="1"/>
          </p:cNvSpPr>
          <p:nvPr>
            <p:ph type="ctrTitle"/>
          </p:nvPr>
        </p:nvSpPr>
        <p:spPr>
          <a:xfrm>
            <a:off x="260975" y="921475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Avancement du plan </a:t>
            </a:r>
            <a:endParaRPr sz="1600"/>
          </a:p>
        </p:txBody>
      </p:sp>
      <p:sp>
        <p:nvSpPr>
          <p:cNvPr id="191" name="Google Shape;191;p23"/>
          <p:cNvSpPr txBox="1"/>
          <p:nvPr/>
        </p:nvSpPr>
        <p:spPr>
          <a:xfrm>
            <a:off x="318950" y="1326450"/>
            <a:ext cx="84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pic>
        <p:nvPicPr>
          <p:cNvPr id="194" name="img_plan_progress_by_axe_chart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320125" y="1583893"/>
            <a:ext cx="6211451" cy="311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AD26B17A-CCE7-A91E-AE86-2388DBAAA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6" y="265816"/>
            <a:ext cx="923528" cy="25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ctrTitle"/>
          </p:nvPr>
        </p:nvSpPr>
        <p:spPr>
          <a:xfrm>
            <a:off x="260975" y="921475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Avancement du plan </a:t>
            </a:r>
            <a:endParaRPr sz="1600"/>
          </a:p>
        </p:txBody>
      </p:sp>
      <p:sp>
        <p:nvSpPr>
          <p:cNvPr id="203" name="Google Shape;203;p24"/>
          <p:cNvSpPr txBox="1"/>
          <p:nvPr/>
        </p:nvSpPr>
        <p:spPr>
          <a:xfrm>
            <a:off x="318950" y="1326450"/>
            <a:ext cx="84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04" name="Google Shape;204;p24"/>
          <p:cNvGraphicFramePr/>
          <p:nvPr/>
        </p:nvGraphicFramePr>
        <p:xfrm>
          <a:off x="260975" y="13264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{7D5A437C-706F-4A56-B884-62DC5EDBEEEA}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7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ID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AXE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AVANCEMENT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ACTIONS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Déchets &amp; Économie Circulaire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56%</a:t>
                      </a:r>
                      <a:endParaRPr sz="7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27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Énergie Infrastructures Publiques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11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Urbanisme &amp; Aménagement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CC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12%</a:t>
                      </a:r>
                      <a:endParaRPr sz="1000">
                        <a:solidFill>
                          <a:srgbClr val="CC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Puits de Carbone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54%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Biodiversité &amp; Adaptation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46%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14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Alimentation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89%</a:t>
                      </a:r>
                      <a:endParaRPr sz="1000">
                        <a:solidFill>
                          <a:srgbClr val="6AA84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18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Mobilités &amp; Déplacements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CC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9%</a:t>
                      </a:r>
                      <a:endParaRPr sz="1000">
                        <a:solidFill>
                          <a:srgbClr val="CC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3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Énergies Renouvelables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93%</a:t>
                      </a:r>
                      <a:endParaRPr sz="700">
                        <a:solidFill>
                          <a:srgbClr val="6AA84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7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Agriculture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26%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Sensibilisation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22%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Numérique &amp; Données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29%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16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5" name="Google Shape;205;p24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Données territoriales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pic>
        <p:nvPicPr>
          <p:cNvPr id="216" name="Google Shape;216;p25" title="location-fr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80" y="1615450"/>
            <a:ext cx="954000" cy="9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6D042D8F-7E8C-960F-1957-ED4084122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6" y="265816"/>
            <a:ext cx="923528" cy="25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6" name="Google Shape;226;p26" title="Consommation énergétique finale.png"/>
          <p:cNvPicPr preferRelativeResize="0"/>
          <p:nvPr/>
        </p:nvPicPr>
        <p:blipFill rotWithShape="1">
          <a:blip r:embed="rId3">
            <a:alphaModFix/>
          </a:blip>
          <a:srcRect t="4269"/>
          <a:stretch/>
        </p:blipFill>
        <p:spPr>
          <a:xfrm>
            <a:off x="1372350" y="1223453"/>
            <a:ext cx="6399299" cy="3340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>
            <a:spLocks noGrp="1"/>
          </p:cNvSpPr>
          <p:nvPr>
            <p:ph type="title" idx="4294967295"/>
          </p:nvPr>
        </p:nvSpPr>
        <p:spPr>
          <a:xfrm>
            <a:off x="1581275" y="136540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Consommation énergétique finale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30" name="Google Shape;2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p27" title="Émissions de gaz à effet de serre.png"/>
          <p:cNvPicPr preferRelativeResize="0"/>
          <p:nvPr/>
        </p:nvPicPr>
        <p:blipFill rotWithShape="1">
          <a:blip r:embed="rId3">
            <a:alphaModFix/>
          </a:blip>
          <a:srcRect t="4952"/>
          <a:stretch/>
        </p:blipFill>
        <p:spPr>
          <a:xfrm>
            <a:off x="1317300" y="1224906"/>
            <a:ext cx="6444073" cy="336363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 txBox="1">
            <a:spLocks noGrp="1"/>
          </p:cNvSpPr>
          <p:nvPr>
            <p:ph type="title" idx="4294967295"/>
          </p:nvPr>
        </p:nvSpPr>
        <p:spPr>
          <a:xfrm>
            <a:off x="1317300" y="10423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Émission de gaz à effet de serre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28" title="Production d’énergie renouvelable du territoire.png"/>
          <p:cNvPicPr preferRelativeResize="0"/>
          <p:nvPr/>
        </p:nvPicPr>
        <p:blipFill rotWithShape="1">
          <a:blip r:embed="rId3">
            <a:alphaModFix/>
          </a:blip>
          <a:srcRect t="5069"/>
          <a:stretch/>
        </p:blipFill>
        <p:spPr>
          <a:xfrm>
            <a:off x="1283100" y="1308650"/>
            <a:ext cx="6444052" cy="325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 txBox="1">
            <a:spLocks noGrp="1"/>
          </p:cNvSpPr>
          <p:nvPr>
            <p:ph type="title" idx="4294967295"/>
          </p:nvPr>
        </p:nvSpPr>
        <p:spPr>
          <a:xfrm>
            <a:off x="1283100" y="10837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Production d’énergie renouvelable du territoire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53" name="Google Shape;25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{{COLLECTIVITE_NOM}}</a:t>
            </a:r>
            <a:endParaRPr dirty="0"/>
          </a:p>
        </p:txBody>
      </p:sp>
      <p:sp>
        <p:nvSpPr>
          <p:cNvPr id="260" name="Google Shape;260;p29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pic>
        <p:nvPicPr>
          <p:cNvPr id="261" name="Google Shape;261;p29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8C2C1E82-131D-1140-3900-A701E567C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6" y="265816"/>
            <a:ext cx="923528" cy="25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>
            <a:spLocks noGrp="1"/>
          </p:cNvSpPr>
          <p:nvPr>
            <p:ph type="ctrTitle"/>
          </p:nvPr>
        </p:nvSpPr>
        <p:spPr>
          <a:xfrm>
            <a:off x="288225" y="1060000"/>
            <a:ext cx="84066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Axe 1. Déchets et Économie Circulaire</a:t>
            </a:r>
            <a:endParaRPr sz="1600"/>
          </a:p>
        </p:txBody>
      </p:sp>
      <p:sp>
        <p:nvSpPr>
          <p:cNvPr id="270" name="Google Shape;270;p30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271" name="Google Shape;271;p30"/>
          <p:cNvSpPr/>
          <p:nvPr/>
        </p:nvSpPr>
        <p:spPr>
          <a:xfrm>
            <a:off x="2985825" y="2052225"/>
            <a:ext cx="2437200" cy="7248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3684848" y="2352840"/>
            <a:ext cx="17382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Avancement :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33 %</a:t>
            </a:r>
            <a:endParaRPr sz="1214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73" name="Google Shape;273;p30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752" y="2209134"/>
            <a:ext cx="443113" cy="44311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/>
          <p:nvPr/>
        </p:nvSpPr>
        <p:spPr>
          <a:xfrm>
            <a:off x="2985825" y="2968624"/>
            <a:ext cx="24372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3684846" y="3209765"/>
            <a:ext cx="1738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: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19K€HT </a:t>
            </a:r>
            <a:b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8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(190k€)</a:t>
            </a:r>
            <a:endParaRPr sz="1011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76" name="Google Shape;276;p30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368" y="3159470"/>
            <a:ext cx="404813" cy="40479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0"/>
          <p:cNvSpPr/>
          <p:nvPr/>
        </p:nvSpPr>
        <p:spPr>
          <a:xfrm>
            <a:off x="5561029" y="2930200"/>
            <a:ext cx="31338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07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150" tIns="103150" rIns="103150" bIns="103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7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6373601" y="3234144"/>
            <a:ext cx="10389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1"/>
              <a:buFont typeface="Arial"/>
              <a:buNone/>
            </a:pPr>
            <a:r>
              <a:rPr lang="fr" sz="1015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: </a:t>
            </a:r>
            <a:r>
              <a:rPr lang="fr" sz="1128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 ETP</a:t>
            </a:r>
            <a:endParaRPr sz="135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79" name="Google Shape;279;p30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068" y="3073952"/>
            <a:ext cx="498987" cy="49401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/>
          <p:nvPr/>
        </p:nvSpPr>
        <p:spPr>
          <a:xfrm>
            <a:off x="5561025" y="2052225"/>
            <a:ext cx="3133800" cy="7011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6196398" y="2200718"/>
            <a:ext cx="26007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 de l'axe:</a:t>
            </a:r>
            <a:endParaRPr sz="91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</a:t>
            </a:r>
            <a:r>
              <a:rPr lang="fr" sz="1011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sous-axes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indicateurs de suivi</a:t>
            </a:r>
            <a:endParaRPr sz="1011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107</a:t>
            </a:r>
            <a:r>
              <a:rPr lang="fr" sz="1011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actions </a:t>
            </a:r>
            <a:r>
              <a:rPr lang="fr"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256</a:t>
            </a:r>
            <a:r>
              <a:rPr lang="fr" sz="1011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" sz="101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sous-actions</a:t>
            </a:r>
            <a:endParaRPr sz="1011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endParaRPr sz="1214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82" name="Google Shape;282;p30" title="Dashboa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8950" y="2195929"/>
            <a:ext cx="443113" cy="4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/>
          <p:nvPr/>
        </p:nvSpPr>
        <p:spPr>
          <a:xfrm>
            <a:off x="332150" y="1586450"/>
            <a:ext cx="2362800" cy="2496600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30" title="app.territoiresentransitions.fr_collectivite_5460_plans_tableau-de-bord.png"/>
          <p:cNvPicPr preferRelativeResize="0"/>
          <p:nvPr/>
        </p:nvPicPr>
        <p:blipFill rotWithShape="1">
          <a:blip r:embed="rId7">
            <a:alphaModFix/>
          </a:blip>
          <a:srcRect l="5823" t="7590" r="5814" b="4047"/>
          <a:stretch/>
        </p:blipFill>
        <p:spPr>
          <a:xfrm>
            <a:off x="433721" y="1821175"/>
            <a:ext cx="2116081" cy="214442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396612" y="1736325"/>
            <a:ext cx="21903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Arial"/>
              <a:buNone/>
            </a:pPr>
            <a:r>
              <a:rPr lang="fr"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</a:t>
            </a:r>
            <a:endParaRPr sz="1214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7" name="Google Shape;287;p30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88" name="Google Shape;288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pic>
        <p:nvPicPr>
          <p:cNvPr id="295" name="Google Shape;295;p31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003" y="1641276"/>
            <a:ext cx="954000" cy="9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7" name="Google Shape;297;p31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98" name="Google Shape;2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>
            <a:spLocks noGrp="1"/>
          </p:cNvSpPr>
          <p:nvPr>
            <p:ph type="ctrTitle"/>
          </p:nvPr>
        </p:nvSpPr>
        <p:spPr>
          <a:xfrm>
            <a:off x="319800" y="1006163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304" name="Google Shape;304;p32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05" name="Google Shape;305;p32"/>
          <p:cNvSpPr txBox="1"/>
          <p:nvPr/>
        </p:nvSpPr>
        <p:spPr>
          <a:xfrm>
            <a:off x="319800" y="1823600"/>
            <a:ext cx="5124300" cy="26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Chiffres clés 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Nombre d’arbres plantés :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Hectares d’Espaces Boisés Classés :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164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Stockage carbone annuel de la nouvelle forêt :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N/C 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Notes de suivi 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 trois ans, la collectivité a planté 387 arbres et 3 600 jeunes plants forestiers, dont une prairie boisée de 180 arbres à Villiersfins (45 000 € TTC) et une micro-forêt rue Monge (18 000 € TTC financés à 95% par mécénat). Un nouvel objectif vise la création d'un parc arboré au quartier de la gare d'ici 6 ans, en s'appuyant sur la Charte de l'arbre (2016) et le plan de gestion différenciée des espaces végétalisés (2021).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5916275" y="1823600"/>
            <a:ext cx="29457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6772675" y="2093950"/>
            <a:ext cx="2494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105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105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308" name="Google Shape;308;p32" title="mon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187" y="2020621"/>
            <a:ext cx="501275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2"/>
          <p:cNvSpPr/>
          <p:nvPr/>
        </p:nvSpPr>
        <p:spPr>
          <a:xfrm>
            <a:off x="7760075" y="1006175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>
              <a:solidFill>
                <a:schemeClr val="accent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ctrTitle"/>
          </p:nvPr>
        </p:nvSpPr>
        <p:spPr>
          <a:xfrm>
            <a:off x="319800" y="12584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sp>
        <p:nvSpPr>
          <p:cNvPr id="311" name="Google Shape;311;p32"/>
          <p:cNvSpPr/>
          <p:nvPr/>
        </p:nvSpPr>
        <p:spPr>
          <a:xfrm>
            <a:off x="5916275" y="2833025"/>
            <a:ext cx="29457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6772675" y="3191533"/>
            <a:ext cx="1708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313" name="Google Shape;313;p32" title="Concitoye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002" y="2992627"/>
            <a:ext cx="554221" cy="54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2"/>
          <p:cNvCxnSpPr/>
          <p:nvPr/>
        </p:nvCxnSpPr>
        <p:spPr>
          <a:xfrm>
            <a:off x="336175" y="1634200"/>
            <a:ext cx="8460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p32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17" name="Google Shape;3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>
            <a:spLocks noGrp="1"/>
          </p:cNvSpPr>
          <p:nvPr>
            <p:ph type="ctrTitle"/>
          </p:nvPr>
        </p:nvSpPr>
        <p:spPr>
          <a:xfrm>
            <a:off x="1608600" y="1006163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323" name="Google Shape;323;p33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24" name="Google Shape;324;p33"/>
          <p:cNvSpPr txBox="1"/>
          <p:nvPr/>
        </p:nvSpPr>
        <p:spPr>
          <a:xfrm>
            <a:off x="319800" y="1823600"/>
            <a:ext cx="5124300" cy="17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Notes de suivi 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 trois ans, la collectivité a planté 387 arbres et 3 600 jeunes plants forestiers, dont une prairie boisée de 180 arbres à Villiersfins (45 000 € TTC) et une micro-forêt rue Monge (18 000 € TTC financés à 95% par mécénat). Un nouvel objectif vise la création d'un parc arboré au quartier de la gare d'ici 6 ans, en s'appuyant sur la Charte de l'arbre (2016) et le plan de gestion différenciée des espaces végétalisés (2021).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25" name="Google Shape;325;p33"/>
          <p:cNvSpPr/>
          <p:nvPr/>
        </p:nvSpPr>
        <p:spPr>
          <a:xfrm>
            <a:off x="6148963" y="1787475"/>
            <a:ext cx="2534400" cy="7467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025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575" tIns="98575" rIns="98575" bIns="9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6885766" y="2020071"/>
            <a:ext cx="21459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6"/>
              <a:buFont typeface="Arial"/>
              <a:buNone/>
            </a:pPr>
            <a:r>
              <a:rPr lang="fr" sz="97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078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90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90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90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327" name="Google Shape;327;p33" title="mon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214" y="1956982"/>
            <a:ext cx="431272" cy="43125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ctrTitle"/>
          </p:nvPr>
        </p:nvSpPr>
        <p:spPr>
          <a:xfrm>
            <a:off x="1608600" y="12584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sp>
        <p:nvSpPr>
          <p:cNvPr id="329" name="Google Shape;329;p33"/>
          <p:cNvSpPr/>
          <p:nvPr/>
        </p:nvSpPr>
        <p:spPr>
          <a:xfrm>
            <a:off x="6148962" y="2655933"/>
            <a:ext cx="2534400" cy="7467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025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575" tIns="98575" rIns="98575" bIns="9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6885766" y="2964375"/>
            <a:ext cx="14700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6"/>
              <a:buFont typeface="Arial"/>
              <a:buNone/>
            </a:pPr>
            <a:r>
              <a:rPr lang="fr" sz="97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078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078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331" name="Google Shape;331;p33" title="Concitoye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1579" y="2793247"/>
            <a:ext cx="476824" cy="472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33"/>
          <p:cNvCxnSpPr/>
          <p:nvPr/>
        </p:nvCxnSpPr>
        <p:spPr>
          <a:xfrm>
            <a:off x="336175" y="1634200"/>
            <a:ext cx="8460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33"/>
          <p:cNvSpPr txBox="1"/>
          <p:nvPr/>
        </p:nvSpPr>
        <p:spPr>
          <a:xfrm>
            <a:off x="336175" y="3717413"/>
            <a:ext cx="34974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Chiffres clés :</a:t>
            </a:r>
            <a:endParaRPr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3242556" y="4009625"/>
            <a:ext cx="2712900" cy="799200"/>
          </a:xfrm>
          <a:prstGeom prst="roundRect">
            <a:avLst>
              <a:gd name="adj" fmla="val 6187"/>
            </a:avLst>
          </a:prstGeom>
          <a:solidFill>
            <a:schemeClr val="lt1"/>
          </a:solidFill>
          <a:ln w="109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525" tIns="105525" rIns="105525" bIns="105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4031327" y="4251425"/>
            <a:ext cx="18630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Font typeface="Arial"/>
              <a:buNone/>
            </a:pP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Hectares d’Espaces </a:t>
            </a:r>
            <a:b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Boisés Classés :  </a:t>
            </a:r>
            <a:r>
              <a:rPr lang="fr" sz="1154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 </a:t>
            </a:r>
            <a:r>
              <a:rPr lang="fr" sz="1154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(2024)</a:t>
            </a:r>
            <a:endParaRPr sz="1154">
              <a:solidFill>
                <a:schemeClr val="accen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336175" y="4009625"/>
            <a:ext cx="2712900" cy="799200"/>
          </a:xfrm>
          <a:prstGeom prst="roundRect">
            <a:avLst>
              <a:gd name="adj" fmla="val 6187"/>
            </a:avLst>
          </a:prstGeom>
          <a:solidFill>
            <a:srgbClr val="FBFCFE"/>
          </a:solidFill>
          <a:ln w="109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525" tIns="105525" rIns="105525" bIns="105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1124933" y="4251422"/>
            <a:ext cx="15735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Font typeface="Arial"/>
              <a:buNone/>
            </a:pP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Nombre d’arbres plantés : </a:t>
            </a:r>
            <a:r>
              <a:rPr lang="fr" sz="1154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 </a:t>
            </a:r>
            <a:r>
              <a:rPr lang="fr" sz="1154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(2024)</a:t>
            </a:r>
            <a:endParaRPr sz="1154">
              <a:solidFill>
                <a:schemeClr val="accen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38" name="Google Shape;338;p33" title="tre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7" y="4145200"/>
            <a:ext cx="528223" cy="528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33"/>
          <p:cNvCxnSpPr/>
          <p:nvPr/>
        </p:nvCxnSpPr>
        <p:spPr>
          <a:xfrm>
            <a:off x="336175" y="3582830"/>
            <a:ext cx="8460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0" name="Google Shape;340;p33" title="lea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200" y="4145134"/>
            <a:ext cx="528225" cy="52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3" title="Capture d’écran 2025-11-20 à 19.22.27.png"/>
          <p:cNvPicPr preferRelativeResize="0"/>
          <p:nvPr/>
        </p:nvPicPr>
        <p:blipFill rotWithShape="1">
          <a:blip r:embed="rId7">
            <a:alphaModFix/>
          </a:blip>
          <a:srcRect l="28122" t="30648" r="33190" b="19165"/>
          <a:stretch/>
        </p:blipFill>
        <p:spPr>
          <a:xfrm>
            <a:off x="319800" y="887825"/>
            <a:ext cx="1083600" cy="671400"/>
          </a:xfrm>
          <a:prstGeom prst="roundRect">
            <a:avLst>
              <a:gd name="adj" fmla="val 7469"/>
            </a:avLst>
          </a:prstGeom>
          <a:noFill/>
          <a:ln>
            <a:noFill/>
          </a:ln>
        </p:spPr>
      </p:pic>
      <p:sp>
        <p:nvSpPr>
          <p:cNvPr id="342" name="Google Shape;342;p33"/>
          <p:cNvSpPr/>
          <p:nvPr/>
        </p:nvSpPr>
        <p:spPr>
          <a:xfrm>
            <a:off x="7806475" y="1224950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EDF4FF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COURS</a:t>
            </a:r>
            <a:endParaRPr sz="1100">
              <a:solidFill>
                <a:schemeClr val="accent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7824625" y="1225143"/>
            <a:ext cx="801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673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673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RETARD</a:t>
            </a:r>
            <a:endParaRPr sz="1100">
              <a:solidFill>
                <a:srgbClr val="F673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7689925" y="1224950"/>
            <a:ext cx="9543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ABANDONNÉ</a:t>
            </a:r>
            <a:endParaRPr sz="110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5" name="Google Shape;345;p33"/>
          <p:cNvSpPr/>
          <p:nvPr/>
        </p:nvSpPr>
        <p:spPr>
          <a:xfrm>
            <a:off x="7997450" y="1224950"/>
            <a:ext cx="6615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AA9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AA9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BLOQUÉ</a:t>
            </a:r>
            <a:endParaRPr sz="1100">
              <a:solidFill>
                <a:srgbClr val="FAA90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7888225" y="1224950"/>
            <a:ext cx="756000" cy="317400"/>
          </a:xfrm>
          <a:prstGeom prst="roundRect">
            <a:avLst>
              <a:gd name="adj" fmla="val 16667"/>
            </a:avLst>
          </a:prstGeom>
          <a:solidFill>
            <a:srgbClr val="F0F0FE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VENIR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7755625" y="1224950"/>
            <a:ext cx="888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DISCUTER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7650775" y="1224950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AA84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>
              <a:solidFill>
                <a:srgbClr val="6AA84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6236163" y="4009625"/>
            <a:ext cx="2712900" cy="799200"/>
          </a:xfrm>
          <a:prstGeom prst="roundRect">
            <a:avLst>
              <a:gd name="adj" fmla="val 6187"/>
            </a:avLst>
          </a:prstGeom>
          <a:solidFill>
            <a:schemeClr val="lt1"/>
          </a:solidFill>
          <a:ln w="109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525" tIns="105525" rIns="105525" bIns="105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33"/>
          <p:cNvSpPr txBox="1"/>
          <p:nvPr/>
        </p:nvSpPr>
        <p:spPr>
          <a:xfrm>
            <a:off x="7024926" y="4079853"/>
            <a:ext cx="17802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Font typeface="Arial"/>
              <a:buNone/>
            </a:pP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Séquestration nette de CO2 dans les sols et la forêt :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29,9 </a:t>
            </a:r>
            <a:r>
              <a:rPr lang="fr" sz="1253" baseline="3000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(kteq CO2) </a:t>
            </a:r>
            <a:r>
              <a:rPr lang="fr" sz="1154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(2024)</a:t>
            </a:r>
            <a:endParaRPr sz="1154">
              <a:solidFill>
                <a:schemeClr val="accen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51" name="Google Shape;351;p33" title="CO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55749" y="4115214"/>
            <a:ext cx="588025" cy="58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3" name="Google Shape;353;p33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54" name="Google Shape;354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>
            <a:spLocks noGrp="1"/>
          </p:cNvSpPr>
          <p:nvPr>
            <p:ph type="ctrTitle"/>
          </p:nvPr>
        </p:nvSpPr>
        <p:spPr>
          <a:xfrm>
            <a:off x="319800" y="1006163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360" name="Google Shape;360;p34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61" name="Google Shape;361;p34"/>
          <p:cNvSpPr/>
          <p:nvPr/>
        </p:nvSpPr>
        <p:spPr>
          <a:xfrm>
            <a:off x="6148963" y="1787475"/>
            <a:ext cx="2534400" cy="7467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025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575" tIns="98575" rIns="98575" bIns="9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6885766" y="2020071"/>
            <a:ext cx="21459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6"/>
              <a:buFont typeface="Arial"/>
              <a:buNone/>
            </a:pPr>
            <a:r>
              <a:rPr lang="fr" sz="97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078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90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90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90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363" name="Google Shape;363;p34" title="mon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214" y="1956982"/>
            <a:ext cx="431272" cy="43125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 txBox="1">
            <a:spLocks noGrp="1"/>
          </p:cNvSpPr>
          <p:nvPr>
            <p:ph type="ctrTitle"/>
          </p:nvPr>
        </p:nvSpPr>
        <p:spPr>
          <a:xfrm>
            <a:off x="319800" y="12584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sp>
        <p:nvSpPr>
          <p:cNvPr id="365" name="Google Shape;365;p34"/>
          <p:cNvSpPr/>
          <p:nvPr/>
        </p:nvSpPr>
        <p:spPr>
          <a:xfrm>
            <a:off x="6148962" y="2655933"/>
            <a:ext cx="2534400" cy="7467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025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575" tIns="98575" rIns="98575" bIns="9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6885766" y="2964375"/>
            <a:ext cx="14700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6"/>
              <a:buFont typeface="Arial"/>
              <a:buNone/>
            </a:pPr>
            <a:r>
              <a:rPr lang="fr" sz="97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078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078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367" name="Google Shape;367;p34" title="Concitoye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1579" y="2793247"/>
            <a:ext cx="476824" cy="472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34"/>
          <p:cNvCxnSpPr/>
          <p:nvPr/>
        </p:nvCxnSpPr>
        <p:spPr>
          <a:xfrm>
            <a:off x="336175" y="1634200"/>
            <a:ext cx="8460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9" name="Google Shape;369;p34"/>
          <p:cNvSpPr txBox="1"/>
          <p:nvPr/>
        </p:nvSpPr>
        <p:spPr>
          <a:xfrm>
            <a:off x="336175" y="3717413"/>
            <a:ext cx="34974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Chiffres clés :</a:t>
            </a:r>
            <a:endParaRPr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3242556" y="4009625"/>
            <a:ext cx="2712900" cy="799200"/>
          </a:xfrm>
          <a:prstGeom prst="roundRect">
            <a:avLst>
              <a:gd name="adj" fmla="val 6187"/>
            </a:avLst>
          </a:prstGeom>
          <a:solidFill>
            <a:schemeClr val="lt1"/>
          </a:solidFill>
          <a:ln w="109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525" tIns="105525" rIns="105525" bIns="105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4031327" y="4251425"/>
            <a:ext cx="18630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Font typeface="Arial"/>
              <a:buNone/>
            </a:pP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Hectares d’Espaces </a:t>
            </a:r>
            <a:b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Boisés Classés  </a:t>
            </a:r>
            <a:r>
              <a:rPr lang="fr" sz="1154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 </a:t>
            </a:r>
            <a:r>
              <a:rPr lang="fr" sz="1154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(2024)</a:t>
            </a:r>
            <a:endParaRPr sz="1154">
              <a:solidFill>
                <a:schemeClr val="accen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336175" y="4009625"/>
            <a:ext cx="2712900" cy="799200"/>
          </a:xfrm>
          <a:prstGeom prst="roundRect">
            <a:avLst>
              <a:gd name="adj" fmla="val 6187"/>
            </a:avLst>
          </a:prstGeom>
          <a:solidFill>
            <a:srgbClr val="FBFCFE"/>
          </a:solidFill>
          <a:ln w="109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525" tIns="105525" rIns="105525" bIns="105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34"/>
          <p:cNvSpPr txBox="1"/>
          <p:nvPr/>
        </p:nvSpPr>
        <p:spPr>
          <a:xfrm>
            <a:off x="1124933" y="4251422"/>
            <a:ext cx="15735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Font typeface="Arial"/>
              <a:buNone/>
            </a:pP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Nombre d’arbres plantés  </a:t>
            </a:r>
            <a:r>
              <a:rPr lang="fr" sz="1154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 </a:t>
            </a:r>
            <a:r>
              <a:rPr lang="fr" sz="1154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(2024)</a:t>
            </a:r>
            <a:endParaRPr sz="1154">
              <a:solidFill>
                <a:schemeClr val="accen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74" name="Google Shape;374;p34" title="tre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7" y="4145200"/>
            <a:ext cx="528223" cy="528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34"/>
          <p:cNvCxnSpPr/>
          <p:nvPr/>
        </p:nvCxnSpPr>
        <p:spPr>
          <a:xfrm>
            <a:off x="336175" y="3546475"/>
            <a:ext cx="8460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6" name="Google Shape;376;p34" title="lea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200" y="4145134"/>
            <a:ext cx="528225" cy="52820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4"/>
          <p:cNvSpPr/>
          <p:nvPr/>
        </p:nvSpPr>
        <p:spPr>
          <a:xfrm>
            <a:off x="7076325" y="-520750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AA84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>
              <a:solidFill>
                <a:srgbClr val="6AA84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8283325" y="-520750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EDF4FF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COURS</a:t>
            </a:r>
            <a:endParaRPr sz="1100">
              <a:solidFill>
                <a:schemeClr val="accent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7076325" y="-929950"/>
            <a:ext cx="801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673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673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RETARD</a:t>
            </a:r>
            <a:endParaRPr sz="1100">
              <a:solidFill>
                <a:srgbClr val="F673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8050625" y="-929950"/>
            <a:ext cx="9543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ABANDONNÉ</a:t>
            </a:r>
            <a:endParaRPr sz="110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6300200" y="-929950"/>
            <a:ext cx="6615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AA9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AA9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BLOQUÉ</a:t>
            </a:r>
            <a:endParaRPr sz="1100">
              <a:solidFill>
                <a:srgbClr val="FAA90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6205675" y="-520750"/>
            <a:ext cx="756000" cy="317400"/>
          </a:xfrm>
          <a:prstGeom prst="roundRect">
            <a:avLst>
              <a:gd name="adj" fmla="val 16667"/>
            </a:avLst>
          </a:prstGeom>
          <a:solidFill>
            <a:srgbClr val="F0F0FE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VENIR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5202275" y="-520750"/>
            <a:ext cx="888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DISCUTER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7806475" y="1224950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EDF4FF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COURS</a:t>
            </a:r>
            <a:endParaRPr sz="1100">
              <a:solidFill>
                <a:schemeClr val="accent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7824625" y="1225143"/>
            <a:ext cx="801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673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673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RETARD</a:t>
            </a:r>
            <a:endParaRPr sz="1100">
              <a:solidFill>
                <a:srgbClr val="F673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7689925" y="1224950"/>
            <a:ext cx="9543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ABANDONNÉ</a:t>
            </a:r>
            <a:endParaRPr sz="110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7997450" y="1224950"/>
            <a:ext cx="6615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AA9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AA9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BLOQUÉ</a:t>
            </a:r>
            <a:endParaRPr sz="1100">
              <a:solidFill>
                <a:srgbClr val="FAA90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7888225" y="1224950"/>
            <a:ext cx="756000" cy="317400"/>
          </a:xfrm>
          <a:prstGeom prst="roundRect">
            <a:avLst>
              <a:gd name="adj" fmla="val 16667"/>
            </a:avLst>
          </a:prstGeom>
          <a:solidFill>
            <a:srgbClr val="F0F0FE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VENIR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7755625" y="1224950"/>
            <a:ext cx="888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DISCUTER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319800" y="1823600"/>
            <a:ext cx="5124300" cy="17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Notes de suivi 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 trois ans, la collectivité a planté 387 arbres et 3 600 jeunes plants forestiers, dont une prairie boisée de 180 arbres à Villiersfins (45 000 € TTC) et une micro-forêt rue Monge (18 000 € TTC financés à 95% par mécénat). Un nouvel objectif vise la création d'un parc arboré au quartier de la gare d'ici 6 ans, en s'appuyant sur la Charte de l'arbre (2016) et le plan de gestion différenciée des espaces végétalisés (2021).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6236163" y="4009625"/>
            <a:ext cx="2712900" cy="799200"/>
          </a:xfrm>
          <a:prstGeom prst="roundRect">
            <a:avLst>
              <a:gd name="adj" fmla="val 6187"/>
            </a:avLst>
          </a:prstGeom>
          <a:solidFill>
            <a:schemeClr val="lt1"/>
          </a:solidFill>
          <a:ln w="109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525" tIns="105525" rIns="105525" bIns="105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7024926" y="4079853"/>
            <a:ext cx="17802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Font typeface="Arial"/>
              <a:buNone/>
            </a:pPr>
            <a:r>
              <a:rPr lang="fr" sz="1038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Séquestration nette de CO2 dans les sols et la forêt :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29,9 </a:t>
            </a:r>
            <a:r>
              <a:rPr lang="fr" sz="1253" baseline="3000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(kteq CO2) </a:t>
            </a:r>
            <a:r>
              <a:rPr lang="fr" sz="1154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(2024)</a:t>
            </a:r>
            <a:endParaRPr sz="1154">
              <a:solidFill>
                <a:schemeClr val="accen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93" name="Google Shape;393;p34" title="CO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5749" y="4115214"/>
            <a:ext cx="588025" cy="58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5" name="Google Shape;395;p34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96" name="Google Shape;396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7" name="Google Shape;397;p34"/>
          <p:cNvSpPr/>
          <p:nvPr/>
        </p:nvSpPr>
        <p:spPr>
          <a:xfrm>
            <a:off x="5347675" y="-929950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NON DÉFINI</a:t>
            </a:r>
            <a:endParaRPr sz="110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7847275" y="1221813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NON DÉFINI</a:t>
            </a:r>
            <a:endParaRPr sz="110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7650775" y="1224950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AA84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>
              <a:solidFill>
                <a:srgbClr val="6AA84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>
            <a:spLocks noGrp="1"/>
          </p:cNvSpPr>
          <p:nvPr>
            <p:ph type="ctrTitle"/>
          </p:nvPr>
        </p:nvSpPr>
        <p:spPr>
          <a:xfrm>
            <a:off x="318950" y="1051601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 - </a:t>
            </a:r>
            <a:endParaRPr sz="1600"/>
          </a:p>
        </p:txBody>
      </p:sp>
      <p:sp>
        <p:nvSpPr>
          <p:cNvPr id="405" name="Google Shape;405;p35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407" name="Google Shape;407;p35"/>
          <p:cNvSpPr/>
          <p:nvPr/>
        </p:nvSpPr>
        <p:spPr>
          <a:xfrm>
            <a:off x="318950" y="1543275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8" name="Google Shape;408;p35" title="Hectares d’Espaces Boisés Classés.png"/>
          <p:cNvPicPr preferRelativeResize="0"/>
          <p:nvPr/>
        </p:nvPicPr>
        <p:blipFill rotWithShape="1">
          <a:blip r:embed="rId3">
            <a:alphaModFix/>
          </a:blip>
          <a:srcRect t="4707"/>
          <a:stretch/>
        </p:blipFill>
        <p:spPr>
          <a:xfrm>
            <a:off x="477688" y="1951375"/>
            <a:ext cx="3710623" cy="184559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5"/>
          <p:cNvSpPr txBox="1">
            <a:spLocks noGrp="1"/>
          </p:cNvSpPr>
          <p:nvPr>
            <p:ph type="title" idx="4294967295"/>
          </p:nvPr>
        </p:nvSpPr>
        <p:spPr>
          <a:xfrm>
            <a:off x="477700" y="171325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Nombre d’arbres plantés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4742625" y="1543275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35"/>
          <p:cNvSpPr txBox="1">
            <a:spLocks noGrp="1"/>
          </p:cNvSpPr>
          <p:nvPr>
            <p:ph type="title" idx="4294967295"/>
          </p:nvPr>
        </p:nvSpPr>
        <p:spPr>
          <a:xfrm>
            <a:off x="4901375" y="171325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12" name="Google Shape;412;p35" title="Nombre d’arbres plantés.png"/>
          <p:cNvPicPr preferRelativeResize="0"/>
          <p:nvPr/>
        </p:nvPicPr>
        <p:blipFill rotWithShape="1">
          <a:blip r:embed="rId4">
            <a:alphaModFix/>
          </a:blip>
          <a:srcRect t="4370"/>
          <a:stretch/>
        </p:blipFill>
        <p:spPr>
          <a:xfrm>
            <a:off x="4947500" y="1948075"/>
            <a:ext cx="3710602" cy="18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5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15" name="Google Shape;41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421" name="Google Shape;421;p36"/>
          <p:cNvSpPr txBox="1">
            <a:spLocks noGrp="1"/>
          </p:cNvSpPr>
          <p:nvPr>
            <p:ph type="ctrTitle"/>
          </p:nvPr>
        </p:nvSpPr>
        <p:spPr>
          <a:xfrm>
            <a:off x="318950" y="1051601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422" name="Google Shape;422;p36"/>
          <p:cNvSpPr txBox="1">
            <a:spLocks noGrp="1"/>
          </p:cNvSpPr>
          <p:nvPr>
            <p:ph type="title" idx="2"/>
          </p:nvPr>
        </p:nvSpPr>
        <p:spPr>
          <a:xfrm>
            <a:off x="319800" y="1321836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cxnSp>
        <p:nvCxnSpPr>
          <p:cNvPr id="423" name="Google Shape;423;p36"/>
          <p:cNvCxnSpPr/>
          <p:nvPr/>
        </p:nvCxnSpPr>
        <p:spPr>
          <a:xfrm>
            <a:off x="336175" y="2019250"/>
            <a:ext cx="4136400" cy="1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4" name="Google Shape;424;p36"/>
          <p:cNvSpPr/>
          <p:nvPr/>
        </p:nvSpPr>
        <p:spPr>
          <a:xfrm>
            <a:off x="4742625" y="2438463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p36"/>
          <p:cNvSpPr txBox="1">
            <a:spLocks noGrp="1"/>
          </p:cNvSpPr>
          <p:nvPr>
            <p:ph type="title" idx="4294967295"/>
          </p:nvPr>
        </p:nvSpPr>
        <p:spPr>
          <a:xfrm>
            <a:off x="4901375" y="2608438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26" name="Google Shape;426;p36" title="Nombre d’arbres plantés.png"/>
          <p:cNvPicPr preferRelativeResize="0"/>
          <p:nvPr/>
        </p:nvPicPr>
        <p:blipFill rotWithShape="1">
          <a:blip r:embed="rId3">
            <a:alphaModFix/>
          </a:blip>
          <a:srcRect t="4370"/>
          <a:stretch/>
        </p:blipFill>
        <p:spPr>
          <a:xfrm>
            <a:off x="4947500" y="2843263"/>
            <a:ext cx="3710602" cy="18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/>
          <p:nvPr/>
        </p:nvSpPr>
        <p:spPr>
          <a:xfrm>
            <a:off x="336175" y="2175463"/>
            <a:ext cx="2945700" cy="676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1142875" y="2339975"/>
            <a:ext cx="2494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105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105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429" name="Google Shape;429;p36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25" y="2286023"/>
            <a:ext cx="493456" cy="49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6"/>
          <p:cNvSpPr/>
          <p:nvPr/>
        </p:nvSpPr>
        <p:spPr>
          <a:xfrm>
            <a:off x="336175" y="3003588"/>
            <a:ext cx="2945700" cy="676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36"/>
          <p:cNvSpPr txBox="1"/>
          <p:nvPr/>
        </p:nvSpPr>
        <p:spPr>
          <a:xfrm>
            <a:off x="1142875" y="3266388"/>
            <a:ext cx="1300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432" name="Google Shape;432;p36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200" y="3093701"/>
            <a:ext cx="501275" cy="49627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/>
          <p:nvPr/>
        </p:nvSpPr>
        <p:spPr>
          <a:xfrm>
            <a:off x="4696250" y="29774"/>
            <a:ext cx="4447800" cy="5143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4906100" y="177500"/>
            <a:ext cx="4028100" cy="23139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5" name="Google Shape;435;p36" title="Hectares d’Espaces Boisés Classés.png"/>
          <p:cNvPicPr preferRelativeResize="0"/>
          <p:nvPr/>
        </p:nvPicPr>
        <p:blipFill rotWithShape="1">
          <a:blip r:embed="rId6">
            <a:alphaModFix/>
          </a:blip>
          <a:srcRect t="4707"/>
          <a:stretch/>
        </p:blipFill>
        <p:spPr>
          <a:xfrm>
            <a:off x="5064838" y="585600"/>
            <a:ext cx="3710623" cy="18455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6"/>
          <p:cNvSpPr txBox="1">
            <a:spLocks noGrp="1"/>
          </p:cNvSpPr>
          <p:nvPr>
            <p:ph type="title" idx="4294967295"/>
          </p:nvPr>
        </p:nvSpPr>
        <p:spPr>
          <a:xfrm>
            <a:off x="5064850" y="3474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Nombre d’arbres plantés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4906100" y="2648900"/>
            <a:ext cx="4028100" cy="23139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36"/>
          <p:cNvSpPr txBox="1">
            <a:spLocks noGrp="1"/>
          </p:cNvSpPr>
          <p:nvPr>
            <p:ph type="title" idx="4294967295"/>
          </p:nvPr>
        </p:nvSpPr>
        <p:spPr>
          <a:xfrm>
            <a:off x="5064850" y="28188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39" name="Google Shape;439;p36" title="Nombre d’arbres plantés.png"/>
          <p:cNvPicPr preferRelativeResize="0"/>
          <p:nvPr/>
        </p:nvPicPr>
        <p:blipFill rotWithShape="1">
          <a:blip r:embed="rId3">
            <a:alphaModFix/>
          </a:blip>
          <a:srcRect t="4370"/>
          <a:stretch/>
        </p:blipFill>
        <p:spPr>
          <a:xfrm>
            <a:off x="5110975" y="3053700"/>
            <a:ext cx="3710602" cy="18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6"/>
          <p:cNvSpPr/>
          <p:nvPr/>
        </p:nvSpPr>
        <p:spPr>
          <a:xfrm>
            <a:off x="7806475" y="1224950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EDF4FF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COURS</a:t>
            </a:r>
            <a:endParaRPr sz="1100">
              <a:solidFill>
                <a:schemeClr val="accent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7824625" y="1225143"/>
            <a:ext cx="801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673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673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RETARD</a:t>
            </a:r>
            <a:endParaRPr sz="1100">
              <a:solidFill>
                <a:srgbClr val="F673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7689925" y="1224950"/>
            <a:ext cx="9543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ABANDONNÉ</a:t>
            </a:r>
            <a:endParaRPr sz="110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3" name="Google Shape;443;p36"/>
          <p:cNvSpPr/>
          <p:nvPr/>
        </p:nvSpPr>
        <p:spPr>
          <a:xfrm>
            <a:off x="7997450" y="1224950"/>
            <a:ext cx="6615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AA9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AA9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BLOQUÉ</a:t>
            </a:r>
            <a:endParaRPr sz="1100">
              <a:solidFill>
                <a:srgbClr val="FAA90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4" name="Google Shape;444;p36"/>
          <p:cNvSpPr/>
          <p:nvPr/>
        </p:nvSpPr>
        <p:spPr>
          <a:xfrm>
            <a:off x="7888225" y="1224950"/>
            <a:ext cx="756000" cy="317400"/>
          </a:xfrm>
          <a:prstGeom prst="roundRect">
            <a:avLst>
              <a:gd name="adj" fmla="val 16667"/>
            </a:avLst>
          </a:prstGeom>
          <a:solidFill>
            <a:srgbClr val="F0F0FE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VENIR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7755625" y="1224950"/>
            <a:ext cx="888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DISCUTER</a:t>
            </a:r>
            <a:endParaRPr sz="110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6" name="Google Shape;446;p36"/>
          <p:cNvSpPr/>
          <p:nvPr/>
        </p:nvSpPr>
        <p:spPr>
          <a:xfrm>
            <a:off x="7650775" y="1224950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AA84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>
              <a:solidFill>
                <a:srgbClr val="6AA84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49" name="Google Shape;449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7" title="logo final + accroc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675" y="182725"/>
            <a:ext cx="1375626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/>
        </p:nvSpPr>
        <p:spPr>
          <a:xfrm>
            <a:off x="288500" y="1059775"/>
            <a:ext cx="77733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Données territoriales :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d’énergie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GES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Production ENR : </a:t>
            </a:r>
            <a:r>
              <a:rPr lang="fr" sz="12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https://ecologie.data.gouv.fr/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Notes de suivi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: les résumés ont été généré par intelligence artificielle à partir des notes de suivi des actions. Il s'appuie sur les outils développés par l’entreprise française Mistral Al.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Rapport généré par </a:t>
            </a: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Territoires en Transitions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" name="Google Shape;456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457" name="Google Shape;457;p37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8" name="Google Shape;458;p37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59" name="Google Shape;45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200"/>
              <a:t>21</a:t>
            </a:fld>
            <a:endParaRPr sz="200"/>
          </a:p>
        </p:txBody>
      </p:sp>
      <p:pic>
        <p:nvPicPr>
          <p:cNvPr id="465" name="Google Shape;465;p38" title="mon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228" y="1497872"/>
            <a:ext cx="661916" cy="66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8" title="environm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125" y="1441151"/>
            <a:ext cx="661916" cy="66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8" title="su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6675" y="1472106"/>
            <a:ext cx="685096" cy="68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8" title="viru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1891" y="1429550"/>
            <a:ext cx="685096" cy="68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8" title="ar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4754" y="1486279"/>
            <a:ext cx="685096" cy="68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8" title="foo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97099" y="1486276"/>
            <a:ext cx="685096" cy="68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8" title="human-cooper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30514" y="2852656"/>
            <a:ext cx="661916" cy="66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8" title="tre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65211" y="2852656"/>
            <a:ext cx="661916" cy="66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8" title="Gouvernanc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80502" y="2818413"/>
            <a:ext cx="661916" cy="66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8" title="companie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40925" y="2807375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8" title="community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70975" y="2841600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8" title="map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049150" y="2893150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8"/>
          <p:cNvSpPr txBox="1"/>
          <p:nvPr/>
        </p:nvSpPr>
        <p:spPr>
          <a:xfrm>
            <a:off x="2049150" y="222107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Activités économiques</a:t>
            </a:r>
            <a:endParaRPr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8" name="Google Shape;478;p38"/>
          <p:cNvSpPr txBox="1"/>
          <p:nvPr/>
        </p:nvSpPr>
        <p:spPr>
          <a:xfrm>
            <a:off x="2964650" y="222107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Agriculture et alimentation</a:t>
            </a: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38"/>
          <p:cNvSpPr txBox="1"/>
          <p:nvPr/>
        </p:nvSpPr>
        <p:spPr>
          <a:xfrm>
            <a:off x="3796050" y="222107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Culture, identité collective, sport</a:t>
            </a: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4711550" y="222107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Eau, milieux aquatiques et assainissement</a:t>
            </a:r>
            <a:b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p38"/>
          <p:cNvSpPr txBox="1"/>
          <p:nvPr/>
        </p:nvSpPr>
        <p:spPr>
          <a:xfrm>
            <a:off x="5542950" y="222107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Économie circulaire et déchets</a:t>
            </a:r>
            <a:b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38"/>
          <p:cNvSpPr txBox="1"/>
          <p:nvPr/>
        </p:nvSpPr>
        <p:spPr>
          <a:xfrm>
            <a:off x="6458450" y="222107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Énergie et climat</a:t>
            </a:r>
            <a:b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" name="Google Shape;483;p38"/>
          <p:cNvSpPr txBox="1"/>
          <p:nvPr/>
        </p:nvSpPr>
        <p:spPr>
          <a:xfrm>
            <a:off x="1994100" y="360162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Mobilité et transport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2909600" y="360162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Nature, environnement, air</a:t>
            </a:r>
            <a:b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38"/>
          <p:cNvSpPr txBox="1"/>
          <p:nvPr/>
        </p:nvSpPr>
        <p:spPr>
          <a:xfrm>
            <a:off x="3770975" y="360162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Sensibilisation, communication et accompagnement au changement</a:t>
            </a:r>
            <a:b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p38"/>
          <p:cNvSpPr txBox="1"/>
          <p:nvPr/>
        </p:nvSpPr>
        <p:spPr>
          <a:xfrm>
            <a:off x="4686475" y="3601625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Solidarité et lien social</a:t>
            </a:r>
            <a:b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38"/>
          <p:cNvSpPr txBox="1"/>
          <p:nvPr/>
        </p:nvSpPr>
        <p:spPr>
          <a:xfrm>
            <a:off x="5436463" y="3519100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Stratégie, organisation interne et gouvernance</a:t>
            </a:r>
            <a:b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8" name="Google Shape;488;p38"/>
          <p:cNvSpPr txBox="1"/>
          <p:nvPr/>
        </p:nvSpPr>
        <p:spPr>
          <a:xfrm>
            <a:off x="6399888" y="3519100"/>
            <a:ext cx="7500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Urbanisme, logement, aménagement, bâtiments</a:t>
            </a: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38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0" name="Google Shape;490;p38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91" name="Google Shape;491;p3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6FA8DC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1336</Words>
  <Application>Microsoft Macintosh PowerPoint</Application>
  <PresentationFormat>Affichage à l'écran (16:9)</PresentationFormat>
  <Paragraphs>246</Paragraphs>
  <Slides>21</Slides>
  <Notes>21</Notes>
  <HiddenSlides>3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Poppins SemiBold</vt:lpstr>
      <vt:lpstr>Poppins ExtraBold</vt:lpstr>
      <vt:lpstr>Poppins Medium</vt:lpstr>
      <vt:lpstr>Poppins</vt:lpstr>
      <vt:lpstr>Theme TET</vt:lpstr>
      <vt:lpstr>{{PLAN_NOM}}</vt:lpstr>
      <vt:lpstr>Sommaire</vt:lpstr>
      <vt:lpstr>Synthèse du plan </vt:lpstr>
      <vt:lpstr>Synthèse du plan</vt:lpstr>
      <vt:lpstr>Synthèse du plan</vt:lpstr>
      <vt:lpstr>Avancement du plan </vt:lpstr>
      <vt:lpstr>Avancement du plan </vt:lpstr>
      <vt:lpstr>Données territoriales</vt:lpstr>
      <vt:lpstr>Consommation énergétique finale</vt:lpstr>
      <vt:lpstr>Émission de gaz à effet de serre</vt:lpstr>
      <vt:lpstr>Production d’énergie renouvelable du territoire</vt:lpstr>
      <vt:lpstr>Avancement des axes et leur actions</vt:lpstr>
      <vt:lpstr>Axe 1. Déchets et Économie Circulaire</vt:lpstr>
      <vt:lpstr>Avancement des axes et leur actions</vt:lpstr>
      <vt:lpstr>4.3 Créer un nouvel espace boisé à Blois</vt:lpstr>
      <vt:lpstr>4.3 Créer un nouvel espace boisé à Blois</vt:lpstr>
      <vt:lpstr>4.3 Créer un nouvel espace boisé à Blois</vt:lpstr>
      <vt:lpstr>4.3 Créer un nouvel espace boisé à Blois - </vt:lpstr>
      <vt:lpstr>4.3 Créer un nouvel espace boisé à Blois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Thibaut Dusanter</cp:lastModifiedBy>
  <cp:revision>28</cp:revision>
  <dcterms:modified xsi:type="dcterms:W3CDTF">2025-12-02T15:13:31Z</dcterms:modified>
</cp:coreProperties>
</file>