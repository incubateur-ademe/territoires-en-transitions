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2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9144000" cy="5143500" type="screen16x9"/>
  <p:notesSz cx="6858000" cy="9144000"/>
  <p:embeddedFontLst>
    <p:embeddedFont>
      <p:font typeface="Poppins" pitchFamily="2" charset="77"/>
      <p:regular r:id="rId24"/>
      <p:bold r:id="rId25"/>
      <p:italic r:id="rId26"/>
      <p:boldItalic r:id="rId27"/>
    </p:embeddedFont>
    <p:embeddedFont>
      <p:font typeface="Poppins ExtraBold" panose="00000900000000000000" pitchFamily="2" charset="77"/>
      <p:bold r:id="rId28"/>
      <p:italic r:id="rId29"/>
      <p:boldItalic r:id="rId30"/>
    </p:embeddedFont>
    <p:embeddedFont>
      <p:font typeface="Poppins Medium" panose="00000600000000000000" pitchFamily="2" charset="77"/>
      <p:regular r:id="rId31"/>
      <p:italic r:id="rId32"/>
    </p:embeddedFont>
    <p:embeddedFont>
      <p:font typeface="Poppins SemiBold" panose="00000700000000000000" pitchFamily="2" charset="77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icolas VALLÉE" initials="" lastIdx="8" clrIdx="0"/>
  <p:cmAuthor id="1" name="Clément Saulnier" initials="" lastIdx="21" clrIdx="1"/>
  <p:cmAuthor id="2" name="Manon Bouvier" initials="" lastIdx="1" clrIdx="2"/>
  <p:cmAuthor id="3" name="thibaut dusanter" initials="" lastIdx="1" clrIdx="3"/>
  <p:cmAuthor id="4" name="Arnaud Morvan" initials="" lastIdx="3" clrIdx="4"/>
  <p:cmAuthor id="5" name="Territoires en Transitions" initials="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D5A437C-706F-4A56-B884-62DC5EDBEEEA}">
  <a:tblStyle styleId="{7D5A437C-706F-4A56-B884-62DC5EDBEEE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869"/>
    <p:restoredTop sz="94643"/>
  </p:normalViewPr>
  <p:slideViewPr>
    <p:cSldViewPr snapToGrid="0">
      <p:cViewPr varScale="1">
        <p:scale>
          <a:sx n="93" d="100"/>
          <a:sy n="93" d="100"/>
        </p:scale>
        <p:origin x="200" y="1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125f6b97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125f6b97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878b42931e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878b42931e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2ac66177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2ac66177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7733054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a7733054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a20c2ba14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aa20c2ba14_0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9fdd9055c2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9fdd9055c2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aa20c2ba1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aa20c2ba1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fdd9055c2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9fdd9055c2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9fdd9055c2_1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9fdd9055c2_1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2ac66177a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a2ac66177a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2ac66177a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a2ac66177a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a573bcef67_6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a573bcef67_6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9fdd9055c2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9fdd9055c2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7733054b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a7733054b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a2ac66177a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3a2ac66177a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a7733054ba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a7733054ba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a7733054ba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a7733054ba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9fdd9055c2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9fdd9055c2_1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a7733054ba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a7733054ba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a081d125a2_4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3a081d125a2_4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a99574d14f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a99574d14f_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 descr="dsds"/>
          <p:cNvSpPr txBox="1">
            <a:spLocks noGrp="1"/>
          </p:cNvSpPr>
          <p:nvPr>
            <p:ph type="ctrTitle"/>
          </p:nvPr>
        </p:nvSpPr>
        <p:spPr>
          <a:xfrm>
            <a:off x="311700" y="1861375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71100" y="24441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title" idx="2"/>
          </p:nvPr>
        </p:nvSpPr>
        <p:spPr>
          <a:xfrm>
            <a:off x="1014150" y="2927825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">
  <p:cSld name="TITLE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 descr="dsds"/>
          <p:cNvSpPr txBox="1">
            <a:spLocks noGrp="1"/>
          </p:cNvSpPr>
          <p:nvPr>
            <p:ph type="ctrTitle"/>
          </p:nvPr>
        </p:nvSpPr>
        <p:spPr>
          <a:xfrm>
            <a:off x="249400" y="90885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/>
          </p:nvPr>
        </p:nvSpPr>
        <p:spPr>
          <a:xfrm>
            <a:off x="249400" y="1334409"/>
            <a:ext cx="7115700" cy="3543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 1">
  <p:cSld name="TITLE_1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 descr="dsds"/>
          <p:cNvSpPr txBox="1">
            <a:spLocks noGrp="1"/>
          </p:cNvSpPr>
          <p:nvPr>
            <p:ph type="ctrTitle"/>
          </p:nvPr>
        </p:nvSpPr>
        <p:spPr>
          <a:xfrm>
            <a:off x="249400" y="68630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 idx="2"/>
          </p:nvPr>
        </p:nvSpPr>
        <p:spPr>
          <a:xfrm>
            <a:off x="249400" y="1090509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ge de garde">
  <p:cSld name="CUSTOM_2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53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 idx="2"/>
          </p:nvPr>
        </p:nvSpPr>
        <p:spPr>
          <a:xfrm>
            <a:off x="819600" y="2685750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 1">
  <p:cSld name="SECTION_HEADER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/>
          <p:nvPr/>
        </p:nvSpPr>
        <p:spPr>
          <a:xfrm>
            <a:off x="-50" y="0"/>
            <a:ext cx="9144000" cy="1272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85750" y="326000"/>
            <a:ext cx="3962100" cy="53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 idx="2"/>
          </p:nvPr>
        </p:nvSpPr>
        <p:spPr>
          <a:xfrm>
            <a:off x="4785750" y="967700"/>
            <a:ext cx="42354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Poppins Medium"/>
              <a:buNone/>
              <a:defRPr sz="1200" b="0">
                <a:solidFill>
                  <a:schemeClr val="accent5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 et description 1 1">
  <p:cSld name="SECTION_TITLE_AND_DESCRIPTION_1_1">
    <p:bg>
      <p:bgPr>
        <a:solidFill>
          <a:srgbClr val="FAFBFF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/>
          <p:nvPr/>
        </p:nvSpPr>
        <p:spPr>
          <a:xfrm>
            <a:off x="3845600" y="0"/>
            <a:ext cx="5298300" cy="15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1" name="Google Shape;51;p9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6" name="Google Shape;56;p9"/>
          <p:cNvSpPr/>
          <p:nvPr/>
        </p:nvSpPr>
        <p:spPr>
          <a:xfrm>
            <a:off x="5550" y="0"/>
            <a:ext cx="9144000" cy="89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068119" y="4361581"/>
            <a:ext cx="953100" cy="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 88</a:t>
            </a: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iffre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62" name="Google Shape;62;p11"/>
          <p:cNvSpPr txBox="1"/>
          <p:nvPr/>
        </p:nvSpPr>
        <p:spPr>
          <a:xfrm>
            <a:off x="11225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" name="Google Shape;63;p11"/>
          <p:cNvSpPr txBox="1"/>
          <p:nvPr/>
        </p:nvSpPr>
        <p:spPr>
          <a:xfrm>
            <a:off x="11225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4" name="Google Shape;64;p11"/>
          <p:cNvSpPr txBox="1"/>
          <p:nvPr/>
        </p:nvSpPr>
        <p:spPr>
          <a:xfrm>
            <a:off x="2936788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5" name="Google Shape;65;p11"/>
          <p:cNvSpPr txBox="1"/>
          <p:nvPr/>
        </p:nvSpPr>
        <p:spPr>
          <a:xfrm>
            <a:off x="2936788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6" name="Google Shape;66;p11"/>
          <p:cNvSpPr txBox="1"/>
          <p:nvPr/>
        </p:nvSpPr>
        <p:spPr>
          <a:xfrm>
            <a:off x="4751025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" name="Google Shape;67;p11"/>
          <p:cNvSpPr txBox="1"/>
          <p:nvPr/>
        </p:nvSpPr>
        <p:spPr>
          <a:xfrm>
            <a:off x="4751025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8" name="Google Shape;68;p11"/>
          <p:cNvSpPr txBox="1"/>
          <p:nvPr/>
        </p:nvSpPr>
        <p:spPr>
          <a:xfrm>
            <a:off x="65652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" name="Google Shape;69;p11"/>
          <p:cNvSpPr txBox="1"/>
          <p:nvPr/>
        </p:nvSpPr>
        <p:spPr>
          <a:xfrm>
            <a:off x="65652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0" name="Google Shape;70;p11"/>
          <p:cNvSpPr txBox="1">
            <a:spLocks noGrp="1"/>
          </p:cNvSpPr>
          <p:nvPr>
            <p:ph type="ctrTitle"/>
          </p:nvPr>
        </p:nvSpPr>
        <p:spPr>
          <a:xfrm>
            <a:off x="311700" y="1786100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ubTitle" idx="1"/>
          </p:nvPr>
        </p:nvSpPr>
        <p:spPr>
          <a:xfrm>
            <a:off x="1518475" y="24623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2">
  <p:cSld name="CUSTOM_3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7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05458D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">
  <p:cSld name="CUSTOM">
    <p:bg>
      <p:bgPr>
        <a:solidFill>
          <a:srgbClr val="05458D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4"/>
          <p:cNvSpPr txBox="1">
            <a:spLocks noGrp="1"/>
          </p:cNvSpPr>
          <p:nvPr>
            <p:ph type="title"/>
          </p:nvPr>
        </p:nvSpPr>
        <p:spPr>
          <a:xfrm>
            <a:off x="898200" y="2325450"/>
            <a:ext cx="7347600" cy="5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8" name="Google Shape;78;p14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 txBox="1">
            <a:spLocks noGrp="1"/>
          </p:cNvSpPr>
          <p:nvPr>
            <p:ph type="title" idx="2"/>
          </p:nvPr>
        </p:nvSpPr>
        <p:spPr>
          <a:xfrm>
            <a:off x="1873025" y="32614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pic>
        <p:nvPicPr>
          <p:cNvPr id="80" name="Google Shape;80;p14" title="Fiche actio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8903" y="1639029"/>
            <a:ext cx="686423" cy="686426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2">
  <p:cSld name="CUSTOM_4">
    <p:bg>
      <p:bgPr>
        <a:solidFill>
          <a:srgbClr val="05458D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>
            <a:spLocks noGrp="1"/>
          </p:cNvSpPr>
          <p:nvPr>
            <p:ph type="title"/>
          </p:nvPr>
        </p:nvSpPr>
        <p:spPr>
          <a:xfrm>
            <a:off x="898200" y="28766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84" name="Google Shape;84;p15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>
            <a:spLocks noGrp="1"/>
          </p:cNvSpPr>
          <p:nvPr>
            <p:ph type="title" idx="2"/>
          </p:nvPr>
        </p:nvSpPr>
        <p:spPr>
          <a:xfrm>
            <a:off x="1873025" y="38126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title" idx="3"/>
          </p:nvPr>
        </p:nvSpPr>
        <p:spPr>
          <a:xfrm>
            <a:off x="898200" y="1548575"/>
            <a:ext cx="7347600" cy="8811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None/>
              <a:defRPr sz="33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87" name="Google Shape;87;p15"/>
          <p:cNvCxnSpPr/>
          <p:nvPr/>
        </p:nvCxnSpPr>
        <p:spPr>
          <a:xfrm>
            <a:off x="2427750" y="2771475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" name="Google Shape;88;p1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1">
  <p:cSld name="CUSTOM_1">
    <p:bg>
      <p:bgPr>
        <a:solidFill>
          <a:srgbClr val="05458D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>
            <a:spLocks noGrp="1"/>
          </p:cNvSpPr>
          <p:nvPr>
            <p:ph type="title"/>
          </p:nvPr>
        </p:nvSpPr>
        <p:spPr>
          <a:xfrm>
            <a:off x="898200" y="19980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title" idx="2"/>
          </p:nvPr>
        </p:nvSpPr>
        <p:spPr>
          <a:xfrm>
            <a:off x="1873025" y="30669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2" name="Google Shape;92;p16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92541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2800"/>
              <a:buFont typeface="Poppins"/>
              <a:buNone/>
              <a:defRPr sz="28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45550" y="2642991"/>
            <a:ext cx="5189400" cy="21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6583375" y="2674250"/>
            <a:ext cx="548700" cy="10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6909125" y="2666675"/>
            <a:ext cx="225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75" y="0"/>
            <a:ext cx="9144000" cy="755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 idx="2"/>
          </p:nvPr>
        </p:nvSpPr>
        <p:spPr>
          <a:xfrm>
            <a:off x="1240675" y="218475"/>
            <a:ext cx="39327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1200"/>
              <a:buFont typeface="Poppins"/>
              <a:buNone/>
              <a:defRPr sz="12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title" idx="3"/>
          </p:nvPr>
        </p:nvSpPr>
        <p:spPr>
          <a:xfrm>
            <a:off x="12406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title" idx="4"/>
          </p:nvPr>
        </p:nvSpPr>
        <p:spPr>
          <a:xfrm>
            <a:off x="60243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3.png"/><Relationship Id="rId4" Type="http://schemas.openxmlformats.org/officeDocument/2006/relationships/hyperlink" Target="https://ecologie.data.gouv.f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7.png"/><Relationship Id="rId7" Type="http://schemas.openxmlformats.org/officeDocument/2006/relationships/image" Target="../media/image28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1.png"/><Relationship Id="rId5" Type="http://schemas.openxmlformats.org/officeDocument/2006/relationships/image" Target="../media/image26.png"/><Relationship Id="rId1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{{PLAN_NOM}}</a:t>
            </a:r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15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{{REPORT_DATE}}</a:t>
            </a:r>
            <a:endParaRPr/>
          </a:p>
        </p:txBody>
      </p:sp>
      <p:pic>
        <p:nvPicPr>
          <p:cNvPr id="1026" name="img_collectivite_logo">
            <a:extLst>
              <a:ext uri="{FF2B5EF4-FFF2-40B4-BE49-F238E27FC236}">
                <a16:creationId xmlns:a16="http://schemas.microsoft.com/office/drawing/2014/main" id="{58A23416-87E8-EDA7-D7E4-5A846681BA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8550" y="1992319"/>
            <a:ext cx="1866900" cy="514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ctrTitle"/>
          </p:nvPr>
        </p:nvSpPr>
        <p:spPr>
          <a:xfrm>
            <a:off x="560677" y="1027025"/>
            <a:ext cx="32016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Sommaire</a:t>
            </a:r>
            <a:endParaRPr sz="1600"/>
          </a:p>
        </p:txBody>
      </p:sp>
      <p:pic>
        <p:nvPicPr>
          <p:cNvPr id="114" name="Google Shape;114;p19" title="Fiche actio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976" y="932793"/>
            <a:ext cx="277210" cy="2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9"/>
          <p:cNvSpPr txBox="1">
            <a:spLocks noGrp="1"/>
          </p:cNvSpPr>
          <p:nvPr>
            <p:ph type="title" idx="4294967295"/>
          </p:nvPr>
        </p:nvSpPr>
        <p:spPr>
          <a:xfrm>
            <a:off x="303975" y="1363350"/>
            <a:ext cx="82407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Synthèse du plan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Données territoriales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Avancement des axes et leur actions</a:t>
            </a:r>
            <a:endParaRPr sz="1100" dirty="0">
              <a:solidFill>
                <a:srgbClr val="404092"/>
              </a:solidFill>
            </a:endParaRPr>
          </a:p>
          <a:p>
            <a:pPr marL="914400" indent="-292100">
              <a:lnSpc>
                <a:spcPct val="150000"/>
              </a:lnSpc>
              <a:buClr>
                <a:srgbClr val="404092"/>
              </a:buClr>
              <a:buSzPts val="1000"/>
              <a:buFont typeface="Arial" panose="020B0604020202020204" pitchFamily="34" charset="0"/>
              <a:buChar char="•"/>
            </a:pPr>
            <a:r>
              <a:rPr lang="fr-FR" sz="1000" b="0" dirty="0">
                <a:solidFill>
                  <a:srgbClr val="404092"/>
                </a:solidFill>
              </a:rPr>
              <a:t>{{AXE_NOMS}}</a:t>
            </a:r>
          </a:p>
          <a:p>
            <a:pPr marL="457200" lvl="0" indent="-298450">
              <a:lnSpc>
                <a:spcPct val="150000"/>
              </a:lnSpc>
              <a:buClr>
                <a:srgbClr val="404092"/>
              </a:buClr>
              <a:buSzPts val="1100"/>
              <a:buFont typeface="+mj-lt"/>
              <a:buAutoNum type="alphaUcPeriod" startAt="4"/>
            </a:pPr>
            <a:r>
              <a:rPr lang="fr-FR" sz="1100">
                <a:solidFill>
                  <a:srgbClr val="404092"/>
                </a:solidFill>
              </a:rPr>
              <a:t>Données territoriales</a:t>
            </a:r>
            <a:endParaRPr lang="fr-FR" sz="1100" dirty="0">
              <a:solidFill>
                <a:srgbClr val="404092"/>
              </a:solidFill>
            </a:endParaRPr>
          </a:p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  <p:sp>
        <p:nvSpPr>
          <p:cNvPr id="117" name="Google Shape;117;p1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69302A6F-815D-713B-5125-E85021715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Synthèse du plan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0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{{COLLECTIVITE_NOM}}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20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3</a:t>
            </a:fld>
            <a:endParaRPr/>
          </a:p>
        </p:txBody>
      </p:sp>
      <p:pic>
        <p:nvPicPr>
          <p:cNvPr id="127" name="Google Shape;127;p20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0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29" name="Google Shape;129;p20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050" name="img_collectivite_logo">
            <a:extLst>
              <a:ext uri="{FF2B5EF4-FFF2-40B4-BE49-F238E27FC236}">
                <a16:creationId xmlns:a16="http://schemas.microsoft.com/office/drawing/2014/main" id="{62C33B4E-4F48-9263-5554-C73B73A55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>
            <a:spLocks noGrp="1"/>
          </p:cNvSpPr>
          <p:nvPr>
            <p:ph type="ctrTitle"/>
          </p:nvPr>
        </p:nvSpPr>
        <p:spPr>
          <a:xfrm>
            <a:off x="271375" y="1128025"/>
            <a:ext cx="84234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Synthèse du plan</a:t>
            </a:r>
            <a:endParaRPr sz="1600"/>
          </a:p>
        </p:txBody>
      </p:sp>
      <p:sp>
        <p:nvSpPr>
          <p:cNvPr id="136" name="Google Shape;136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/>
          </a:p>
        </p:txBody>
      </p:sp>
      <p:sp>
        <p:nvSpPr>
          <p:cNvPr id="137" name="Google Shape;137;p21"/>
          <p:cNvSpPr/>
          <p:nvPr/>
        </p:nvSpPr>
        <p:spPr>
          <a:xfrm>
            <a:off x="2985825" y="2052225"/>
            <a:ext cx="2437200" cy="7248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8" name="Google Shape;138;p21"/>
          <p:cNvSpPr txBox="1"/>
          <p:nvPr/>
        </p:nvSpPr>
        <p:spPr>
          <a:xfrm>
            <a:off x="3684848" y="2297778"/>
            <a:ext cx="1738200" cy="2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Avancement global des actions :</a:t>
            </a:r>
            <a:r>
              <a:rPr lang="fr" sz="91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33 %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39" name="Google Shape;139;p21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752" y="2209134"/>
            <a:ext cx="443113" cy="4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1"/>
          <p:cNvSpPr/>
          <p:nvPr/>
        </p:nvSpPr>
        <p:spPr>
          <a:xfrm>
            <a:off x="2985825" y="2971124"/>
            <a:ext cx="2437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1" name="Google Shape;141;p21"/>
          <p:cNvSpPr txBox="1"/>
          <p:nvPr/>
        </p:nvSpPr>
        <p:spPr>
          <a:xfrm>
            <a:off x="3684846" y="3209765"/>
            <a:ext cx="17382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950K€HT </a:t>
            </a:r>
            <a:b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8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(900k€ fonct. + 50k€ invest.)</a:t>
            </a:r>
            <a:endParaRPr sz="1011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42" name="Google Shape;142;p21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368" y="3159470"/>
            <a:ext cx="404813" cy="404797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1"/>
          <p:cNvSpPr/>
          <p:nvPr/>
        </p:nvSpPr>
        <p:spPr>
          <a:xfrm>
            <a:off x="5561029" y="2930200"/>
            <a:ext cx="31338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7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3150" tIns="103150" rIns="103150" bIns="103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7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6373600" y="3234150"/>
            <a:ext cx="12099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41"/>
              <a:buFont typeface="Arial"/>
              <a:buNone/>
            </a:pPr>
            <a:r>
              <a:rPr lang="fr" sz="1015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: </a:t>
            </a:r>
            <a:r>
              <a:rPr lang="fr" sz="112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8.5 ETP</a:t>
            </a:r>
            <a:endParaRPr sz="1353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45" name="Google Shape;145;p21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09068" y="3073952"/>
            <a:ext cx="498987" cy="49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1"/>
          <p:cNvSpPr/>
          <p:nvPr/>
        </p:nvSpPr>
        <p:spPr>
          <a:xfrm>
            <a:off x="5561025" y="2052225"/>
            <a:ext cx="3133800" cy="7011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7" name="Google Shape;147;p21"/>
          <p:cNvSpPr txBox="1"/>
          <p:nvPr/>
        </p:nvSpPr>
        <p:spPr>
          <a:xfrm>
            <a:off x="6196398" y="2200718"/>
            <a:ext cx="2600700" cy="6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Structure du plan</a:t>
            </a:r>
            <a:endParaRPr sz="91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11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axes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indicateurs de suivi</a:t>
            </a:r>
            <a:endParaRPr sz="1011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107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actions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256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sous-actions</a:t>
            </a:r>
            <a:endParaRPr sz="1011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48" name="Google Shape;148;p21" title="Dashboar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8950" y="2195929"/>
            <a:ext cx="443113" cy="44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1"/>
          <p:cNvSpPr/>
          <p:nvPr/>
        </p:nvSpPr>
        <p:spPr>
          <a:xfrm>
            <a:off x="9381163" y="4663225"/>
            <a:ext cx="3109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720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9150" tIns="69150" rIns="69150" bIns="69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58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0" name="Google Shape;150;p21"/>
          <p:cNvSpPr txBox="1"/>
          <p:nvPr/>
        </p:nvSpPr>
        <p:spPr>
          <a:xfrm>
            <a:off x="9998256" y="4825785"/>
            <a:ext cx="22674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2"/>
              <a:buFont typeface="Arial"/>
              <a:buNone/>
            </a:pPr>
            <a:r>
              <a:rPr lang="fr" sz="831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 : </a:t>
            </a:r>
            <a:endParaRPr sz="831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7" b="1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à venir (7%)  </a:t>
            </a:r>
            <a:r>
              <a:rPr lang="fr" sz="907" b="1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lang="fr" sz="907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 à l’arrêt (1%)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b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907" b="1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66 </a:t>
            </a:r>
            <a:r>
              <a:rPr lang="fr" sz="907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en cours (61%)  </a:t>
            </a:r>
            <a:r>
              <a:rPr lang="fr" sz="907" b="1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33 </a:t>
            </a:r>
            <a:r>
              <a:rPr lang="fr" sz="907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réalisées (28%)</a:t>
            </a:r>
            <a:endParaRPr sz="907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51" name="Google Shape;151;p21" title="Action à impact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497070" y="4860058"/>
            <a:ext cx="413757" cy="413757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1"/>
          <p:cNvSpPr/>
          <p:nvPr/>
        </p:nvSpPr>
        <p:spPr>
          <a:xfrm>
            <a:off x="332150" y="1586450"/>
            <a:ext cx="2362800" cy="24966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3" name="Google Shape;153;p21" title="app.territoiresentransitions.fr_collectivite_5460_plans_tableau-de-bord.png"/>
          <p:cNvPicPr preferRelativeResize="0"/>
          <p:nvPr/>
        </p:nvPicPr>
        <p:blipFill rotWithShape="1">
          <a:blip r:embed="rId8">
            <a:alphaModFix/>
          </a:blip>
          <a:srcRect l="5823" t="7590" r="5814" b="4047"/>
          <a:stretch/>
        </p:blipFill>
        <p:spPr>
          <a:xfrm>
            <a:off x="433720" y="1821175"/>
            <a:ext cx="2145600" cy="214442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1"/>
          <p:cNvSpPr txBox="1"/>
          <p:nvPr/>
        </p:nvSpPr>
        <p:spPr>
          <a:xfrm>
            <a:off x="396612" y="1736325"/>
            <a:ext cx="21903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155" name="Google Shape;155;p21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56" name="Google Shape;156;p21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0AC98644-09D5-37ED-930D-066F9926C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2"/>
          <p:cNvSpPr txBox="1">
            <a:spLocks noGrp="1"/>
          </p:cNvSpPr>
          <p:nvPr>
            <p:ph type="ctrTitle"/>
          </p:nvPr>
        </p:nvSpPr>
        <p:spPr>
          <a:xfrm>
            <a:off x="271375" y="1128025"/>
            <a:ext cx="84234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Synthèse du plan</a:t>
            </a:r>
            <a:endParaRPr sz="1600"/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5</a:t>
            </a:fld>
            <a:endParaRPr/>
          </a:p>
        </p:txBody>
      </p:sp>
      <p:sp>
        <p:nvSpPr>
          <p:cNvPr id="164" name="Google Shape;164;p22"/>
          <p:cNvSpPr/>
          <p:nvPr/>
        </p:nvSpPr>
        <p:spPr>
          <a:xfrm>
            <a:off x="2985825" y="2052225"/>
            <a:ext cx="2437200" cy="7248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5" name="Google Shape;165;p22"/>
          <p:cNvSpPr txBox="1"/>
          <p:nvPr/>
        </p:nvSpPr>
        <p:spPr>
          <a:xfrm>
            <a:off x="3684848" y="2297778"/>
            <a:ext cx="1738200" cy="45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Avancement global des </a:t>
            </a: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actions :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 {{PLAN_PROGRESS}}%</a:t>
            </a: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66" name="Google Shape;166;p22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752" y="2209134"/>
            <a:ext cx="443113" cy="4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/>
          <p:nvPr/>
        </p:nvSpPr>
        <p:spPr>
          <a:xfrm>
            <a:off x="2985825" y="2971124"/>
            <a:ext cx="2437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8" name="Google Shape;168;p22"/>
          <p:cNvSpPr txBox="1"/>
          <p:nvPr/>
        </p:nvSpPr>
        <p:spPr>
          <a:xfrm>
            <a:off x="3684846" y="3209765"/>
            <a:ext cx="17382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950K€HT </a:t>
            </a:r>
            <a:b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8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(900k€ fonct. + 50k€ invest.)</a:t>
            </a:r>
            <a:endParaRPr sz="1011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69" name="Google Shape;169;p22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368" y="3159470"/>
            <a:ext cx="404813" cy="404797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2"/>
          <p:cNvSpPr/>
          <p:nvPr/>
        </p:nvSpPr>
        <p:spPr>
          <a:xfrm>
            <a:off x="5561029" y="2930200"/>
            <a:ext cx="31338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7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3150" tIns="103150" rIns="103150" bIns="103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7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1" name="Google Shape;171;p22"/>
          <p:cNvSpPr txBox="1"/>
          <p:nvPr/>
        </p:nvSpPr>
        <p:spPr>
          <a:xfrm>
            <a:off x="6373600" y="3234150"/>
            <a:ext cx="12099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41"/>
              <a:buFont typeface="Arial"/>
              <a:buNone/>
            </a:pPr>
            <a:r>
              <a:rPr lang="fr" sz="1015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: </a:t>
            </a:r>
            <a:r>
              <a:rPr lang="fr" sz="112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8.5 ETP</a:t>
            </a:r>
            <a:endParaRPr sz="1353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72" name="Google Shape;172;p22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09068" y="3073952"/>
            <a:ext cx="498987" cy="49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/>
          <p:nvPr/>
        </p:nvSpPr>
        <p:spPr>
          <a:xfrm>
            <a:off x="5561025" y="2052225"/>
            <a:ext cx="3133800" cy="7011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4" name="Google Shape;174;p22"/>
          <p:cNvSpPr txBox="1"/>
          <p:nvPr/>
        </p:nvSpPr>
        <p:spPr>
          <a:xfrm>
            <a:off x="6196398" y="2200718"/>
            <a:ext cx="2600700" cy="76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Structure du plan</a:t>
            </a:r>
            <a:endParaRPr sz="91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{{AXES_COUNT}}</a:t>
            </a:r>
            <a:r>
              <a:rPr lang="fr" sz="1011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axes </a:t>
            </a: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{{INDICATEURS_COUNT}}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indicateurs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 suivi </a:t>
            </a:r>
            <a:b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</a:br>
            <a:r>
              <a:rPr lang="fr" sz="1011">
                <a:solidFill>
                  <a:schemeClr val="accent3"/>
                </a:solidFill>
                <a:latin typeface="Poppins ExtraBold"/>
                <a:ea typeface="Poppins Medium"/>
                <a:cs typeface="Poppins ExtraBold"/>
                <a:sym typeface="Poppins ExtraBold"/>
              </a:rPr>
              <a:t>{{FICHES_COUNT}}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actions</a:t>
            </a: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75" name="Google Shape;175;p22" title="Dashboar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8950" y="2195929"/>
            <a:ext cx="443113" cy="44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/>
          <p:nvPr/>
        </p:nvSpPr>
        <p:spPr>
          <a:xfrm>
            <a:off x="9381163" y="4663225"/>
            <a:ext cx="3109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720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9150" tIns="69150" rIns="69150" bIns="69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58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7" name="Google Shape;177;p22"/>
          <p:cNvSpPr txBox="1"/>
          <p:nvPr/>
        </p:nvSpPr>
        <p:spPr>
          <a:xfrm>
            <a:off x="9998256" y="4825785"/>
            <a:ext cx="22674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2"/>
              <a:buFont typeface="Arial"/>
              <a:buNone/>
            </a:pPr>
            <a:r>
              <a:rPr lang="fr" sz="831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 : </a:t>
            </a:r>
            <a:endParaRPr sz="831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7" b="1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à venir (7%)  </a:t>
            </a:r>
            <a:r>
              <a:rPr lang="fr" sz="907" b="1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lang="fr" sz="907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 à l’arrêt (1%)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b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907" b="1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66 </a:t>
            </a:r>
            <a:r>
              <a:rPr lang="fr" sz="907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en cours (61%)  </a:t>
            </a:r>
            <a:r>
              <a:rPr lang="fr" sz="907" b="1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33 </a:t>
            </a:r>
            <a:r>
              <a:rPr lang="fr" sz="907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réalisées (28%)</a:t>
            </a:r>
            <a:endParaRPr sz="907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78" name="Google Shape;178;p22" title="Action à impact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497070" y="4860058"/>
            <a:ext cx="413757" cy="41375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2"/>
          <p:cNvSpPr/>
          <p:nvPr/>
        </p:nvSpPr>
        <p:spPr>
          <a:xfrm>
            <a:off x="332150" y="1586450"/>
            <a:ext cx="2362800" cy="24966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0" name="img_plan_count_by_statut_pie"/>
          <p:cNvPicPr preferRelativeResize="0"/>
          <p:nvPr/>
        </p:nvPicPr>
        <p:blipFill>
          <a:blip r:embed="rId8">
            <a:alphaModFix/>
          </a:blip>
          <a:srcRect t="224" b="224"/>
          <a:stretch/>
        </p:blipFill>
        <p:spPr>
          <a:xfrm>
            <a:off x="433721" y="1821175"/>
            <a:ext cx="2116081" cy="2144426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2"/>
          <p:cNvSpPr txBox="1"/>
          <p:nvPr/>
        </p:nvSpPr>
        <p:spPr>
          <a:xfrm>
            <a:off x="396612" y="1736325"/>
            <a:ext cx="21903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182" name="Google Shape;182;p22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83" name="Google Shape;183;p22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F985AA8C-C44C-7306-7C91-6BAB95132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3"/>
          <p:cNvSpPr/>
          <p:nvPr/>
        </p:nvSpPr>
        <p:spPr>
          <a:xfrm>
            <a:off x="1046650" y="1415450"/>
            <a:ext cx="6758400" cy="34290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0" name="Google Shape;190;p23"/>
          <p:cNvSpPr txBox="1">
            <a:spLocks noGrp="1"/>
          </p:cNvSpPr>
          <p:nvPr>
            <p:ph type="ctrTitle"/>
          </p:nvPr>
        </p:nvSpPr>
        <p:spPr>
          <a:xfrm>
            <a:off x="260975" y="921475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Avancement du plan </a:t>
            </a:r>
            <a:endParaRPr sz="1600"/>
          </a:p>
        </p:txBody>
      </p:sp>
      <p:sp>
        <p:nvSpPr>
          <p:cNvPr id="191" name="Google Shape;191;p23"/>
          <p:cNvSpPr txBox="1"/>
          <p:nvPr/>
        </p:nvSpPr>
        <p:spPr>
          <a:xfrm>
            <a:off x="318950" y="1326450"/>
            <a:ext cx="842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6AA84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3" name="Google Shape;19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  <p:pic>
        <p:nvPicPr>
          <p:cNvPr id="194" name="img_plan_progress_by_axe_chart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1320125" y="1583893"/>
            <a:ext cx="6211451" cy="311205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3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96" name="Google Shape;196;p23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AD26B17A-CCE7-A91E-AE86-2388DBAAA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4"/>
          <p:cNvSpPr txBox="1">
            <a:spLocks noGrp="1"/>
          </p:cNvSpPr>
          <p:nvPr>
            <p:ph type="ctrTitle"/>
          </p:nvPr>
        </p:nvSpPr>
        <p:spPr>
          <a:xfrm>
            <a:off x="260975" y="921475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Avancement du plan </a:t>
            </a:r>
            <a:endParaRPr sz="1600"/>
          </a:p>
        </p:txBody>
      </p:sp>
      <p:sp>
        <p:nvSpPr>
          <p:cNvPr id="203" name="Google Shape;203;p24"/>
          <p:cNvSpPr txBox="1"/>
          <p:nvPr/>
        </p:nvSpPr>
        <p:spPr>
          <a:xfrm>
            <a:off x="318950" y="1326450"/>
            <a:ext cx="842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6AA84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204" name="Google Shape;204;p24"/>
          <p:cNvGraphicFramePr/>
          <p:nvPr/>
        </p:nvGraphicFramePr>
        <p:xfrm>
          <a:off x="260975" y="13264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{7D5A437C-706F-4A56-B884-62DC5EDBEEEA}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7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8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ID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AXE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AVANCEMENT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ACTIONS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Déchets &amp; Économie Circulaire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56%</a:t>
                      </a:r>
                      <a:endParaRPr sz="7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27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Énergie Infrastructures Publiques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25%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11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Urbanisme &amp; Aménagement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CC0000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12%</a:t>
                      </a:r>
                      <a:endParaRPr sz="1000">
                        <a:solidFill>
                          <a:srgbClr val="CC0000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8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4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Puits de Carbone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54%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4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Biodiversité &amp; Adaptation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46%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14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6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Alimentation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6AA84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89%</a:t>
                      </a:r>
                      <a:endParaRPr sz="1000">
                        <a:solidFill>
                          <a:srgbClr val="6AA84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18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7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Mobilités &amp; Déplacements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CC0000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9%</a:t>
                      </a:r>
                      <a:endParaRPr sz="1000">
                        <a:solidFill>
                          <a:srgbClr val="CC0000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3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8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Énergies Renouvelables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6AA84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93%</a:t>
                      </a:r>
                      <a:endParaRPr sz="700">
                        <a:solidFill>
                          <a:srgbClr val="6AA84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7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9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Agriculture</a:t>
                      </a:r>
                      <a:endParaRPr sz="100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26%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10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Sensibilisation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22%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9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Numérique &amp; Données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29%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16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05" name="Google Shape;205;p24"/>
          <p:cNvSpPr txBox="1"/>
          <p:nvPr/>
        </p:nvSpPr>
        <p:spPr>
          <a:xfrm>
            <a:off x="8201700" y="218475"/>
            <a:ext cx="648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rPr>
              <a:t>Page 2</a:t>
            </a:r>
            <a:endParaRPr sz="1000"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6" name="Google Shape;206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7</a:t>
            </a:fld>
            <a:endParaRPr/>
          </a:p>
        </p:txBody>
      </p:sp>
      <p:sp>
        <p:nvSpPr>
          <p:cNvPr id="207" name="Google Shape;207;p24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08" name="Google Shape;208;p24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09" name="Google Shape;20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5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Données territoriales</a:t>
            </a:r>
            <a:endParaRPr/>
          </a:p>
        </p:txBody>
      </p:sp>
      <p:sp>
        <p:nvSpPr>
          <p:cNvPr id="215" name="Google Shape;215;p25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  <p:pic>
        <p:nvPicPr>
          <p:cNvPr id="216" name="Google Shape;216;p25" title="location-franc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6980" y="1615450"/>
            <a:ext cx="954000" cy="95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5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18" name="Google Shape;218;p25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6D042D8F-7E8C-960F-1957-ED40841221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  <p:sp>
        <p:nvSpPr>
          <p:cNvPr id="225" name="Google Shape;225;p26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26" name="Google Shape;226;p26" title="Consommation énergétique finale.png"/>
          <p:cNvPicPr preferRelativeResize="0"/>
          <p:nvPr/>
        </p:nvPicPr>
        <p:blipFill rotWithShape="1">
          <a:blip r:embed="rId3">
            <a:alphaModFix/>
          </a:blip>
          <a:srcRect t="4269"/>
          <a:stretch/>
        </p:blipFill>
        <p:spPr>
          <a:xfrm>
            <a:off x="1372350" y="1223453"/>
            <a:ext cx="6399299" cy="3340259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6"/>
          <p:cNvSpPr txBox="1">
            <a:spLocks noGrp="1"/>
          </p:cNvSpPr>
          <p:nvPr>
            <p:ph type="title" idx="4294967295"/>
          </p:nvPr>
        </p:nvSpPr>
        <p:spPr>
          <a:xfrm>
            <a:off x="1581275" y="1365400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Consommation énergétique finale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28" name="Google Shape;228;p26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29" name="Google Shape;229;p26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30" name="Google Shape;23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  <p:sp>
        <p:nvSpPr>
          <p:cNvPr id="236" name="Google Shape;236;p27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37" name="Google Shape;237;p27" title="Émissions de gaz à effet de serre.png"/>
          <p:cNvPicPr preferRelativeResize="0"/>
          <p:nvPr/>
        </p:nvPicPr>
        <p:blipFill rotWithShape="1">
          <a:blip r:embed="rId3">
            <a:alphaModFix/>
          </a:blip>
          <a:srcRect t="4952"/>
          <a:stretch/>
        </p:blipFill>
        <p:spPr>
          <a:xfrm>
            <a:off x="1317300" y="1224906"/>
            <a:ext cx="6444073" cy="336363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7"/>
          <p:cNvSpPr txBox="1">
            <a:spLocks noGrp="1"/>
          </p:cNvSpPr>
          <p:nvPr>
            <p:ph type="title" idx="4294967295"/>
          </p:nvPr>
        </p:nvSpPr>
        <p:spPr>
          <a:xfrm>
            <a:off x="1317300" y="10423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Émission de gaz à effet de serre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39" name="Google Shape;239;p27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40" name="Google Shape;240;p27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41" name="Google Shape;24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8"/>
          <p:cNvSpPr txBox="1"/>
          <p:nvPr/>
        </p:nvSpPr>
        <p:spPr>
          <a:xfrm>
            <a:off x="8201700" y="218475"/>
            <a:ext cx="648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rPr>
              <a:t>Page 2</a:t>
            </a:r>
            <a:endParaRPr sz="1000"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7" name="Google Shape;24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  <p:sp>
        <p:nvSpPr>
          <p:cNvPr id="248" name="Google Shape;248;p28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49" name="Google Shape;249;p28" title="Production d’énergie renouvelable du territoire.png"/>
          <p:cNvPicPr preferRelativeResize="0"/>
          <p:nvPr/>
        </p:nvPicPr>
        <p:blipFill rotWithShape="1">
          <a:blip r:embed="rId3">
            <a:alphaModFix/>
          </a:blip>
          <a:srcRect t="5069"/>
          <a:stretch/>
        </p:blipFill>
        <p:spPr>
          <a:xfrm>
            <a:off x="1283100" y="1308650"/>
            <a:ext cx="6444052" cy="3259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8"/>
          <p:cNvSpPr txBox="1">
            <a:spLocks noGrp="1"/>
          </p:cNvSpPr>
          <p:nvPr>
            <p:ph type="title" idx="4294967295"/>
          </p:nvPr>
        </p:nvSpPr>
        <p:spPr>
          <a:xfrm>
            <a:off x="1283100" y="10837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Production d’énergie renouvelable du territoire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51" name="Google Shape;251;p28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52" name="Google Shape;252;p28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53" name="Google Shape;25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9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Avancement des axes et leur actions</a:t>
            </a:r>
            <a:endParaRPr/>
          </a:p>
        </p:txBody>
      </p:sp>
      <p:sp>
        <p:nvSpPr>
          <p:cNvPr id="259" name="Google Shape;259;p29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{{COLLECTIVITE_NOM}}</a:t>
            </a:r>
            <a:endParaRPr dirty="0"/>
          </a:p>
        </p:txBody>
      </p:sp>
      <p:sp>
        <p:nvSpPr>
          <p:cNvPr id="260" name="Google Shape;260;p29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12</a:t>
            </a:fld>
            <a:endParaRPr/>
          </a:p>
        </p:txBody>
      </p:sp>
      <p:pic>
        <p:nvPicPr>
          <p:cNvPr id="261" name="Google Shape;261;p29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63" name="Google Shape;263;p2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8C2C1E82-131D-1140-3900-A701E567C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1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Avancement des axes et leur actions</a:t>
            </a:r>
            <a:endParaRPr/>
          </a:p>
        </p:txBody>
      </p:sp>
      <p:sp>
        <p:nvSpPr>
          <p:cNvPr id="294" name="Google Shape;294;p31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13</a:t>
            </a:fld>
            <a:endParaRPr/>
          </a:p>
        </p:txBody>
      </p:sp>
      <p:pic>
        <p:nvPicPr>
          <p:cNvPr id="295" name="Google Shape;295;p31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5003" y="1641276"/>
            <a:ext cx="954000" cy="95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1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97" name="Google Shape;297;p31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E0659167-A37A-755E-0041-CA9015CA07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0"/>
          <p:cNvSpPr txBox="1">
            <a:spLocks noGrp="1"/>
          </p:cNvSpPr>
          <p:nvPr>
            <p:ph type="ctrTitle"/>
          </p:nvPr>
        </p:nvSpPr>
        <p:spPr>
          <a:xfrm>
            <a:off x="288225" y="1060000"/>
            <a:ext cx="84066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/>
              <a:t> {{AXE_NOM}} </a:t>
            </a:r>
            <a:endParaRPr sz="1600" dirty="0"/>
          </a:p>
        </p:txBody>
      </p:sp>
      <p:sp>
        <p:nvSpPr>
          <p:cNvPr id="270" name="Google Shape;270;p30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14</a:t>
            </a:fld>
            <a:endParaRPr/>
          </a:p>
        </p:txBody>
      </p:sp>
      <p:sp>
        <p:nvSpPr>
          <p:cNvPr id="271" name="Google Shape;271;p30"/>
          <p:cNvSpPr/>
          <p:nvPr/>
        </p:nvSpPr>
        <p:spPr>
          <a:xfrm>
            <a:off x="2985825" y="2052225"/>
            <a:ext cx="2437200" cy="7248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2" name="Google Shape;272;p30"/>
          <p:cNvSpPr txBox="1"/>
          <p:nvPr/>
        </p:nvSpPr>
        <p:spPr>
          <a:xfrm>
            <a:off x="3684848" y="2352840"/>
            <a:ext cx="1738200" cy="29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Avancement : </a:t>
            </a: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{{AXE_PROGRESS}} %</a:t>
            </a: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73" name="Google Shape;273;p30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752" y="2209134"/>
            <a:ext cx="443113" cy="4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30"/>
          <p:cNvSpPr/>
          <p:nvPr/>
        </p:nvSpPr>
        <p:spPr>
          <a:xfrm>
            <a:off x="2985825" y="2968624"/>
            <a:ext cx="2437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5" name="Google Shape;275;p30"/>
          <p:cNvSpPr txBox="1"/>
          <p:nvPr/>
        </p:nvSpPr>
        <p:spPr>
          <a:xfrm>
            <a:off x="3684846" y="3209765"/>
            <a:ext cx="17382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19K€HT </a:t>
            </a:r>
            <a:b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8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(190k€)</a:t>
            </a:r>
            <a:endParaRPr sz="1011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76" name="Google Shape;276;p30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368" y="3159470"/>
            <a:ext cx="404813" cy="404797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0"/>
          <p:cNvSpPr/>
          <p:nvPr/>
        </p:nvSpPr>
        <p:spPr>
          <a:xfrm>
            <a:off x="5561029" y="2930200"/>
            <a:ext cx="31338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7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3150" tIns="103150" rIns="103150" bIns="103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7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8" name="Google Shape;278;p30"/>
          <p:cNvSpPr txBox="1"/>
          <p:nvPr/>
        </p:nvSpPr>
        <p:spPr>
          <a:xfrm>
            <a:off x="6373601" y="3234144"/>
            <a:ext cx="10389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41"/>
              <a:buFont typeface="Arial"/>
              <a:buNone/>
            </a:pPr>
            <a:r>
              <a:rPr lang="fr" sz="1015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: </a:t>
            </a:r>
            <a:r>
              <a:rPr lang="fr" sz="112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 ETP</a:t>
            </a:r>
            <a:endParaRPr sz="1353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79" name="Google Shape;279;p30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09068" y="3073952"/>
            <a:ext cx="498987" cy="494017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0"/>
          <p:cNvSpPr/>
          <p:nvPr/>
        </p:nvSpPr>
        <p:spPr>
          <a:xfrm>
            <a:off x="5561025" y="2052225"/>
            <a:ext cx="3133800" cy="7011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1" name="Google Shape;281;p30"/>
          <p:cNvSpPr txBox="1"/>
          <p:nvPr/>
        </p:nvSpPr>
        <p:spPr>
          <a:xfrm>
            <a:off x="6196398" y="2200718"/>
            <a:ext cx="2600700" cy="1260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Structure de l'axe:</a:t>
            </a:r>
            <a:endParaRPr sz="91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{{SOUS_AXES_COUNT}}</a:t>
            </a:r>
            <a:r>
              <a:rPr lang="fr" sz="1011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sous-axes </a:t>
            </a: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{{INDICATEURS_COUNT}}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indicateurs de suivi</a:t>
            </a:r>
            <a:endParaRPr sz="1011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{{FICHES_COUNT}}</a:t>
            </a:r>
            <a:r>
              <a:rPr lang="fr" sz="1011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actions </a:t>
            </a: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{{SOUS_FICHES_COUNT}}</a:t>
            </a:r>
            <a:r>
              <a:rPr lang="fr" sz="1011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sous-actions</a:t>
            </a:r>
            <a:endParaRPr sz="1011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82" name="Google Shape;282;p30" title="Dashboar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8950" y="2195929"/>
            <a:ext cx="443113" cy="44308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/>
          <p:nvPr/>
        </p:nvSpPr>
        <p:spPr>
          <a:xfrm>
            <a:off x="332150" y="1586450"/>
            <a:ext cx="2362800" cy="24966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84" name="img_axe_count_by_statut_pie"/>
          <p:cNvPicPr preferRelativeResize="0"/>
          <p:nvPr/>
        </p:nvPicPr>
        <p:blipFill>
          <a:blip r:embed="rId7">
            <a:alphaModFix/>
          </a:blip>
          <a:srcRect t="224" b="224"/>
          <a:stretch/>
        </p:blipFill>
        <p:spPr>
          <a:xfrm>
            <a:off x="433721" y="1821175"/>
            <a:ext cx="2116081" cy="2144426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0"/>
          <p:cNvSpPr txBox="1"/>
          <p:nvPr/>
        </p:nvSpPr>
        <p:spPr>
          <a:xfrm>
            <a:off x="396612" y="1736325"/>
            <a:ext cx="21903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86" name="Google Shape;286;p30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87" name="Google Shape;287;p30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9C68D36B-005A-DA83-6CED-54CF75F06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>
            <a:spLocks noGrp="1"/>
          </p:cNvSpPr>
          <p:nvPr>
            <p:ph type="ctrTitle"/>
          </p:nvPr>
        </p:nvSpPr>
        <p:spPr>
          <a:xfrm>
            <a:off x="319800" y="1006163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304" name="Google Shape;304;p32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15</a:t>
            </a:fld>
            <a:endParaRPr/>
          </a:p>
        </p:txBody>
      </p:sp>
      <p:sp>
        <p:nvSpPr>
          <p:cNvPr id="305" name="Google Shape;305;p32"/>
          <p:cNvSpPr txBox="1"/>
          <p:nvPr/>
        </p:nvSpPr>
        <p:spPr>
          <a:xfrm>
            <a:off x="319800" y="1823600"/>
            <a:ext cx="5124300" cy="26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Chiffres clés :</a:t>
            </a:r>
            <a:endParaRPr sz="1127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• Nombre d’arbres plantés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</a:t>
            </a:r>
            <a:b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• Hectares d’Espaces Boisés Classés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164</a:t>
            </a:r>
            <a:b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• Stockage carbone annuel de la nouvelle forêt :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N/C </a:t>
            </a:r>
            <a:endParaRPr sz="125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b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Notes de suivi :</a:t>
            </a:r>
            <a:endParaRPr sz="1127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 trois ans, la collectivité a planté 387 arbres et 3 600 jeunes plants forestiers, dont une prairie boisée de 180 arbres à Villiersfins (45 000 € TTC) et une micro-forêt rue Monge (18 000 € TTC financés à 95% par mécénat). Un nouvel objectif vise la création d'un parc arboré au quartier de la gare d'ici 6 ans, en s'appuyant sur la Charte de l'arbre (2016) et le plan de gestion différenciée des espaces végétalisés (2021).</a:t>
            </a:r>
            <a:endParaRPr sz="1253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endParaRPr sz="1253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06" name="Google Shape;306;p32"/>
          <p:cNvSpPr/>
          <p:nvPr/>
        </p:nvSpPr>
        <p:spPr>
          <a:xfrm>
            <a:off x="5916275" y="1823600"/>
            <a:ext cx="2945700" cy="8679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6772675" y="2093950"/>
            <a:ext cx="2494200" cy="3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105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0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1050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08" name="Google Shape;308;p32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07187" y="2020621"/>
            <a:ext cx="501275" cy="50125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2"/>
          <p:cNvSpPr/>
          <p:nvPr/>
        </p:nvSpPr>
        <p:spPr>
          <a:xfrm>
            <a:off x="7760075" y="1006175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chemeClr val="accent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ctrTitle"/>
          </p:nvPr>
        </p:nvSpPr>
        <p:spPr>
          <a:xfrm>
            <a:off x="319800" y="1258488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2"/>
                </a:solidFill>
              </a:rPr>
              <a:t>Pilote</a:t>
            </a:r>
            <a:r>
              <a:rPr lang="fr" sz="1100" b="0">
                <a:solidFill>
                  <a:schemeClr val="dk2"/>
                </a:solidFill>
              </a:rPr>
              <a:t> : A. Dusanter | </a:t>
            </a:r>
            <a:r>
              <a:rPr lang="fr" sz="1100">
                <a:solidFill>
                  <a:schemeClr val="dk2"/>
                </a:solidFill>
              </a:rPr>
              <a:t>Période</a:t>
            </a:r>
            <a:r>
              <a:rPr lang="fr" sz="1100" b="0">
                <a:solidFill>
                  <a:schemeClr val="dk2"/>
                </a:solidFill>
              </a:rPr>
              <a:t> : 30/10/24 -&gt; 31/12/25</a:t>
            </a:r>
            <a:endParaRPr sz="1300"/>
          </a:p>
        </p:txBody>
      </p:sp>
      <p:sp>
        <p:nvSpPr>
          <p:cNvPr id="311" name="Google Shape;311;p32"/>
          <p:cNvSpPr/>
          <p:nvPr/>
        </p:nvSpPr>
        <p:spPr>
          <a:xfrm>
            <a:off x="5916275" y="2833025"/>
            <a:ext cx="2945700" cy="8679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2" name="Google Shape;312;p32"/>
          <p:cNvSpPr txBox="1"/>
          <p:nvPr/>
        </p:nvSpPr>
        <p:spPr>
          <a:xfrm>
            <a:off x="6772675" y="3191533"/>
            <a:ext cx="1708500" cy="1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25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13" name="Google Shape;313;p32" title="Concitoyen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85002" y="2992627"/>
            <a:ext cx="554221" cy="548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4" name="Google Shape;314;p32"/>
          <p:cNvCxnSpPr/>
          <p:nvPr/>
        </p:nvCxnSpPr>
        <p:spPr>
          <a:xfrm>
            <a:off x="336175" y="163420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5" name="Google Shape;315;p32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16" name="Google Shape;316;p32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17" name="Google Shape;317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3"/>
          <p:cNvSpPr txBox="1">
            <a:spLocks noGrp="1"/>
          </p:cNvSpPr>
          <p:nvPr>
            <p:ph type="ctrTitle"/>
          </p:nvPr>
        </p:nvSpPr>
        <p:spPr>
          <a:xfrm>
            <a:off x="1608600" y="1006163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323" name="Google Shape;323;p33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16</a:t>
            </a:fld>
            <a:endParaRPr/>
          </a:p>
        </p:txBody>
      </p:sp>
      <p:sp>
        <p:nvSpPr>
          <p:cNvPr id="324" name="Google Shape;324;p33"/>
          <p:cNvSpPr txBox="1"/>
          <p:nvPr/>
        </p:nvSpPr>
        <p:spPr>
          <a:xfrm>
            <a:off x="319800" y="1823600"/>
            <a:ext cx="5124300" cy="17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Notes de suivi :</a:t>
            </a:r>
            <a:endParaRPr sz="1127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00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 trois ans, la collectivité a planté 387 arbres et 3 600 jeunes plants forestiers, dont une prairie boisée de 180 arbres à Villiersfins (45 000 € TTC) et une micro-forêt rue Monge (18 000 € TTC financés à 95% par mécénat). Un nouvel objectif vise la création d'un parc arboré au quartier de la gare d'ici 6 ans, en s'appuyant sur la Charte de l'arbre (2016) et le plan de gestion différenciée des espaces végétalisés (2021).</a:t>
            </a:r>
            <a:endParaRPr sz="100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endParaRPr sz="1253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25" name="Google Shape;325;p33"/>
          <p:cNvSpPr/>
          <p:nvPr/>
        </p:nvSpPr>
        <p:spPr>
          <a:xfrm>
            <a:off x="6148963" y="1787475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6" name="Google Shape;326;p33"/>
          <p:cNvSpPr txBox="1"/>
          <p:nvPr/>
        </p:nvSpPr>
        <p:spPr>
          <a:xfrm>
            <a:off x="6885766" y="2020071"/>
            <a:ext cx="2145900" cy="3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90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90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90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27" name="Google Shape;327;p33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3214" y="1956982"/>
            <a:ext cx="431272" cy="43125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3"/>
          <p:cNvSpPr txBox="1">
            <a:spLocks noGrp="1"/>
          </p:cNvSpPr>
          <p:nvPr>
            <p:ph type="ctrTitle"/>
          </p:nvPr>
        </p:nvSpPr>
        <p:spPr>
          <a:xfrm>
            <a:off x="1608600" y="1258488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dirty="0">
                <a:solidFill>
                  <a:schemeClr val="dk2"/>
                </a:solidFill>
              </a:rPr>
              <a:t>Pilote</a:t>
            </a:r>
            <a:r>
              <a:rPr lang="fr" sz="1100" b="0" dirty="0">
                <a:solidFill>
                  <a:schemeClr val="dk2"/>
                </a:solidFill>
              </a:rPr>
              <a:t> : A. Dusanter | </a:t>
            </a:r>
            <a:r>
              <a:rPr lang="fr" sz="1100" dirty="0">
                <a:solidFill>
                  <a:schemeClr val="dk2"/>
                </a:solidFill>
              </a:rPr>
              <a:t>Période</a:t>
            </a:r>
            <a:r>
              <a:rPr lang="fr" sz="1100" b="0" dirty="0">
                <a:solidFill>
                  <a:schemeClr val="dk2"/>
                </a:solidFill>
              </a:rPr>
              <a:t> : 30/10/24 -&gt; 31/12/25</a:t>
            </a:r>
            <a:endParaRPr sz="1300" dirty="0"/>
          </a:p>
        </p:txBody>
      </p:sp>
      <p:sp>
        <p:nvSpPr>
          <p:cNvPr id="329" name="Google Shape;329;p33"/>
          <p:cNvSpPr/>
          <p:nvPr/>
        </p:nvSpPr>
        <p:spPr>
          <a:xfrm>
            <a:off x="6148962" y="2655933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0" name="Google Shape;330;p33"/>
          <p:cNvSpPr txBox="1"/>
          <p:nvPr/>
        </p:nvSpPr>
        <p:spPr>
          <a:xfrm>
            <a:off x="6885766" y="2964375"/>
            <a:ext cx="14700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078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31" name="Google Shape;331;p33" title="Concitoyen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1579" y="2793247"/>
            <a:ext cx="476824" cy="4720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2" name="Google Shape;332;p33"/>
          <p:cNvCxnSpPr/>
          <p:nvPr/>
        </p:nvCxnSpPr>
        <p:spPr>
          <a:xfrm>
            <a:off x="336175" y="163420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3" name="Google Shape;333;p33"/>
          <p:cNvSpPr txBox="1"/>
          <p:nvPr/>
        </p:nvSpPr>
        <p:spPr>
          <a:xfrm>
            <a:off x="336175" y="3717413"/>
            <a:ext cx="34974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Chiffres clés :</a:t>
            </a: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4" name="Google Shape;334;p33"/>
          <p:cNvSpPr/>
          <p:nvPr/>
        </p:nvSpPr>
        <p:spPr>
          <a:xfrm>
            <a:off x="3242556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5" name="Google Shape;335;p33"/>
          <p:cNvSpPr txBox="1"/>
          <p:nvPr/>
        </p:nvSpPr>
        <p:spPr>
          <a:xfrm>
            <a:off x="4031327" y="4251425"/>
            <a:ext cx="18630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Hectares d’Espaces </a:t>
            </a:r>
            <a:b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Boisés Classés : 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36" name="Google Shape;336;p33"/>
          <p:cNvSpPr/>
          <p:nvPr/>
        </p:nvSpPr>
        <p:spPr>
          <a:xfrm>
            <a:off x="336175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rgbClr val="FBFCFE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7" name="Google Shape;337;p33"/>
          <p:cNvSpPr txBox="1"/>
          <p:nvPr/>
        </p:nvSpPr>
        <p:spPr>
          <a:xfrm>
            <a:off x="1124933" y="4251422"/>
            <a:ext cx="15735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Nombre d’arbres plantés :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38" name="Google Shape;338;p33" title="tre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8727" y="4145200"/>
            <a:ext cx="528223" cy="52820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9" name="Google Shape;339;p33"/>
          <p:cNvCxnSpPr/>
          <p:nvPr/>
        </p:nvCxnSpPr>
        <p:spPr>
          <a:xfrm>
            <a:off x="336175" y="358283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40" name="Google Shape;340;p33" title="leaf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86200" y="4145134"/>
            <a:ext cx="528225" cy="5282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33" title="Capture d’écran 2025-11-20 à 19.22.27.png"/>
          <p:cNvPicPr preferRelativeResize="0"/>
          <p:nvPr/>
        </p:nvPicPr>
        <p:blipFill rotWithShape="1">
          <a:blip r:embed="rId7">
            <a:alphaModFix/>
          </a:blip>
          <a:srcRect l="28122" t="30648" r="33190" b="19165"/>
          <a:stretch/>
        </p:blipFill>
        <p:spPr>
          <a:xfrm>
            <a:off x="319800" y="887825"/>
            <a:ext cx="1083600" cy="671400"/>
          </a:xfrm>
          <a:prstGeom prst="roundRect">
            <a:avLst>
              <a:gd name="adj" fmla="val 7469"/>
            </a:avLst>
          </a:prstGeom>
          <a:noFill/>
          <a:ln>
            <a:noFill/>
          </a:ln>
        </p:spPr>
      </p:pic>
      <p:sp>
        <p:nvSpPr>
          <p:cNvPr id="342" name="Google Shape;342;p33"/>
          <p:cNvSpPr/>
          <p:nvPr/>
        </p:nvSpPr>
        <p:spPr>
          <a:xfrm>
            <a:off x="7806475" y="1224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3" name="Google Shape;343;p33"/>
          <p:cNvSpPr/>
          <p:nvPr/>
        </p:nvSpPr>
        <p:spPr>
          <a:xfrm>
            <a:off x="7824625" y="12251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4" name="Google Shape;344;p33"/>
          <p:cNvSpPr/>
          <p:nvPr/>
        </p:nvSpPr>
        <p:spPr>
          <a:xfrm>
            <a:off x="7689925" y="1224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5" name="Google Shape;345;p33"/>
          <p:cNvSpPr/>
          <p:nvPr/>
        </p:nvSpPr>
        <p:spPr>
          <a:xfrm>
            <a:off x="7997450" y="1224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6" name="Google Shape;346;p33"/>
          <p:cNvSpPr/>
          <p:nvPr/>
        </p:nvSpPr>
        <p:spPr>
          <a:xfrm>
            <a:off x="7888225" y="12249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7" name="Google Shape;347;p33"/>
          <p:cNvSpPr/>
          <p:nvPr/>
        </p:nvSpPr>
        <p:spPr>
          <a:xfrm>
            <a:off x="7755625" y="12249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8" name="Google Shape;348;p33"/>
          <p:cNvSpPr/>
          <p:nvPr/>
        </p:nvSpPr>
        <p:spPr>
          <a:xfrm>
            <a:off x="7650775" y="12249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9" name="Google Shape;349;p33"/>
          <p:cNvSpPr/>
          <p:nvPr/>
        </p:nvSpPr>
        <p:spPr>
          <a:xfrm>
            <a:off x="6236163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0" name="Google Shape;350;p33"/>
          <p:cNvSpPr txBox="1"/>
          <p:nvPr/>
        </p:nvSpPr>
        <p:spPr>
          <a:xfrm>
            <a:off x="7024926" y="4079853"/>
            <a:ext cx="1780200" cy="6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Séquestration nette de CO2 dans les sols et la forêt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29,9 </a:t>
            </a:r>
            <a:r>
              <a:rPr lang="fr" sz="1253" baseline="3000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(kteq CO2)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51" name="Google Shape;351;p33" title="CO2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55749" y="4115214"/>
            <a:ext cx="588025" cy="588025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3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3" name="Google Shape;353;p33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54" name="Google Shape;354;p3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4"/>
          <p:cNvSpPr txBox="1">
            <a:spLocks noGrp="1"/>
          </p:cNvSpPr>
          <p:nvPr>
            <p:ph type="ctrTitle"/>
          </p:nvPr>
        </p:nvSpPr>
        <p:spPr>
          <a:xfrm>
            <a:off x="319800" y="1006163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/>
              <a:t>{{FICHE_TITRE}}</a:t>
            </a:r>
            <a:endParaRPr sz="1600" dirty="0"/>
          </a:p>
        </p:txBody>
      </p:sp>
      <p:sp>
        <p:nvSpPr>
          <p:cNvPr id="360" name="Google Shape;360;p34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17</a:t>
            </a:fld>
            <a:endParaRPr/>
          </a:p>
        </p:txBody>
      </p:sp>
      <p:sp>
        <p:nvSpPr>
          <p:cNvPr id="361" name="Google Shape;361;p34"/>
          <p:cNvSpPr/>
          <p:nvPr/>
        </p:nvSpPr>
        <p:spPr>
          <a:xfrm>
            <a:off x="6148963" y="1787475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2" name="Google Shape;362;p34"/>
          <p:cNvSpPr txBox="1"/>
          <p:nvPr/>
        </p:nvSpPr>
        <p:spPr>
          <a:xfrm>
            <a:off x="6885766" y="2020071"/>
            <a:ext cx="2145900" cy="3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90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90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90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63" name="Google Shape;363;p34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3214" y="1956982"/>
            <a:ext cx="431272" cy="431255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34"/>
          <p:cNvSpPr txBox="1">
            <a:spLocks noGrp="1"/>
          </p:cNvSpPr>
          <p:nvPr>
            <p:ph type="ctrTitle"/>
          </p:nvPr>
        </p:nvSpPr>
        <p:spPr>
          <a:xfrm>
            <a:off x="319800" y="1258488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dirty="0">
                <a:solidFill>
                  <a:schemeClr val="dk2"/>
                </a:solidFill>
              </a:rPr>
              <a:t>Pilote</a:t>
            </a:r>
            <a:r>
              <a:rPr lang="fr" sz="1100" b="0" dirty="0">
                <a:solidFill>
                  <a:schemeClr val="dk2"/>
                </a:solidFill>
              </a:rPr>
              <a:t> : {{FICHE_PILOTES}} | </a:t>
            </a:r>
            <a:r>
              <a:rPr lang="fr" sz="1100" dirty="0">
                <a:solidFill>
                  <a:schemeClr val="dk2"/>
                </a:solidFill>
              </a:rPr>
              <a:t>Période</a:t>
            </a:r>
            <a:r>
              <a:rPr lang="fr" sz="1100" b="0" dirty="0">
                <a:solidFill>
                  <a:schemeClr val="dk2"/>
                </a:solidFill>
              </a:rPr>
              <a:t> : {{FICHE_PERIODE}}</a:t>
            </a:r>
            <a:endParaRPr sz="1300" dirty="0"/>
          </a:p>
        </p:txBody>
      </p:sp>
      <p:sp>
        <p:nvSpPr>
          <p:cNvPr id="365" name="Google Shape;365;p34"/>
          <p:cNvSpPr/>
          <p:nvPr/>
        </p:nvSpPr>
        <p:spPr>
          <a:xfrm>
            <a:off x="6148962" y="2655933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6" name="Google Shape;366;p34"/>
          <p:cNvSpPr txBox="1"/>
          <p:nvPr/>
        </p:nvSpPr>
        <p:spPr>
          <a:xfrm>
            <a:off x="6885766" y="2964375"/>
            <a:ext cx="14700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078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67" name="Google Shape;367;p34" title="Concitoyen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1579" y="2793247"/>
            <a:ext cx="476824" cy="4720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68" name="Google Shape;368;p34"/>
          <p:cNvCxnSpPr/>
          <p:nvPr/>
        </p:nvCxnSpPr>
        <p:spPr>
          <a:xfrm>
            <a:off x="336175" y="163420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9" name="Google Shape;369;p34"/>
          <p:cNvSpPr txBox="1"/>
          <p:nvPr/>
        </p:nvSpPr>
        <p:spPr>
          <a:xfrm>
            <a:off x="336175" y="3717413"/>
            <a:ext cx="34974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Chiffres clés :</a:t>
            </a: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0" name="Google Shape;370;p34"/>
          <p:cNvSpPr/>
          <p:nvPr/>
        </p:nvSpPr>
        <p:spPr>
          <a:xfrm>
            <a:off x="3242556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1" name="Google Shape;371;p34"/>
          <p:cNvSpPr txBox="1"/>
          <p:nvPr/>
        </p:nvSpPr>
        <p:spPr>
          <a:xfrm>
            <a:off x="4031327" y="4251425"/>
            <a:ext cx="18630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Hectares d’Espaces </a:t>
            </a:r>
            <a:b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Boisés Classés 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pSp>
        <p:nvGrpSpPr>
          <p:cNvPr id="3" name="group_fiche_indicateur_1">
            <a:extLst>
              <a:ext uri="{FF2B5EF4-FFF2-40B4-BE49-F238E27FC236}">
                <a16:creationId xmlns:a16="http://schemas.microsoft.com/office/drawing/2014/main" id="{CA172B52-9034-88B6-362F-FEB0BDA47393}"/>
              </a:ext>
            </a:extLst>
          </p:cNvPr>
          <p:cNvGrpSpPr/>
          <p:nvPr/>
        </p:nvGrpSpPr>
        <p:grpSpPr>
          <a:xfrm>
            <a:off x="336175" y="4009625"/>
            <a:ext cx="2712900" cy="799200"/>
            <a:chOff x="336175" y="4009625"/>
            <a:chExt cx="2712900" cy="799200"/>
          </a:xfrm>
        </p:grpSpPr>
        <p:sp>
          <p:nvSpPr>
            <p:cNvPr id="372" name="Google Shape;372;p34"/>
            <p:cNvSpPr/>
            <p:nvPr/>
          </p:nvSpPr>
          <p:spPr>
            <a:xfrm>
              <a:off x="336175" y="4009625"/>
              <a:ext cx="2712900" cy="799200"/>
            </a:xfrm>
            <a:prstGeom prst="roundRect">
              <a:avLst>
                <a:gd name="adj" fmla="val 6187"/>
              </a:avLst>
            </a:prstGeom>
            <a:solidFill>
              <a:srgbClr val="FBFCFE"/>
            </a:solidFill>
            <a:ln w="1097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525" tIns="105525" rIns="105525" bIns="105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15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73" name="Google Shape;373;p34"/>
            <p:cNvSpPr txBox="1"/>
            <p:nvPr/>
          </p:nvSpPr>
          <p:spPr>
            <a:xfrm>
              <a:off x="1124933" y="4251422"/>
              <a:ext cx="1573500" cy="33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70"/>
                <a:buFont typeface="Arial"/>
                <a:buNone/>
              </a:pPr>
              <a:r>
                <a:rPr lang="fr" sz="1038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Nombre d’arbres plantés  </a:t>
              </a:r>
              <a:r>
                <a:rPr lang="fr" sz="1154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23 </a:t>
              </a:r>
              <a:r>
                <a:rPr lang="fr" sz="1154" dirty="0">
                  <a:solidFill>
                    <a:schemeClr val="accent2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(2024)</a:t>
              </a:r>
              <a:endParaRPr sz="1154" dirty="0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  <p:pic>
          <p:nvPicPr>
            <p:cNvPr id="374" name="Google Shape;374;p34" title="tree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78727" y="4145200"/>
              <a:ext cx="528223" cy="528203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375" name="Google Shape;375;p34"/>
          <p:cNvCxnSpPr/>
          <p:nvPr/>
        </p:nvCxnSpPr>
        <p:spPr>
          <a:xfrm>
            <a:off x="336175" y="3546475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76" name="Google Shape;376;p34" title="leaf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86200" y="4145134"/>
            <a:ext cx="528225" cy="52820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34"/>
          <p:cNvSpPr/>
          <p:nvPr/>
        </p:nvSpPr>
        <p:spPr>
          <a:xfrm>
            <a:off x="7076325" y="-5207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78" name="Google Shape;378;p34"/>
          <p:cNvSpPr/>
          <p:nvPr/>
        </p:nvSpPr>
        <p:spPr>
          <a:xfrm>
            <a:off x="8283325" y="-5207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79" name="Google Shape;379;p34"/>
          <p:cNvSpPr/>
          <p:nvPr/>
        </p:nvSpPr>
        <p:spPr>
          <a:xfrm>
            <a:off x="7076325" y="-929950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0" name="Google Shape;380;p34"/>
          <p:cNvSpPr/>
          <p:nvPr/>
        </p:nvSpPr>
        <p:spPr>
          <a:xfrm>
            <a:off x="8050625" y="-929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6300200" y="-929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2" name="Google Shape;382;p34"/>
          <p:cNvSpPr/>
          <p:nvPr/>
        </p:nvSpPr>
        <p:spPr>
          <a:xfrm>
            <a:off x="6205675" y="-5207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3" name="Google Shape;383;p34"/>
          <p:cNvSpPr/>
          <p:nvPr/>
        </p:nvSpPr>
        <p:spPr>
          <a:xfrm>
            <a:off x="5202275" y="-5207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4" name="Google Shape;384;p34"/>
          <p:cNvSpPr/>
          <p:nvPr/>
        </p:nvSpPr>
        <p:spPr>
          <a:xfrm>
            <a:off x="7806475" y="1224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5" name="Google Shape;385;p34"/>
          <p:cNvSpPr/>
          <p:nvPr/>
        </p:nvSpPr>
        <p:spPr>
          <a:xfrm>
            <a:off x="7824625" y="12251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6" name="Google Shape;386;p34"/>
          <p:cNvSpPr/>
          <p:nvPr/>
        </p:nvSpPr>
        <p:spPr>
          <a:xfrm>
            <a:off x="7689925" y="1224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7" name="Google Shape;387;p34"/>
          <p:cNvSpPr/>
          <p:nvPr/>
        </p:nvSpPr>
        <p:spPr>
          <a:xfrm>
            <a:off x="7997450" y="1224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8" name="Google Shape;388;p34"/>
          <p:cNvSpPr/>
          <p:nvPr/>
        </p:nvSpPr>
        <p:spPr>
          <a:xfrm>
            <a:off x="7888225" y="12249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9" name="Google Shape;389;p34"/>
          <p:cNvSpPr/>
          <p:nvPr/>
        </p:nvSpPr>
        <p:spPr>
          <a:xfrm>
            <a:off x="7755625" y="12249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0" name="Google Shape;390;p34"/>
          <p:cNvSpPr txBox="1"/>
          <p:nvPr/>
        </p:nvSpPr>
        <p:spPr>
          <a:xfrm>
            <a:off x="319800" y="1823600"/>
            <a:ext cx="5124300" cy="17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127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Notes de suivi :</a:t>
            </a:r>
            <a:endParaRPr sz="1127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00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 trois ans, la collectivité a planté 387 arbres et 3 600 jeunes plants forestiers, dont une prairie boisée de 180 arbres à </a:t>
            </a:r>
            <a:r>
              <a:rPr lang="fr" sz="1000" dirty="0" err="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Villiersfins</a:t>
            </a:r>
            <a:r>
              <a:rPr lang="fr" sz="100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(45 000 € TTC) et une micro-forêt rue Monge (18 000 € TTC financés à 95% par mécénat). Un nouvel objectif vise la création d'un parc arboré au quartier de la gare d'ici 6 ans, en s'appuyant sur la Charte de l'arbre (2016) et le plan de gestion différenciée des espaces végétalisés (2021).</a:t>
            </a:r>
            <a:endParaRPr sz="1000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endParaRPr sz="1253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91" name="Google Shape;391;p34"/>
          <p:cNvSpPr/>
          <p:nvPr/>
        </p:nvSpPr>
        <p:spPr>
          <a:xfrm>
            <a:off x="6236163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2" name="Google Shape;392;p34"/>
          <p:cNvSpPr txBox="1"/>
          <p:nvPr/>
        </p:nvSpPr>
        <p:spPr>
          <a:xfrm>
            <a:off x="7024926" y="4079853"/>
            <a:ext cx="1780200" cy="6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Séquestration nette de CO2 dans les sols et la forêt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29,9 </a:t>
            </a:r>
            <a:r>
              <a:rPr lang="fr" sz="1253" baseline="3000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(kteq CO2)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93" name="Google Shape;393;p34" title="CO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55749" y="4115214"/>
            <a:ext cx="588025" cy="588025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4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5" name="Google Shape;395;p34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97" name="Google Shape;397;p34"/>
          <p:cNvSpPr/>
          <p:nvPr/>
        </p:nvSpPr>
        <p:spPr>
          <a:xfrm>
            <a:off x="5347675" y="-929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NON DÉFINI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8" name="Google Shape;398;p34"/>
          <p:cNvSpPr/>
          <p:nvPr/>
        </p:nvSpPr>
        <p:spPr>
          <a:xfrm>
            <a:off x="7847275" y="1221813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NON DÉFINI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9" name="Google Shape;399;p34"/>
          <p:cNvSpPr/>
          <p:nvPr/>
        </p:nvSpPr>
        <p:spPr>
          <a:xfrm>
            <a:off x="7650775" y="12249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F42BF0C1-B533-7B83-7136-6EA7AA621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5"/>
          <p:cNvSpPr txBox="1">
            <a:spLocks noGrp="1"/>
          </p:cNvSpPr>
          <p:nvPr>
            <p:ph type="ctrTitle"/>
          </p:nvPr>
        </p:nvSpPr>
        <p:spPr>
          <a:xfrm>
            <a:off x="318950" y="1051601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/>
              <a:t>{{FICHE_TITRE}}</a:t>
            </a:r>
            <a:endParaRPr sz="1600" dirty="0"/>
          </a:p>
        </p:txBody>
      </p:sp>
      <p:sp>
        <p:nvSpPr>
          <p:cNvPr id="406" name="Google Shape;406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18</a:t>
            </a:fld>
            <a:endParaRPr/>
          </a:p>
        </p:txBody>
      </p:sp>
      <p:sp>
        <p:nvSpPr>
          <p:cNvPr id="407" name="Google Shape;407;p35"/>
          <p:cNvSpPr/>
          <p:nvPr/>
        </p:nvSpPr>
        <p:spPr>
          <a:xfrm>
            <a:off x="318950" y="1543275"/>
            <a:ext cx="4028100" cy="2471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08" name="img_fiche_indicateur_chart_1" title="Hectares d’Espaces Boisés Classés.png"/>
          <p:cNvPicPr preferRelativeResize="0"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477688" y="1860212"/>
            <a:ext cx="3710623" cy="1936753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35"/>
          <p:cNvSpPr txBox="1">
            <a:spLocks noGrp="1"/>
          </p:cNvSpPr>
          <p:nvPr>
            <p:ph type="title" idx="4294967295"/>
          </p:nvPr>
        </p:nvSpPr>
        <p:spPr>
          <a:xfrm>
            <a:off x="477700" y="1713250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 dirty="0">
                <a:latin typeface="Poppins SemiBold"/>
                <a:ea typeface="Poppins SemiBold"/>
                <a:cs typeface="Poppins SemiBold"/>
                <a:sym typeface="Poppins SemiBold"/>
              </a:rPr>
              <a:t>Nombre d’arbres plantés</a:t>
            </a:r>
            <a:endParaRPr sz="920" b="0" dirty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10" name="Google Shape;410;p35"/>
          <p:cNvSpPr/>
          <p:nvPr/>
        </p:nvSpPr>
        <p:spPr>
          <a:xfrm>
            <a:off x="4742625" y="1543275"/>
            <a:ext cx="4028100" cy="2471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1" name="Google Shape;411;p35"/>
          <p:cNvSpPr txBox="1">
            <a:spLocks noGrp="1"/>
          </p:cNvSpPr>
          <p:nvPr>
            <p:ph type="title" idx="4294967295"/>
          </p:nvPr>
        </p:nvSpPr>
        <p:spPr>
          <a:xfrm>
            <a:off x="4901375" y="1713250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Hectares d’Espaces Boisés Classés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412" name="img_fiche_indicateur_chart_2" title="Nombre d’arbres plantés.png"/>
          <p:cNvPicPr preferRelativeResize="0"/>
          <p:nvPr/>
        </p:nvPicPr>
        <p:blipFill rotWithShape="1">
          <a:blip r:embed="rId4">
            <a:alphaModFix/>
          </a:blip>
          <a:srcRect/>
          <a:stretch>
            <a:fillRect/>
          </a:stretch>
        </p:blipFill>
        <p:spPr>
          <a:xfrm>
            <a:off x="4947500" y="1863435"/>
            <a:ext cx="3710602" cy="1936846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35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14" name="Google Shape;414;p35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9036B6B6-3928-D554-6E9A-223304B9D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19</a:t>
            </a:fld>
            <a:endParaRPr/>
          </a:p>
        </p:txBody>
      </p:sp>
      <p:sp>
        <p:nvSpPr>
          <p:cNvPr id="421" name="Google Shape;421;p36"/>
          <p:cNvSpPr txBox="1">
            <a:spLocks noGrp="1"/>
          </p:cNvSpPr>
          <p:nvPr>
            <p:ph type="ctrTitle"/>
          </p:nvPr>
        </p:nvSpPr>
        <p:spPr>
          <a:xfrm>
            <a:off x="318950" y="1051601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422" name="Google Shape;422;p36"/>
          <p:cNvSpPr txBox="1">
            <a:spLocks noGrp="1"/>
          </p:cNvSpPr>
          <p:nvPr>
            <p:ph type="title" idx="2"/>
          </p:nvPr>
        </p:nvSpPr>
        <p:spPr>
          <a:xfrm>
            <a:off x="319800" y="1321836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2"/>
                </a:solidFill>
              </a:rPr>
              <a:t>Pilote</a:t>
            </a:r>
            <a:r>
              <a:rPr lang="fr" sz="1100" b="0">
                <a:solidFill>
                  <a:schemeClr val="dk2"/>
                </a:solidFill>
              </a:rPr>
              <a:t> : A. Dusanter | </a:t>
            </a:r>
            <a:r>
              <a:rPr lang="fr" sz="1100">
                <a:solidFill>
                  <a:schemeClr val="dk2"/>
                </a:solidFill>
              </a:rPr>
              <a:t>Période</a:t>
            </a:r>
            <a:r>
              <a:rPr lang="fr" sz="1100" b="0">
                <a:solidFill>
                  <a:schemeClr val="dk2"/>
                </a:solidFill>
              </a:rPr>
              <a:t> : 30/10/24 -&gt; 31/12/25</a:t>
            </a:r>
            <a:endParaRPr sz="1300"/>
          </a:p>
        </p:txBody>
      </p:sp>
      <p:cxnSp>
        <p:nvCxnSpPr>
          <p:cNvPr id="423" name="Google Shape;423;p36"/>
          <p:cNvCxnSpPr/>
          <p:nvPr/>
        </p:nvCxnSpPr>
        <p:spPr>
          <a:xfrm>
            <a:off x="336175" y="2019250"/>
            <a:ext cx="4136400" cy="18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4" name="Google Shape;424;p36"/>
          <p:cNvSpPr/>
          <p:nvPr/>
        </p:nvSpPr>
        <p:spPr>
          <a:xfrm>
            <a:off x="4742625" y="2438463"/>
            <a:ext cx="4028100" cy="2471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5" name="Google Shape;425;p36"/>
          <p:cNvSpPr txBox="1">
            <a:spLocks noGrp="1"/>
          </p:cNvSpPr>
          <p:nvPr>
            <p:ph type="title" idx="4294967295"/>
          </p:nvPr>
        </p:nvSpPr>
        <p:spPr>
          <a:xfrm>
            <a:off x="4901375" y="2608438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Hectares d’Espaces Boisés Classés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426" name="Google Shape;426;p36" title="Nombre d’arbres plantés.png"/>
          <p:cNvPicPr preferRelativeResize="0"/>
          <p:nvPr/>
        </p:nvPicPr>
        <p:blipFill rotWithShape="1">
          <a:blip r:embed="rId3">
            <a:alphaModFix/>
          </a:blip>
          <a:srcRect t="4370"/>
          <a:stretch/>
        </p:blipFill>
        <p:spPr>
          <a:xfrm>
            <a:off x="4947500" y="2843263"/>
            <a:ext cx="3710602" cy="1852200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36"/>
          <p:cNvSpPr/>
          <p:nvPr/>
        </p:nvSpPr>
        <p:spPr>
          <a:xfrm>
            <a:off x="336175" y="2175463"/>
            <a:ext cx="2945700" cy="676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8" name="Google Shape;428;p36"/>
          <p:cNvSpPr txBox="1"/>
          <p:nvPr/>
        </p:nvSpPr>
        <p:spPr>
          <a:xfrm>
            <a:off x="1142875" y="2339975"/>
            <a:ext cx="2494200" cy="3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105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0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1050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429" name="Google Shape;429;p36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125" y="2286023"/>
            <a:ext cx="493456" cy="49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36"/>
          <p:cNvSpPr/>
          <p:nvPr/>
        </p:nvSpPr>
        <p:spPr>
          <a:xfrm>
            <a:off x="336175" y="3003588"/>
            <a:ext cx="2945700" cy="676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1" name="Google Shape;431;p36"/>
          <p:cNvSpPr txBox="1"/>
          <p:nvPr/>
        </p:nvSpPr>
        <p:spPr>
          <a:xfrm>
            <a:off x="1142875" y="3266388"/>
            <a:ext cx="1300500" cy="1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25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432" name="Google Shape;432;p36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1200" y="3093701"/>
            <a:ext cx="501275" cy="496272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36"/>
          <p:cNvSpPr/>
          <p:nvPr/>
        </p:nvSpPr>
        <p:spPr>
          <a:xfrm>
            <a:off x="4696250" y="29774"/>
            <a:ext cx="4447800" cy="5143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4" name="Google Shape;434;p36"/>
          <p:cNvSpPr/>
          <p:nvPr/>
        </p:nvSpPr>
        <p:spPr>
          <a:xfrm>
            <a:off x="4906100" y="177500"/>
            <a:ext cx="4028100" cy="23139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35" name="Google Shape;435;p36" title="Hectares d’Espaces Boisés Classés.png"/>
          <p:cNvPicPr preferRelativeResize="0"/>
          <p:nvPr/>
        </p:nvPicPr>
        <p:blipFill rotWithShape="1">
          <a:blip r:embed="rId6">
            <a:alphaModFix/>
          </a:blip>
          <a:srcRect t="4707"/>
          <a:stretch/>
        </p:blipFill>
        <p:spPr>
          <a:xfrm>
            <a:off x="5064838" y="585600"/>
            <a:ext cx="3710623" cy="1845599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36"/>
          <p:cNvSpPr txBox="1">
            <a:spLocks noGrp="1"/>
          </p:cNvSpPr>
          <p:nvPr>
            <p:ph type="title" idx="4294967295"/>
          </p:nvPr>
        </p:nvSpPr>
        <p:spPr>
          <a:xfrm>
            <a:off x="5064850" y="3474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Nombre d’arbres plantés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37" name="Google Shape;437;p36"/>
          <p:cNvSpPr/>
          <p:nvPr/>
        </p:nvSpPr>
        <p:spPr>
          <a:xfrm>
            <a:off x="4906100" y="2648900"/>
            <a:ext cx="4028100" cy="23139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8" name="Google Shape;438;p36"/>
          <p:cNvSpPr txBox="1">
            <a:spLocks noGrp="1"/>
          </p:cNvSpPr>
          <p:nvPr>
            <p:ph type="title" idx="4294967295"/>
          </p:nvPr>
        </p:nvSpPr>
        <p:spPr>
          <a:xfrm>
            <a:off x="5064850" y="28188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Hectares d’Espaces Boisés Classés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439" name="Google Shape;439;p36" title="Nombre d’arbres plantés.png"/>
          <p:cNvPicPr preferRelativeResize="0"/>
          <p:nvPr/>
        </p:nvPicPr>
        <p:blipFill rotWithShape="1">
          <a:blip r:embed="rId3">
            <a:alphaModFix/>
          </a:blip>
          <a:srcRect t="4370"/>
          <a:stretch/>
        </p:blipFill>
        <p:spPr>
          <a:xfrm>
            <a:off x="5110975" y="3053700"/>
            <a:ext cx="3710602" cy="18522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7806475" y="1224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7824625" y="12251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2" name="Google Shape;442;p36"/>
          <p:cNvSpPr/>
          <p:nvPr/>
        </p:nvSpPr>
        <p:spPr>
          <a:xfrm>
            <a:off x="7689925" y="1224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3" name="Google Shape;443;p36"/>
          <p:cNvSpPr/>
          <p:nvPr/>
        </p:nvSpPr>
        <p:spPr>
          <a:xfrm>
            <a:off x="7997450" y="1224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4" name="Google Shape;444;p36"/>
          <p:cNvSpPr/>
          <p:nvPr/>
        </p:nvSpPr>
        <p:spPr>
          <a:xfrm>
            <a:off x="7888225" y="12249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5" name="Google Shape;445;p36"/>
          <p:cNvSpPr/>
          <p:nvPr/>
        </p:nvSpPr>
        <p:spPr>
          <a:xfrm>
            <a:off x="7755625" y="12249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6" name="Google Shape;446;p36"/>
          <p:cNvSpPr/>
          <p:nvPr/>
        </p:nvSpPr>
        <p:spPr>
          <a:xfrm>
            <a:off x="7650775" y="12249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7" name="Google Shape;447;p36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8" name="Google Shape;448;p36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49" name="Google Shape;449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4" name="Google Shape;454;p37" title="logo final + accroch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09675" y="182725"/>
            <a:ext cx="1375626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37"/>
          <p:cNvSpPr txBox="1"/>
          <p:nvPr/>
        </p:nvSpPr>
        <p:spPr>
          <a:xfrm>
            <a:off x="288500" y="1059775"/>
            <a:ext cx="7773300" cy="21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Données territoriales : </a:t>
            </a:r>
            <a:endParaRPr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Consommation d’énergie : </a:t>
            </a: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https://ecologie.data.gouv.fr/</a:t>
            </a: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GES : </a:t>
            </a: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https://ecologie.data.gouv.fr/</a:t>
            </a: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Production ENR : </a:t>
            </a:r>
            <a:r>
              <a:rPr lang="fr" sz="1200" u="sng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https://ecologie.data.gouv.fr/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Notes de suivi </a:t>
            </a:r>
            <a:r>
              <a:rPr lang="fr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: les résumés ont été généré par intelligence artificielle à partir des notes de suivi des actions. Il s'appuie sur les outils développés par l’entreprise française Mistral Al.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Rapport généré par </a:t>
            </a: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Territoires en Transitions</a:t>
            </a:r>
            <a:endParaRPr sz="1200"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6" name="Google Shape;456;p3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20</a:t>
            </a:fld>
            <a:endParaRPr/>
          </a:p>
        </p:txBody>
      </p:sp>
      <p:sp>
        <p:nvSpPr>
          <p:cNvPr id="457" name="Google Shape;457;p37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58" name="Google Shape;458;p37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59" name="Google Shape;459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200"/>
              <a:t>21</a:t>
            </a:fld>
            <a:endParaRPr sz="200"/>
          </a:p>
        </p:txBody>
      </p:sp>
      <p:pic>
        <p:nvPicPr>
          <p:cNvPr id="465" name="Google Shape;465;p38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37228" y="1497872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p38" title="environmen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1125" y="1441151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38" title="su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26675" y="1472106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38" title="viru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61891" y="1429550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Google Shape;469;p38" title="art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844754" y="1486279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38" title="food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97099" y="1486276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38" title="human-cooperation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730514" y="2852656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38" title="tree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865211" y="2852656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38" title="Gouvernance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80502" y="2818413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38" title="companie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340925" y="2807375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38" title="community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770975" y="2841600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" name="Google Shape;476;p38" title="map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2049150" y="2893150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38"/>
          <p:cNvSpPr txBox="1"/>
          <p:nvPr/>
        </p:nvSpPr>
        <p:spPr>
          <a:xfrm>
            <a:off x="20491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Activités économiques</a:t>
            </a: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8" name="Google Shape;478;p38"/>
          <p:cNvSpPr txBox="1"/>
          <p:nvPr/>
        </p:nvSpPr>
        <p:spPr>
          <a:xfrm>
            <a:off x="29646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Agriculture et alimentation</a:t>
            </a: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9" name="Google Shape;479;p38"/>
          <p:cNvSpPr txBox="1"/>
          <p:nvPr/>
        </p:nvSpPr>
        <p:spPr>
          <a:xfrm>
            <a:off x="37960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Culture, identité collective, sport</a:t>
            </a: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0" name="Google Shape;480;p38"/>
          <p:cNvSpPr txBox="1"/>
          <p:nvPr/>
        </p:nvSpPr>
        <p:spPr>
          <a:xfrm>
            <a:off x="47115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Eau, milieux aquatiques et assainissement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1" name="Google Shape;481;p38"/>
          <p:cNvSpPr txBox="1"/>
          <p:nvPr/>
        </p:nvSpPr>
        <p:spPr>
          <a:xfrm>
            <a:off x="55429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Économie circulaire et déchets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2" name="Google Shape;482;p38"/>
          <p:cNvSpPr txBox="1"/>
          <p:nvPr/>
        </p:nvSpPr>
        <p:spPr>
          <a:xfrm>
            <a:off x="64584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Énergie et climat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3" name="Google Shape;483;p38"/>
          <p:cNvSpPr txBox="1"/>
          <p:nvPr/>
        </p:nvSpPr>
        <p:spPr>
          <a:xfrm>
            <a:off x="1994100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Mobilité et transport</a:t>
            </a:r>
            <a:endParaRPr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4" name="Google Shape;484;p38"/>
          <p:cNvSpPr txBox="1"/>
          <p:nvPr/>
        </p:nvSpPr>
        <p:spPr>
          <a:xfrm>
            <a:off x="2909600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Nature, environnement, air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5" name="Google Shape;485;p38"/>
          <p:cNvSpPr txBox="1"/>
          <p:nvPr/>
        </p:nvSpPr>
        <p:spPr>
          <a:xfrm>
            <a:off x="3770975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Sensibilisation, communication et accompagnement au changement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6" name="Google Shape;486;p38"/>
          <p:cNvSpPr txBox="1"/>
          <p:nvPr/>
        </p:nvSpPr>
        <p:spPr>
          <a:xfrm>
            <a:off x="4686475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Solidarité et lien social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7" name="Google Shape;487;p38"/>
          <p:cNvSpPr txBox="1"/>
          <p:nvPr/>
        </p:nvSpPr>
        <p:spPr>
          <a:xfrm>
            <a:off x="5436463" y="3519100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Stratégie, organisation interne et gouvernance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8" name="Google Shape;488;p38"/>
          <p:cNvSpPr txBox="1"/>
          <p:nvPr/>
        </p:nvSpPr>
        <p:spPr>
          <a:xfrm>
            <a:off x="6399888" y="3519100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Urbanisme, logement, aménagement, bâtiments</a:t>
            </a: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9" name="Google Shape;489;p38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90" name="Google Shape;490;p38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91" name="Google Shape;491;p38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eme TET">
  <a:themeElements>
    <a:clrScheme name="Simple Light">
      <a:dk1>
        <a:srgbClr val="154C88"/>
      </a:dk1>
      <a:lt1>
        <a:srgbClr val="FAFBFF"/>
      </a:lt1>
      <a:dk2>
        <a:srgbClr val="5D5D79"/>
      </a:dk2>
      <a:lt2>
        <a:srgbClr val="EEEEEE"/>
      </a:lt2>
      <a:accent1>
        <a:srgbClr val="0B5EBE"/>
      </a:accent1>
      <a:accent2>
        <a:srgbClr val="05458D"/>
      </a:accent2>
      <a:accent3>
        <a:srgbClr val="6FA8DC"/>
      </a:accent3>
      <a:accent4>
        <a:srgbClr val="F55B5B"/>
      </a:accent4>
      <a:accent5>
        <a:srgbClr val="4380F5"/>
      </a:accent5>
      <a:accent6>
        <a:srgbClr val="F4C44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1354</Words>
  <Application>Microsoft Macintosh PowerPoint</Application>
  <PresentationFormat>Affichage à l'écran (16:9)</PresentationFormat>
  <Paragraphs>245</Paragraphs>
  <Slides>21</Slides>
  <Notes>21</Notes>
  <HiddenSlides>3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7" baseType="lpstr">
      <vt:lpstr>Arial</vt:lpstr>
      <vt:lpstr>Poppins Medium</vt:lpstr>
      <vt:lpstr>Poppins SemiBold</vt:lpstr>
      <vt:lpstr>Poppins ExtraBold</vt:lpstr>
      <vt:lpstr>Poppins</vt:lpstr>
      <vt:lpstr>Theme TET</vt:lpstr>
      <vt:lpstr>{{PLAN_NOM}}</vt:lpstr>
      <vt:lpstr>Sommaire</vt:lpstr>
      <vt:lpstr>Synthèse du plan </vt:lpstr>
      <vt:lpstr>Synthèse du plan</vt:lpstr>
      <vt:lpstr>Synthèse du plan</vt:lpstr>
      <vt:lpstr>Avancement du plan </vt:lpstr>
      <vt:lpstr>Avancement du plan </vt:lpstr>
      <vt:lpstr>Données territoriales</vt:lpstr>
      <vt:lpstr>Consommation énergétique finale</vt:lpstr>
      <vt:lpstr>Émission de gaz à effet de serre</vt:lpstr>
      <vt:lpstr>Production d’énergie renouvelable du territoire</vt:lpstr>
      <vt:lpstr>Avancement des axes et leur actions</vt:lpstr>
      <vt:lpstr>Avancement des axes et leur actions</vt:lpstr>
      <vt:lpstr> {{AXE_NOM}} </vt:lpstr>
      <vt:lpstr>4.3 Créer un nouvel espace boisé à Blois</vt:lpstr>
      <vt:lpstr>4.3 Créer un nouvel espace boisé à Blois</vt:lpstr>
      <vt:lpstr>{{FICHE_TITRE}}</vt:lpstr>
      <vt:lpstr>{{FICHE_TITRE}}</vt:lpstr>
      <vt:lpstr>4.3 Créer un nouvel espace boisé à Blois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Thibaut Dusanter</cp:lastModifiedBy>
  <cp:revision>47</cp:revision>
  <dcterms:modified xsi:type="dcterms:W3CDTF">2025-12-10T16:39:34Z</dcterms:modified>
</cp:coreProperties>
</file>