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Poppins ExtraBold" panose="00000900000000000000" pitchFamily="2" charset="77"/>
      <p:bold r:id="rId23"/>
      <p:italic r:id="rId24"/>
      <p:boldItalic r:id="rId25"/>
    </p:embeddedFont>
    <p:embeddedFont>
      <p:font typeface="Poppins Medium" panose="00000600000000000000" pitchFamily="2" charset="77"/>
      <p:regular r:id="rId26"/>
      <p:bold r:id="rId27"/>
      <p:italic r:id="rId28"/>
      <p:boldItalic r:id="rId29"/>
    </p:embeddedFont>
    <p:embeddedFont>
      <p:font typeface="Poppins SemiBold" panose="00000700000000000000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ément Saulnier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22078B-5231-4813-9324-93ACBC273146}">
  <a:tblStyle styleId="{4722078B-5231-4813-9324-93ACBC273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12"/>
  </p:normalViewPr>
  <p:slideViewPr>
    <p:cSldViewPr snapToGrid="0">
      <p:cViewPr varScale="1">
        <p:scale>
          <a:sx n="120" d="100"/>
          <a:sy n="120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4:15:03.636" idx="1">
    <p:pos x="6000" y="0"/>
    <p:text>Top beaucoup plus visuel !
Je pense qu'on peut améliorer : 
- L'ajout d'un graphique de répartition des actions par statut avec le donut comme sur la première version
- Le vert pour les données supposent que c'est positif, mais si l'avancement de l'action est à 0% c'est étrange. Peut-être prendre une couleur neutre en dehors des statuts : violet, noir, ...
- En hiérarchie j'aurais changé : 
- Avancement 
- Structure 
- Répartition
- Budget
- ETP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4:16:14.398" idx="2">
    <p:pos x="6000" y="0"/>
    <p:text>J'ai rajouté ce titre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8T15:19:17.726" idx="3">
    <p:pos x="6000" y="0"/>
    <p:text>Quelques retours : 
- Pas de note de suivi sur un axe
- Graphique de la répartition des actions par statut peut être plus visuel et cool
- Hiérarchie : Avancement, Structure, Répartition, Budget, ETP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0a5d14d1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0a5d14d1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78b42931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78b42931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ac6617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2ac6617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2ac66177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2ac66177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dd9055c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dd9055c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fdd9055c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fdd9055c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ac6617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ac66177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573bcef6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573bcef6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ac66177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2ac66177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ac66177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2ac66177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fdd9055c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fdd9055c2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fdd9055c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fdd9055c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2ac66177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2ac66177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fdd9055c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fdd9055c2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fdd9055c2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fdd9055c2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081d125a2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081d125a2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 1">
  <p:cSld name="CUSTOM_2_1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6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3887" y="1987675"/>
            <a:ext cx="1209477" cy="524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" name="Google Shape;49;p6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3" name="Google Shape;63;p9" title="imag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50775" y="36200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 1">
  <p:cSld name="SECTION_TITLE_AND_DESCRIPTION_1_1_1">
    <p:bg>
      <p:bgPr>
        <a:solidFill>
          <a:srgbClr val="FAF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8" name="Google Shape;68;p10" title="image-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50775" y="36538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title" idx="2"/>
          </p:nvPr>
        </p:nvSpPr>
        <p:spPr>
          <a:xfrm>
            <a:off x="3974800" y="252600"/>
            <a:ext cx="44976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Poppins Medium"/>
              <a:buNone/>
              <a:defRPr sz="1200" b="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3974800" y="637100"/>
            <a:ext cx="48420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5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Le lorem ipsum est, en imprimerie, une suite de mots sans signification utilisée à titre provisoire pour calibrer une mise en page, le texte définitif venant remplacer le faux-texte dès qu'il est prêt ou que la mise en page est achevée. Généralement, on utilise un texte en faux latin, le Lorem ipsum ou Lipsum.</a:t>
            </a:r>
            <a:endParaRPr sz="16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15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04" name="Google Shape;104;p16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17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15" name="Google Shape;15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comments" Target="../comments/commen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cologie.data.gouv.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PCAET 2019-2025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/>
              <a:t>3 novembre 2025</a:t>
            </a:r>
            <a:endParaRPr sz="1400">
              <a:solidFill>
                <a:srgbClr val="5D5D79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4294967295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ctrTitle"/>
          </p:nvPr>
        </p:nvSpPr>
        <p:spPr>
          <a:xfrm>
            <a:off x="560677" y="1027025"/>
            <a:ext cx="32016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Sommaire</a:t>
            </a:r>
            <a:endParaRPr sz="1600"/>
          </a:p>
        </p:txBody>
      </p:sp>
      <p:pic>
        <p:nvPicPr>
          <p:cNvPr id="123" name="Google Shape;123;p19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76" y="932793"/>
            <a:ext cx="27721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>
            <a:spLocks noGrp="1"/>
          </p:cNvSpPr>
          <p:nvPr>
            <p:ph type="title" idx="4294967295"/>
          </p:nvPr>
        </p:nvSpPr>
        <p:spPr>
          <a:xfrm>
            <a:off x="303975" y="1363350"/>
            <a:ext cx="54123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Synthèse du plan - page 3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Données territoriales - page 6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Avancement des axes et leur actions - page 10</a:t>
            </a:r>
            <a:endParaRPr sz="110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Déchets et Économie Circulaire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Energie des Infrastructures Publiques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Urbanisme et Aménagement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Puits de Carbone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Biodiversité et Adaptation au Changement Climatique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Alimentation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Mobilités et déplacements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Energies Renouvelables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Agriculture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Sensibilisation - page 10</a:t>
            </a:r>
            <a:endParaRPr sz="1000" b="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AutoNum type="arabicPeriod"/>
            </a:pPr>
            <a:r>
              <a:rPr lang="fr" sz="1000" b="0">
                <a:solidFill>
                  <a:srgbClr val="404092"/>
                </a:solidFill>
              </a:rPr>
              <a:t>Numérique et Cycle de Vie de la Donnée - page 10</a:t>
            </a:r>
            <a:endParaRPr sz="1000" b="0">
              <a:solidFill>
                <a:srgbClr val="40409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404092"/>
                </a:solidFill>
              </a:rPr>
              <a:t>D. Ressources - page 34</a:t>
            </a:r>
            <a:endParaRPr sz="1000" b="0">
              <a:solidFill>
                <a:srgbClr val="404092"/>
              </a:solidFill>
            </a:endParaRPr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du plan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 de Blois ''Agglopolys''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133" name="Google Shape;133;p20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ctrTitle"/>
          </p:nvPr>
        </p:nvSpPr>
        <p:spPr>
          <a:xfrm>
            <a:off x="1531400" y="1059988"/>
            <a:ext cx="59808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217125" y="1960938"/>
            <a:ext cx="29394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082703" y="2235779"/>
            <a:ext cx="2152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global des actions</a:t>
            </a:r>
            <a:r>
              <a:rPr lang="fr" sz="1127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33 %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2" name="Google Shape;142;p21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51" y="2126012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5892375" y="1985038"/>
            <a:ext cx="30180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757964" y="2206539"/>
            <a:ext cx="21525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950k€ 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(900k€ fonct. + 50k€ invest.)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5" name="Google Shape;145;p21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275" y="2144259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3406050" y="1985038"/>
            <a:ext cx="22368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4308579" y="2322613"/>
            <a:ext cx="11538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 ETP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48" name="Google Shape;148;p21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489" y="2144689"/>
            <a:ext cx="554221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288225" y="2979287"/>
            <a:ext cx="42267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074977" y="3221838"/>
            <a:ext cx="32205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de l'axe: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 </a:t>
            </a:r>
            <a:r>
              <a:rPr lang="fr" sz="1253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sous-axes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51" name="Google Shape;151;p21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238" y="3215907"/>
            <a:ext cx="548700" cy="54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4798600" y="2979300"/>
            <a:ext cx="41118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648750" y="3194288"/>
            <a:ext cx="29985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(7%)  </a:t>
            </a:r>
            <a:r>
              <a:rPr lang="fr" sz="1200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(1%)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2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12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(61%)  </a:t>
            </a:r>
            <a:r>
              <a:rPr lang="fr" sz="1200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33 </a:t>
            </a:r>
            <a:r>
              <a:rPr lang="fr" sz="12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(28%)</a:t>
            </a:r>
            <a:endParaRPr sz="120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54" name="Google Shape;154;p21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1887" y="3239614"/>
            <a:ext cx="547200" cy="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territoriales</a:t>
            </a: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pic>
        <p:nvPicPr>
          <p:cNvPr id="161" name="Google Shape;161;p22" title="location-fr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80" y="1615450"/>
            <a:ext cx="954000" cy="9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3" title="Consommation énergétique finale.png"/>
          <p:cNvPicPr preferRelativeResize="0"/>
          <p:nvPr/>
        </p:nvPicPr>
        <p:blipFill rotWithShape="1">
          <a:blip r:embed="rId3">
            <a:alphaModFix/>
          </a:blip>
          <a:srcRect t="4269"/>
          <a:stretch/>
        </p:blipFill>
        <p:spPr>
          <a:xfrm>
            <a:off x="1372350" y="1223453"/>
            <a:ext cx="6399299" cy="3340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title" idx="4294967295"/>
          </p:nvPr>
        </p:nvSpPr>
        <p:spPr>
          <a:xfrm>
            <a:off x="1581275" y="136540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Consommation énergétique finale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 title="Émissions de gaz à effet de serre.png"/>
          <p:cNvPicPr preferRelativeResize="0"/>
          <p:nvPr/>
        </p:nvPicPr>
        <p:blipFill rotWithShape="1">
          <a:blip r:embed="rId3">
            <a:alphaModFix/>
          </a:blip>
          <a:srcRect t="4952"/>
          <a:stretch/>
        </p:blipFill>
        <p:spPr>
          <a:xfrm>
            <a:off x="1317300" y="1224906"/>
            <a:ext cx="6444073" cy="336363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>
            <a:spLocks noGrp="1"/>
          </p:cNvSpPr>
          <p:nvPr>
            <p:ph type="title" idx="4294967295"/>
          </p:nvPr>
        </p:nvSpPr>
        <p:spPr>
          <a:xfrm>
            <a:off x="1317300" y="10423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Émission de gaz à effet de serre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 de Blois ''Agglopolys''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185" name="Google Shape;185;p25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ctrTitle"/>
          </p:nvPr>
        </p:nvSpPr>
        <p:spPr>
          <a:xfrm>
            <a:off x="288225" y="10599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Axe 1. Déchets et Économie Circulaire</a:t>
            </a:r>
            <a:endParaRPr sz="1600"/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288225" y="2505075"/>
            <a:ext cx="42267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1074977" y="2747625"/>
            <a:ext cx="32205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 de l'axe:</a:t>
            </a:r>
            <a:endParaRPr sz="1127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 </a:t>
            </a:r>
            <a:r>
              <a:rPr lang="fr" sz="1253">
                <a:solidFill>
                  <a:schemeClr val="accen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sous-axes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indicateurs de suivi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107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actions </a:t>
            </a:r>
            <a:r>
              <a:rPr lang="fr" sz="1253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256 </a:t>
            </a:r>
            <a:r>
              <a:rPr lang="fr" sz="1253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sous-actions</a:t>
            </a:r>
            <a:endParaRPr sz="12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4" name="Google Shape;194;p26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38" y="2741694"/>
            <a:ext cx="548700" cy="54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/>
          <p:nvPr/>
        </p:nvSpPr>
        <p:spPr>
          <a:xfrm>
            <a:off x="288225" y="1486725"/>
            <a:ext cx="29394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1108175" y="1848403"/>
            <a:ext cx="19431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Avancement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56%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7" name="Google Shape;197;p26" title="Trajectoi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51" y="1651799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4723875" y="2505075"/>
            <a:ext cx="4068600" cy="1033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5574025" y="2720075"/>
            <a:ext cx="29985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(15%)  </a:t>
            </a:r>
            <a:r>
              <a:rPr lang="fr" sz="1200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(5%)</a:t>
            </a:r>
            <a: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1200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12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12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(67%)  </a:t>
            </a:r>
            <a:r>
              <a:rPr lang="fr" sz="1200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fr" sz="12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(2%)</a:t>
            </a:r>
            <a:endParaRPr sz="1200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6172875" y="1510900"/>
            <a:ext cx="26196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7038450" y="1732400"/>
            <a:ext cx="1646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190k€ </a:t>
            </a:r>
            <a:b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(dépensé 150 k)</a:t>
            </a:r>
            <a:endParaRPr sz="10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02" name="Google Shape;202;p26" title="mone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3787" y="1707921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/>
          <p:nvPr/>
        </p:nvSpPr>
        <p:spPr>
          <a:xfrm>
            <a:off x="3439877" y="1510825"/>
            <a:ext cx="24942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4342412" y="1848408"/>
            <a:ext cx="1708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 ETP</a:t>
            </a:r>
            <a:endParaRPr sz="1503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05" name="Google Shape;205;p26" title="Concitoyen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314" y="1670477"/>
            <a:ext cx="554221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title="Action à impa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7162" y="2765401"/>
            <a:ext cx="547200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319800" y="3699275"/>
            <a:ext cx="8504400" cy="13350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2846250" y="4337813"/>
            <a:ext cx="3451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1">
                <a:solidFill>
                  <a:schemeClr val="dk1"/>
                </a:solidFill>
                <a:highlight>
                  <a:srgbClr val="FBFCFE"/>
                </a:highlight>
              </a:rPr>
              <a:t>Aucune notes de suivi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3952975" y="4588300"/>
            <a:ext cx="1238100" cy="262500"/>
          </a:xfrm>
          <a:prstGeom prst="roundRect">
            <a:avLst>
              <a:gd name="adj" fmla="val 16667"/>
            </a:avLst>
          </a:prstGeom>
          <a:solidFill>
            <a:srgbClr val="05458D"/>
          </a:solidFill>
          <a:ln w="9525" cap="flat" cmpd="sng">
            <a:solidFill>
              <a:srgbClr val="E6E9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AFB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Ajouter une note</a:t>
            </a:r>
            <a:endParaRPr sz="800">
              <a:solidFill>
                <a:srgbClr val="FAFB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0" name="Google Shape;210;p26" title="docum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94900" y="3786263"/>
            <a:ext cx="554200" cy="5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27" title="Production d’énergie renouvelable du territoire.png"/>
          <p:cNvPicPr preferRelativeResize="0"/>
          <p:nvPr/>
        </p:nvPicPr>
        <p:blipFill rotWithShape="1">
          <a:blip r:embed="rId3">
            <a:alphaModFix/>
          </a:blip>
          <a:srcRect t="5069"/>
          <a:stretch/>
        </p:blipFill>
        <p:spPr>
          <a:xfrm>
            <a:off x="1283100" y="1308650"/>
            <a:ext cx="6444052" cy="325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>
            <a:spLocks noGrp="1"/>
          </p:cNvSpPr>
          <p:nvPr>
            <p:ph type="title" idx="4294967295"/>
          </p:nvPr>
        </p:nvSpPr>
        <p:spPr>
          <a:xfrm>
            <a:off x="1283100" y="10837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Production d’énergie renouvelable du territoire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pic>
        <p:nvPicPr>
          <p:cNvPr id="226" name="Google Shape;226;p28" title="Trajecto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003" y="1641276"/>
            <a:ext cx="954000" cy="9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>
            <a:spLocks noGrp="1"/>
          </p:cNvSpPr>
          <p:nvPr>
            <p:ph type="ctrTitle"/>
          </p:nvPr>
        </p:nvSpPr>
        <p:spPr>
          <a:xfrm>
            <a:off x="260975" y="921475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Avancement du plan </a:t>
            </a:r>
            <a:endParaRPr sz="1600"/>
          </a:p>
        </p:txBody>
      </p:sp>
      <p:sp>
        <p:nvSpPr>
          <p:cNvPr id="232" name="Google Shape;232;p29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33" name="table_avancement_plan"/>
          <p:cNvGraphicFramePr/>
          <p:nvPr>
            <p:extLst>
              <p:ext uri="{D42A27DB-BD31-4B8C-83A1-F6EECF244321}">
                <p14:modId xmlns:p14="http://schemas.microsoft.com/office/powerpoint/2010/main" val="2311347368"/>
              </p:ext>
            </p:extLst>
          </p:nvPr>
        </p:nvGraphicFramePr>
        <p:xfrm>
          <a:off x="260975" y="1326439"/>
          <a:ext cx="8075125" cy="3709818"/>
        </p:xfrm>
        <a:graphic>
          <a:graphicData uri="http://schemas.openxmlformats.org/drawingml/2006/table">
            <a:tbl>
              <a:tblPr>
                <a:noFill/>
                <a:tableStyleId>{4722078B-5231-4813-9324-93ACBC273146}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ID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AXE</a:t>
                      </a:r>
                      <a:endParaRPr sz="7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AVANCEMENT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ACTIONS</a:t>
                      </a:r>
                      <a:endParaRPr sz="7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TENDANCE</a:t>
                      </a:r>
                      <a:endParaRPr sz="7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{{AXE_1}}</a:t>
                      </a:r>
                      <a:endParaRPr sz="10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56%</a:t>
                      </a:r>
                      <a:endParaRPr sz="7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</a:t>
                      </a:r>
                      <a:endParaRPr sz="10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 Infrastructures Publiques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25%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11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solidFill>
                          <a:srgbClr val="E6913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Urbanisme &amp; Aménagement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12%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b="1">
                          <a:solidFill>
                            <a:srgbClr val="CC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↓</a:t>
                      </a:r>
                      <a:endParaRPr sz="1000" b="1">
                        <a:solidFill>
                          <a:srgbClr val="CC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Puits de Carbone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54%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Biodiversité &amp; Adaptation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46%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14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Alimentation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89%</a:t>
                      </a:r>
                      <a:endParaRPr sz="10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18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➚➚</a:t>
                      </a:r>
                      <a:endParaRPr sz="1000">
                        <a:solidFill>
                          <a:srgbClr val="6AA84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Mobilités &amp; Déplacements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CC0000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9%</a:t>
                      </a:r>
                      <a:endParaRPr sz="1000">
                        <a:solidFill>
                          <a:srgbClr val="CC0000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3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b="1">
                          <a:solidFill>
                            <a:srgbClr val="CC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↓</a:t>
                      </a:r>
                      <a:endParaRPr sz="1000">
                        <a:solidFill>
                          <a:srgbClr val="CC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Énergies Renouvelables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93%</a:t>
                      </a:r>
                      <a:endParaRPr sz="700">
                        <a:solidFill>
                          <a:srgbClr val="6AA84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7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6AA84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➚➚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Agriculture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26%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10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Sensibilisation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22%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9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Numérique &amp; Données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rgbClr val="E6913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29%</a:t>
                      </a:r>
                      <a:endParaRPr sz="1000">
                        <a:solidFill>
                          <a:srgbClr val="E69138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16</a:t>
                      </a:r>
                      <a:endParaRPr sz="1000"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 dirty="0">
                          <a:solidFill>
                            <a:srgbClr val="E691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→</a:t>
                      </a:r>
                      <a:endParaRPr sz="10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4" name="Google Shape;234;p29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ctrTitle"/>
          </p:nvPr>
        </p:nvSpPr>
        <p:spPr>
          <a:xfrm>
            <a:off x="319800" y="1006163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{{ACTION_TITLE}}</a:t>
            </a:r>
            <a:endParaRPr sz="1600" dirty="0"/>
          </a:p>
        </p:txBody>
      </p:sp>
      <p:sp>
        <p:nvSpPr>
          <p:cNvPr id="241" name="Google Shape;241;p30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242" name="txt_description"/>
          <p:cNvSpPr txBox="1"/>
          <p:nvPr/>
        </p:nvSpPr>
        <p:spPr>
          <a:xfrm>
            <a:off x="319800" y="1823600"/>
            <a:ext cx="5124300" cy="26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Chiffres clés :</a:t>
            </a:r>
            <a:endParaRPr sz="1127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Nombre d’arbres plantés : </a:t>
            </a:r>
            <a: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23</a:t>
            </a:r>
            <a:b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Hectares d’Espaces Boisés Classés : </a:t>
            </a:r>
            <a: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164</a:t>
            </a:r>
            <a:b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253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Stockage carbone annuel de la nouvelle forêt :</a:t>
            </a:r>
            <a: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N/C </a:t>
            </a:r>
            <a:endParaRPr sz="1253" dirty="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b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127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Notes de suivi :</a:t>
            </a:r>
            <a:endParaRPr sz="1127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lang="fr" sz="1253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 trois ans, la collectivité a planté 387 arbres et 3 600 jeunes plants forestiers, dont une prairie boisée de 180 arbres à </a:t>
            </a:r>
            <a:r>
              <a:rPr lang="fr" sz="1253" dirty="0" err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Villiersfins</a:t>
            </a:r>
            <a:r>
              <a:rPr lang="fr" sz="1253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(45 000 € TTC) et une micro-forêt rue Monge (18 000 € TTC financés à 95% par mécénat). Un nouvel objectif vise la création d'un parc arboré au quartier de la gare d'ici 6 ans, en s'appuyant sur la Charte de l'arbre (2016) et le plan de gestion différenciée des espaces végétalisés (2021).</a:t>
            </a:r>
            <a:endParaRPr sz="1253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endParaRPr sz="1253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5916275" y="1823600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6772675" y="2093950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45" name="Google Shape;245;p30" title="mon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187" y="2020621"/>
            <a:ext cx="501275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/>
          <p:nvPr/>
        </p:nvSpPr>
        <p:spPr>
          <a:xfrm>
            <a:off x="7760075" y="1006175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7" name="Google Shape;247;p30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sp>
        <p:nvSpPr>
          <p:cNvPr id="248" name="Google Shape;248;p30"/>
          <p:cNvSpPr/>
          <p:nvPr/>
        </p:nvSpPr>
        <p:spPr>
          <a:xfrm>
            <a:off x="5916275" y="2833025"/>
            <a:ext cx="2945700" cy="8679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6772675" y="3191533"/>
            <a:ext cx="1708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 dirty="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 dirty="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50" name="Google Shape;250;p30" title="Concitoye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002" y="2992627"/>
            <a:ext cx="554221" cy="54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0"/>
          <p:cNvCxnSpPr/>
          <p:nvPr/>
        </p:nvCxnSpPr>
        <p:spPr>
          <a:xfrm>
            <a:off x="336175" y="1634200"/>
            <a:ext cx="8460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Grafik 5" descr="picture">
            <a:extLst>
              <a:ext uri="{FF2B5EF4-FFF2-40B4-BE49-F238E27FC236}">
                <a16:creationId xmlns:a16="http://schemas.microsoft.com/office/drawing/2014/main" id="{C71BC18A-049C-29BB-CF45-8D247CE83F9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25" y="1781385"/>
            <a:ext cx="3812400" cy="2857500"/>
          </a:xfrm>
          <a:prstGeom prst="rect">
            <a:avLst/>
          </a:prstGeom>
        </p:spPr>
      </p:pic>
      <p:sp>
        <p:nvSpPr>
          <p:cNvPr id="3" name="txt_budget_effectif_fill_link">
            <a:extLst>
              <a:ext uri="{FF2B5EF4-FFF2-40B4-BE49-F238E27FC236}">
                <a16:creationId xmlns:a16="http://schemas.microsoft.com/office/drawing/2014/main" id="{ED4134A0-0697-8817-9CB1-28A4F7E3D7B3}"/>
              </a:ext>
            </a:extLst>
          </p:cNvPr>
          <p:cNvSpPr txBox="1"/>
          <p:nvPr/>
        </p:nvSpPr>
        <p:spPr>
          <a:xfrm>
            <a:off x="6772675" y="3417360"/>
            <a:ext cx="2020000" cy="17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 Remplir sur la plateforme</a:t>
            </a:r>
            <a:endParaRPr sz="1253" dirty="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257" name="Google Shape;257;p31"/>
          <p:cNvSpPr txBox="1"/>
          <p:nvPr/>
        </p:nvSpPr>
        <p:spPr>
          <a:xfrm>
            <a:off x="8201700" y="218475"/>
            <a:ext cx="64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  <a:endParaRPr sz="10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318950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0" name="Google Shape;260;p31" title="Hectares d’Espaces Boisés Classés.png"/>
          <p:cNvPicPr preferRelativeResize="0"/>
          <p:nvPr/>
        </p:nvPicPr>
        <p:blipFill rotWithShape="1">
          <a:blip r:embed="rId3">
            <a:alphaModFix/>
          </a:blip>
          <a:srcRect t="4707"/>
          <a:stretch/>
        </p:blipFill>
        <p:spPr>
          <a:xfrm>
            <a:off x="477688" y="1951375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>
            <a:spLocks noGrp="1"/>
          </p:cNvSpPr>
          <p:nvPr>
            <p:ph type="title" idx="4294967295"/>
          </p:nvPr>
        </p:nvSpPr>
        <p:spPr>
          <a:xfrm>
            <a:off x="477700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4742625" y="1543275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1"/>
          <p:cNvSpPr txBox="1">
            <a:spLocks noGrp="1"/>
          </p:cNvSpPr>
          <p:nvPr>
            <p:ph type="title" idx="4294967295"/>
          </p:nvPr>
        </p:nvSpPr>
        <p:spPr>
          <a:xfrm>
            <a:off x="4901375" y="1713250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64" name="Google Shape;264;p31" title="Nombre d’arbres plantés.png"/>
          <p:cNvPicPr preferRelativeResize="0"/>
          <p:nvPr/>
        </p:nvPicPr>
        <p:blipFill rotWithShape="1">
          <a:blip r:embed="rId4">
            <a:alphaModFix/>
          </a:blip>
          <a:srcRect t="4370"/>
          <a:stretch/>
        </p:blipFill>
        <p:spPr>
          <a:xfrm>
            <a:off x="4947500" y="1948075"/>
            <a:ext cx="3710602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ctrTitle"/>
          </p:nvPr>
        </p:nvSpPr>
        <p:spPr>
          <a:xfrm>
            <a:off x="318950" y="1051601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4.3 Créer un nouvel espace boisé à Blois</a:t>
            </a:r>
            <a:endParaRPr sz="1600"/>
          </a:p>
        </p:txBody>
      </p:sp>
      <p:sp>
        <p:nvSpPr>
          <p:cNvPr id="271" name="Google Shape;271;p32"/>
          <p:cNvSpPr txBox="1">
            <a:spLocks noGrp="1"/>
          </p:cNvSpPr>
          <p:nvPr>
            <p:ph type="ctrTitle"/>
          </p:nvPr>
        </p:nvSpPr>
        <p:spPr>
          <a:xfrm>
            <a:off x="319800" y="1258488"/>
            <a:ext cx="59808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A. Dusanter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30/10/24 -&gt; 31/12/25</a:t>
            </a:r>
            <a:endParaRPr sz="1300"/>
          </a:p>
        </p:txBody>
      </p:sp>
      <p:cxnSp>
        <p:nvCxnSpPr>
          <p:cNvPr id="272" name="Google Shape;272;p32"/>
          <p:cNvCxnSpPr/>
          <p:nvPr/>
        </p:nvCxnSpPr>
        <p:spPr>
          <a:xfrm>
            <a:off x="336175" y="1903288"/>
            <a:ext cx="4136400" cy="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32"/>
          <p:cNvSpPr/>
          <p:nvPr/>
        </p:nvSpPr>
        <p:spPr>
          <a:xfrm>
            <a:off x="336175" y="1596075"/>
            <a:ext cx="692400" cy="1929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</a:t>
            </a:r>
            <a:endParaRPr sz="11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4742625" y="2438463"/>
            <a:ext cx="4028100" cy="2471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32"/>
          <p:cNvSpPr txBox="1">
            <a:spLocks noGrp="1"/>
          </p:cNvSpPr>
          <p:nvPr>
            <p:ph type="title" idx="4294967295"/>
          </p:nvPr>
        </p:nvSpPr>
        <p:spPr>
          <a:xfrm>
            <a:off x="4901375" y="2608438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76" name="Google Shape;276;p32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4947500" y="2843263"/>
            <a:ext cx="3710602" cy="1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/>
          <p:nvPr/>
        </p:nvSpPr>
        <p:spPr>
          <a:xfrm>
            <a:off x="336175" y="2175463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1142875" y="2339975"/>
            <a:ext cx="2494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Budget dépensé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50 k€ </a:t>
            </a:r>
            <a:br>
              <a:rPr lang="fr" sz="105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fr" sz="105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(30k€ fonct. + 20k€ invest.)</a:t>
            </a:r>
            <a:endParaRPr sz="105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79" name="Google Shape;279;p32" title="mon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25" y="2286023"/>
            <a:ext cx="493456" cy="4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/>
          <p:nvPr/>
        </p:nvSpPr>
        <p:spPr>
          <a:xfrm>
            <a:off x="336175" y="3003588"/>
            <a:ext cx="2945700" cy="676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19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575" tIns="114575" rIns="114575" bIns="114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1142875" y="3266388"/>
            <a:ext cx="1300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8"/>
              <a:buFont typeface="Arial"/>
              <a:buNone/>
            </a:pPr>
            <a:r>
              <a:rPr lang="fr" sz="112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Effectif  </a:t>
            </a:r>
            <a:r>
              <a:rPr lang="fr" sz="125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0.25 ETP</a:t>
            </a:r>
            <a:endParaRPr sz="1253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82" name="Google Shape;282;p32" title="Concitoye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00" y="3093701"/>
            <a:ext cx="501275" cy="4962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/>
          <p:nvPr/>
        </p:nvSpPr>
        <p:spPr>
          <a:xfrm>
            <a:off x="4696250" y="0"/>
            <a:ext cx="4447800" cy="5143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4906100" y="1775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" name="Google Shape;285;p32" title="Hectares d’Espaces Boisés Classés.png"/>
          <p:cNvPicPr preferRelativeResize="0"/>
          <p:nvPr/>
        </p:nvPicPr>
        <p:blipFill rotWithShape="1">
          <a:blip r:embed="rId6">
            <a:alphaModFix/>
          </a:blip>
          <a:srcRect t="4707"/>
          <a:stretch/>
        </p:blipFill>
        <p:spPr>
          <a:xfrm>
            <a:off x="5064838" y="585600"/>
            <a:ext cx="3710623" cy="184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>
            <a:spLocks noGrp="1"/>
          </p:cNvSpPr>
          <p:nvPr>
            <p:ph type="title" idx="4294967295"/>
          </p:nvPr>
        </p:nvSpPr>
        <p:spPr>
          <a:xfrm>
            <a:off x="5064850" y="3474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Nombre d’arbres plantés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4906100" y="2648900"/>
            <a:ext cx="4028100" cy="23139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2"/>
          <p:cNvSpPr txBox="1">
            <a:spLocks noGrp="1"/>
          </p:cNvSpPr>
          <p:nvPr>
            <p:ph type="title" idx="4294967295"/>
          </p:nvPr>
        </p:nvSpPr>
        <p:spPr>
          <a:xfrm>
            <a:off x="5064850" y="2818875"/>
            <a:ext cx="3420600" cy="1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920" b="0">
                <a:latin typeface="Poppins SemiBold"/>
                <a:ea typeface="Poppins SemiBold"/>
                <a:cs typeface="Poppins SemiBold"/>
                <a:sym typeface="Poppins SemiBold"/>
              </a:rPr>
              <a:t>Hectares d’Espaces Boisés Classés</a:t>
            </a:r>
            <a:endParaRPr sz="920" b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89" name="Google Shape;289;p32" title="Nombre d’arbres plantés.png"/>
          <p:cNvPicPr preferRelativeResize="0"/>
          <p:nvPr/>
        </p:nvPicPr>
        <p:blipFill rotWithShape="1">
          <a:blip r:embed="rId3">
            <a:alphaModFix/>
          </a:blip>
          <a:srcRect t="4370"/>
          <a:stretch/>
        </p:blipFill>
        <p:spPr>
          <a:xfrm>
            <a:off x="5110975" y="3053700"/>
            <a:ext cx="3710602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3" title="logo final + accro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75" y="182725"/>
            <a:ext cx="137562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288500" y="1059775"/>
            <a:ext cx="53934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Données territoriales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d’énergie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Production ENR : </a:t>
            </a: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Statuts des actions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venir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: à venir</a:t>
            </a: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cours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cours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l’arrêt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à discuter, bloqué, en pause, abandonnée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-"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Réalisé :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réalisé 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Notes de suivi </a:t>
            </a:r>
            <a:r>
              <a:rPr lang="f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 les résumés ont été généré par intelligence artificielle à partir des notes de suivi des actions. Il s'appuie sur les outils développés par Mistral Al.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Rapport généré par </a:t>
            </a: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Territoires en Transitions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48A775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742</Words>
  <Application>Microsoft Macintosh PowerPoint</Application>
  <PresentationFormat>Affichage à l'écran (16:9)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Poppins Medium</vt:lpstr>
      <vt:lpstr>Poppins SemiBold</vt:lpstr>
      <vt:lpstr>Poppins ExtraBold</vt:lpstr>
      <vt:lpstr>Poppins</vt:lpstr>
      <vt:lpstr>Arial</vt:lpstr>
      <vt:lpstr>Theme TET</vt:lpstr>
      <vt:lpstr>PCAET 2019-2025</vt:lpstr>
      <vt:lpstr>Sommaire</vt:lpstr>
      <vt:lpstr>Synthèse du plan </vt:lpstr>
      <vt:lpstr>Synthèse du plan</vt:lpstr>
      <vt:lpstr>Données territoriales</vt:lpstr>
      <vt:lpstr>Consommation énergétique finale</vt:lpstr>
      <vt:lpstr>Émission de gaz à effet de serre</vt:lpstr>
      <vt:lpstr>Avancement des axes et leur actions</vt:lpstr>
      <vt:lpstr>Axe 1. Déchets et Économie Circulaire</vt:lpstr>
      <vt:lpstr>Production d’énergie renouvelable du territoire</vt:lpstr>
      <vt:lpstr>Avancement des axes et leur actions</vt:lpstr>
      <vt:lpstr>Avancement du plan </vt:lpstr>
      <vt:lpstr>{{ACTION_TITLE}}</vt:lpstr>
      <vt:lpstr>4.3 Créer un nouvel espace boisé à Blois</vt:lpstr>
      <vt:lpstr>4.3 Créer un nouvel espace boisé à Blois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8</cp:revision>
  <dcterms:modified xsi:type="dcterms:W3CDTF">2025-11-19T16:16:29Z</dcterms:modified>
</cp:coreProperties>
</file>